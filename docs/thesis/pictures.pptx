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notesMasters/notesMaster1.xml" ContentType="application/vnd.openxmlformats-officedocument.presentationml.notes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0"/>
  </p:notesMasterIdLst>
  <p:sldIdLst>
    <p:sldId id="259" r:id="rId2"/>
    <p:sldId id="257" r:id="rId3"/>
    <p:sldId id="260" r:id="rId4"/>
    <p:sldId id="263" r:id="rId5"/>
    <p:sldId id="261" r:id="rId6"/>
    <p:sldId id="264" r:id="rId7"/>
    <p:sldId id="265" r:id="rId8"/>
    <p:sldId id="266" r:id="rId9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R P" initials="RP" lastIdx="1" clrIdx="0">
    <p:extLst>
      <p:ext uri="{19B8F6BF-5375-455C-9EA6-DF929625EA0E}">
        <p15:presenceInfo xmlns:p15="http://schemas.microsoft.com/office/powerpoint/2012/main" userId="d819f965aaecad65" providerId="Windows Live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993" autoAdjust="0"/>
    <p:restoredTop sz="94660"/>
  </p:normalViewPr>
  <p:slideViewPr>
    <p:cSldViewPr snapToGrid="0">
      <p:cViewPr varScale="1">
        <p:scale>
          <a:sx n="107" d="100"/>
          <a:sy n="107" d="100"/>
        </p:scale>
        <p:origin x="84" y="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commentAuthors" Target="commentAuthors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66A8157-93E0-41B4-A777-149D15F966ED}" type="datetimeFigureOut">
              <a:rPr lang="zh-CN" altLang="en-US" smtClean="0"/>
              <a:t>2026/4/26</a:t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393EDF1-1F90-4424-893B-0173418AA877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69206839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CN" dirty="0"/>
              <a:t>PVM </a:t>
            </a:r>
            <a:r>
              <a:rPr lang="zh-CN" altLang="en-US" dirty="0"/>
              <a:t>调用堆栈与栈帧变化</a:t>
            </a:r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393EDF1-1F90-4424-893B-0173418AA877}" type="slidenum">
              <a:rPr lang="zh-CN" altLang="en-US" smtClean="0"/>
              <a:t>1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075877664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zh-CN" altLang="en-US" dirty="0"/>
              <a:t>栈帧中</a:t>
            </a:r>
            <a:r>
              <a:rPr lang="en-US" altLang="zh-CN" dirty="0"/>
              <a:t> locals</a:t>
            </a:r>
            <a:r>
              <a:rPr lang="zh-CN" altLang="en-US" dirty="0"/>
              <a:t>、</a:t>
            </a:r>
            <a:r>
              <a:rPr lang="en-US" altLang="zh-CN" b="0" dirty="0">
                <a:solidFill>
                  <a:srgbClr val="CE9178"/>
                </a:solidFill>
                <a:effectLst/>
                <a:latin typeface="JetBrains Mono"/>
              </a:rPr>
              <a:t>globals</a:t>
            </a:r>
            <a:r>
              <a:rPr lang="zh-CN" altLang="en-US" b="0" dirty="0">
                <a:solidFill>
                  <a:srgbClr val="CE9178"/>
                </a:solidFill>
                <a:effectLst/>
                <a:latin typeface="JetBrains Mono"/>
              </a:rPr>
              <a:t> 与 </a:t>
            </a:r>
            <a:r>
              <a:rPr lang="en-US" altLang="zh-CN" b="0" dirty="0">
                <a:solidFill>
                  <a:srgbClr val="CE9178"/>
                </a:solidFill>
                <a:effectLst/>
                <a:latin typeface="JetBrains Mono"/>
              </a:rPr>
              <a:t>localsplus</a:t>
            </a:r>
            <a:r>
              <a:rPr lang="en-US" altLang="zh-CN" b="0" dirty="0">
                <a:solidFill>
                  <a:srgbClr val="CCCCCC"/>
                </a:solidFill>
                <a:effectLst/>
                <a:latin typeface="JetBrains Mono"/>
              </a:rPr>
              <a:t> </a:t>
            </a:r>
            <a:r>
              <a:rPr lang="zh-CN" altLang="en-US" b="0" dirty="0">
                <a:solidFill>
                  <a:srgbClr val="CCCCCC"/>
                </a:solidFill>
                <a:effectLst/>
                <a:latin typeface="JetBrains Mono"/>
              </a:rPr>
              <a:t>字段的职责与指向规则</a:t>
            </a:r>
            <a:endParaRPr lang="en-US" altLang="zh-CN" b="0" dirty="0">
              <a:solidFill>
                <a:srgbClr val="CCCCCC"/>
              </a:solidFill>
              <a:effectLst/>
              <a:latin typeface="JetBrains Mono"/>
            </a:endParaRPr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393EDF1-1F90-4424-893B-0173418AA877}" type="slidenum">
              <a:rPr lang="zh-CN" altLang="en-US" smtClean="0"/>
              <a:t>2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546732640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 dirty="0"/>
              <a:t>系统总体架构图</a:t>
            </a:r>
            <a:endParaRPr lang="en-US" altLang="zh-CN" dirty="0"/>
          </a:p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393EDF1-1F90-4424-893B-0173418AA877}" type="slidenum">
              <a:rPr lang="zh-CN" altLang="en-US" smtClean="0"/>
              <a:t>5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195047455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393EDF1-1F90-4424-893B-0173418AA877}" type="slidenum">
              <a:rPr lang="zh-CN" altLang="en-US" smtClean="0"/>
              <a:t>8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46596125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9A701BB8-5B07-49D5-B5F2-261F8CBD4B7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副标题 2">
            <a:extLst>
              <a:ext uri="{FF2B5EF4-FFF2-40B4-BE49-F238E27FC236}">
                <a16:creationId xmlns:a16="http://schemas.microsoft.com/office/drawing/2014/main" id="{5DC6E758-B5AC-44A6-B17C-632CD84EECE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/>
              <a:t>单击此处编辑母版副标题样式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CBFE69AC-D780-48AF-B037-AC317299085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097275-6DBD-4E45-A854-72B05E8D007C}" type="datetimeFigureOut">
              <a:rPr lang="zh-CN" altLang="en-US" smtClean="0"/>
              <a:t>2026/4/26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42BAB17E-9BE9-449C-B3FF-D11321FB2E5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10D51095-B3BD-4B82-B61D-255D8382D59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C0127F-E3BC-46EB-9455-28931785917E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95941240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D2CED288-6DB1-4CA8-86D6-E1248D06E1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3A533A48-F5E9-499D-BF52-3185525EE39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9677F1A8-813D-46A6-89D2-8D590BFDE8D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097275-6DBD-4E45-A854-72B05E8D007C}" type="datetimeFigureOut">
              <a:rPr lang="zh-CN" altLang="en-US" smtClean="0"/>
              <a:t>2026/4/26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23876BFC-DF89-437A-8D41-9BBEAEED792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757BC988-0AAC-4C95-84D2-5CB03E5150D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C0127F-E3BC-46EB-9455-28931785917E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69668409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039D85D3-34BD-45E1-87D3-9ABA86AC8B6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CB31E465-2C8F-48C5-BD29-437A4CAD8FB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44609A46-3C2C-4D33-B6C3-79C9AFBE98B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097275-6DBD-4E45-A854-72B05E8D007C}" type="datetimeFigureOut">
              <a:rPr lang="zh-CN" altLang="en-US" smtClean="0"/>
              <a:t>2026/4/26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784BF84D-4703-4402-93F3-71568BC7637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3A5C86F7-00DE-419B-A33E-B24BF78F037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C0127F-E3BC-46EB-9455-28931785917E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07129111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E283E4E0-B15F-4A6A-928A-A093E85D0C1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1297228B-E91F-4639-B6A2-F9F8AED6C1A9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1AD0C63B-DD01-4BEF-8B72-0303D9D2655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855390D6-EE4B-4D70-B381-78630BC37EF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097275-6DBD-4E45-A854-72B05E8D007C}" type="datetimeFigureOut">
              <a:rPr lang="zh-CN" altLang="en-US" smtClean="0"/>
              <a:t>2026/4/26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1BAF46AB-7486-4048-829F-AF32745E019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8E81A768-026F-45E1-99E6-F8CE43FBA8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C0127F-E3BC-46EB-9455-28931785917E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43835279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12DCD7A3-FA37-49A1-AB46-6E6BEF976D7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EB7B93EF-F6B7-4817-9D8A-93439C80C57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C5046951-CEE4-44BB-A579-7D09DF5E5A6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文本占位符 4">
            <a:extLst>
              <a:ext uri="{FF2B5EF4-FFF2-40B4-BE49-F238E27FC236}">
                <a16:creationId xmlns:a16="http://schemas.microsoft.com/office/drawing/2014/main" id="{EC90B5C1-D74B-4039-AB21-368004BA5AF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6" name="内容占位符 5">
            <a:extLst>
              <a:ext uri="{FF2B5EF4-FFF2-40B4-BE49-F238E27FC236}">
                <a16:creationId xmlns:a16="http://schemas.microsoft.com/office/drawing/2014/main" id="{ED2872C7-2329-429A-A9F5-62F16E614D30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7" name="日期占位符 6">
            <a:extLst>
              <a:ext uri="{FF2B5EF4-FFF2-40B4-BE49-F238E27FC236}">
                <a16:creationId xmlns:a16="http://schemas.microsoft.com/office/drawing/2014/main" id="{61E75879-B6FE-4AB1-808F-6CB7591C03A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097275-6DBD-4E45-A854-72B05E8D007C}" type="datetimeFigureOut">
              <a:rPr lang="zh-CN" altLang="en-US" smtClean="0"/>
              <a:t>2026/4/26</a:t>
            </a:fld>
            <a:endParaRPr lang="zh-CN" altLang="en-US"/>
          </a:p>
        </p:txBody>
      </p:sp>
      <p:sp>
        <p:nvSpPr>
          <p:cNvPr id="8" name="页脚占位符 7">
            <a:extLst>
              <a:ext uri="{FF2B5EF4-FFF2-40B4-BE49-F238E27FC236}">
                <a16:creationId xmlns:a16="http://schemas.microsoft.com/office/drawing/2014/main" id="{82F00AEB-04D8-404C-B913-8F28108B875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>
            <a:extLst>
              <a:ext uri="{FF2B5EF4-FFF2-40B4-BE49-F238E27FC236}">
                <a16:creationId xmlns:a16="http://schemas.microsoft.com/office/drawing/2014/main" id="{9986F902-76F3-4EE8-A1AC-80CB150FD4C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C0127F-E3BC-46EB-9455-28931785917E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21613004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2AE4A03B-1212-4750-B447-7190638B31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日期占位符 2">
            <a:extLst>
              <a:ext uri="{FF2B5EF4-FFF2-40B4-BE49-F238E27FC236}">
                <a16:creationId xmlns:a16="http://schemas.microsoft.com/office/drawing/2014/main" id="{59AFA080-D01D-4AD7-B0B8-BB143AC7719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097275-6DBD-4E45-A854-72B05E8D007C}" type="datetimeFigureOut">
              <a:rPr lang="zh-CN" altLang="en-US" smtClean="0"/>
              <a:t>2026/4/26</a:t>
            </a:fld>
            <a:endParaRPr lang="zh-CN" altLang="en-US"/>
          </a:p>
        </p:txBody>
      </p:sp>
      <p:sp>
        <p:nvSpPr>
          <p:cNvPr id="4" name="页脚占位符 3">
            <a:extLst>
              <a:ext uri="{FF2B5EF4-FFF2-40B4-BE49-F238E27FC236}">
                <a16:creationId xmlns:a16="http://schemas.microsoft.com/office/drawing/2014/main" id="{D575E2F7-5C50-4481-AC64-4E6E8166178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>
            <a:extLst>
              <a:ext uri="{FF2B5EF4-FFF2-40B4-BE49-F238E27FC236}">
                <a16:creationId xmlns:a16="http://schemas.microsoft.com/office/drawing/2014/main" id="{A57C3861-B2E8-41C2-9E13-DCB140DF12A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C0127F-E3BC-46EB-9455-28931785917E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67706209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>
            <a:extLst>
              <a:ext uri="{FF2B5EF4-FFF2-40B4-BE49-F238E27FC236}">
                <a16:creationId xmlns:a16="http://schemas.microsoft.com/office/drawing/2014/main" id="{814AFDA5-41CC-4AF0-97E1-08B6F32037D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097275-6DBD-4E45-A854-72B05E8D007C}" type="datetimeFigureOut">
              <a:rPr lang="zh-CN" altLang="en-US" smtClean="0"/>
              <a:t>2026/4/26</a:t>
            </a:fld>
            <a:endParaRPr lang="zh-CN" altLang="en-US"/>
          </a:p>
        </p:txBody>
      </p:sp>
      <p:sp>
        <p:nvSpPr>
          <p:cNvPr id="3" name="页脚占位符 2">
            <a:extLst>
              <a:ext uri="{FF2B5EF4-FFF2-40B4-BE49-F238E27FC236}">
                <a16:creationId xmlns:a16="http://schemas.microsoft.com/office/drawing/2014/main" id="{2096B132-3FE2-4641-BFF1-C761D645DD3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4D3CFA17-0EAD-4944-9B84-8CFC1B5EED6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C0127F-E3BC-46EB-9455-28931785917E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59603773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4FE66D0A-512D-4210-B25E-E2A30FEBCB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66CE7F26-F003-4613-B84D-54AF0B5710A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EC5D0C1C-EB7D-4C77-986C-3A00514F7B7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16B34C1F-2CB6-433F-B068-59CBDCD592D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097275-6DBD-4E45-A854-72B05E8D007C}" type="datetimeFigureOut">
              <a:rPr lang="zh-CN" altLang="en-US" smtClean="0"/>
              <a:t>2026/4/26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B138E3D3-2910-4BD2-ABCD-08D5C853801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28D1FDF9-0735-49CE-A7F8-FC1DAC4D93D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C0127F-E3BC-46EB-9455-28931785917E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52672574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2F7C52FC-3900-4DE3-BC14-FD2A25C7C88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图片占位符 2">
            <a:extLst>
              <a:ext uri="{FF2B5EF4-FFF2-40B4-BE49-F238E27FC236}">
                <a16:creationId xmlns:a16="http://schemas.microsoft.com/office/drawing/2014/main" id="{0D4E235B-8182-4C98-9841-0BE0F7B6FA2D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CN" altLang="en-US"/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C01CE215-FC26-4B2C-A421-1A112B85CFA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DE1DD91B-F89A-40B3-8943-C59C32E27C8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097275-6DBD-4E45-A854-72B05E8D007C}" type="datetimeFigureOut">
              <a:rPr lang="zh-CN" altLang="en-US" smtClean="0"/>
              <a:t>2026/4/26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07BE4C6F-5625-4CF6-825D-92F4F28A803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60B96DCB-74A6-4B53-BEF2-68AE5EA889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C0127F-E3BC-46EB-9455-28931785917E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18124467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8DEA87B2-E41F-401F-BB2D-37C0BB7B41F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71D98DD1-2467-41D7-89A2-F85CE9ACEAA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D4E0359C-419A-4907-95C9-2F34DC6CC08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097275-6DBD-4E45-A854-72B05E8D007C}" type="datetimeFigureOut">
              <a:rPr lang="zh-CN" altLang="en-US" smtClean="0"/>
              <a:t>2026/4/26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033AE816-53C3-40D4-B5D6-5A035152AC9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CA7CED94-EFB1-40C0-8E57-33C79388C2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C0127F-E3BC-46EB-9455-28931785917E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9371797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>
            <a:extLst>
              <a:ext uri="{FF2B5EF4-FFF2-40B4-BE49-F238E27FC236}">
                <a16:creationId xmlns:a16="http://schemas.microsoft.com/office/drawing/2014/main" id="{25DB7AE6-91E9-45CC-9720-FA0DE0AEC5D8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226668AA-46A2-4B2F-8061-059A49EEDE5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46D8A6D5-C28E-456A-B05A-FF254137199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097275-6DBD-4E45-A854-72B05E8D007C}" type="datetimeFigureOut">
              <a:rPr lang="zh-CN" altLang="en-US" smtClean="0"/>
              <a:t>2026/4/26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19AB4EAD-6D86-46EF-9B82-42FC53E02F4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1B79FC26-2A7E-4CEC-A680-A393C9E7EFF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C0127F-E3BC-46EB-9455-28931785917E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18466133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>
            <a:extLst>
              <a:ext uri="{FF2B5EF4-FFF2-40B4-BE49-F238E27FC236}">
                <a16:creationId xmlns:a16="http://schemas.microsoft.com/office/drawing/2014/main" id="{D8A8E54C-F028-4EBD-8035-EE8757F09B3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B10F6EB0-A225-4D92-A83E-B33CD50272D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3D298460-8A92-4A45-8375-8C3BF258762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7097275-6DBD-4E45-A854-72B05E8D007C}" type="datetimeFigureOut">
              <a:rPr lang="zh-CN" altLang="en-US" smtClean="0"/>
              <a:t>2026/4/26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173D5491-F65F-4219-BA10-ABBE8430067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0770DB9C-F68C-4E01-801C-322EC42B902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BC0127F-E3BC-46EB-9455-28931785917E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5961976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 1">
            <a:extLst>
              <a:ext uri="{FF2B5EF4-FFF2-40B4-BE49-F238E27FC236}">
                <a16:creationId xmlns:a16="http://schemas.microsoft.com/office/drawing/2014/main" id="{9DC72A1B-1C8F-4A61-A757-566CD8A3DBCC}"/>
              </a:ext>
            </a:extLst>
          </p:cNvPr>
          <p:cNvSpPr txBox="1"/>
          <p:nvPr/>
        </p:nvSpPr>
        <p:spPr>
          <a:xfrm>
            <a:off x="102899" y="2615221"/>
            <a:ext cx="2704971" cy="35394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b="1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&lt;callee </a:t>
            </a:r>
            <a:r>
              <a:rPr lang="zh-CN" altLang="en-US" sz="1600" b="1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函数</a:t>
            </a:r>
            <a:r>
              <a:rPr lang="en-US" altLang="zh-CN" sz="1600" b="1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&gt;</a:t>
            </a:r>
          </a:p>
          <a:p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  0 LOAD_FAST     (x)</a:t>
            </a:r>
          </a:p>
          <a:p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  2 LOAD_FAST     (y)</a:t>
            </a:r>
          </a:p>
          <a:p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  4 BINARY_OP      (+)</a:t>
            </a:r>
          </a:p>
          <a:p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  6 RETURN_VALUE</a:t>
            </a:r>
          </a:p>
          <a:p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  <a:p>
            <a:r>
              <a:rPr lang="en-US" altLang="zh-CN" sz="1600" b="1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&lt;caller </a:t>
            </a:r>
            <a:r>
              <a:rPr lang="zh-CN" altLang="en-US" sz="1600" b="1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函数</a:t>
            </a:r>
            <a:r>
              <a:rPr lang="en-US" altLang="zh-CN" sz="1600" b="1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&gt;</a:t>
            </a:r>
          </a:p>
          <a:p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  ...</a:t>
            </a:r>
          </a:p>
          <a:p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 10 LOAD_GLOBAL  (callee)</a:t>
            </a:r>
          </a:p>
          <a:p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 20 LOAD_FAST         (a)</a:t>
            </a:r>
          </a:p>
          <a:p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 22 LOAD_FAST         (b)</a:t>
            </a:r>
          </a:p>
          <a:p>
            <a:r>
              <a:rPr lang="en-US" altLang="zh-CN" sz="1600" b="1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 </a:t>
            </a:r>
            <a:r>
              <a:rPr lang="en-US" altLang="zh-CN" sz="1600" b="1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24 CALL                     2</a:t>
            </a:r>
          </a:p>
          <a:p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 </a:t>
            </a:r>
            <a:r>
              <a:rPr lang="en-US" altLang="zh-CN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32 STORE_FAST        (c)</a:t>
            </a:r>
          </a:p>
          <a:p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  ...</a:t>
            </a:r>
            <a:endParaRPr lang="zh-CN" altLang="en-US" sz="1600" dirty="0"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94" name="文本框 93">
            <a:extLst>
              <a:ext uri="{FF2B5EF4-FFF2-40B4-BE49-F238E27FC236}">
                <a16:creationId xmlns:a16="http://schemas.microsoft.com/office/drawing/2014/main" id="{9E625022-4155-498B-8390-3F1493C60CDE}"/>
              </a:ext>
            </a:extLst>
          </p:cNvPr>
          <p:cNvSpPr txBox="1"/>
          <p:nvPr/>
        </p:nvSpPr>
        <p:spPr>
          <a:xfrm>
            <a:off x="6303049" y="2344950"/>
            <a:ext cx="160172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Frame callee()</a:t>
            </a:r>
            <a:endParaRPr lang="zh-CN" altLang="en-US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96" name="文本框 95">
            <a:extLst>
              <a:ext uri="{FF2B5EF4-FFF2-40B4-BE49-F238E27FC236}">
                <a16:creationId xmlns:a16="http://schemas.microsoft.com/office/drawing/2014/main" id="{CD40F947-A622-4364-9104-B7ADE90D4D72}"/>
              </a:ext>
            </a:extLst>
          </p:cNvPr>
          <p:cNvSpPr txBox="1"/>
          <p:nvPr/>
        </p:nvSpPr>
        <p:spPr>
          <a:xfrm>
            <a:off x="6256817" y="2738548"/>
            <a:ext cx="220184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程序计数器：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0</a:t>
            </a:r>
            <a:endParaRPr lang="zh-CN" altLang="en-US" sz="1600" dirty="0">
              <a:solidFill>
                <a:srgbClr val="00B0F0"/>
              </a:solidFill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97" name="文本框 96">
            <a:extLst>
              <a:ext uri="{FF2B5EF4-FFF2-40B4-BE49-F238E27FC236}">
                <a16:creationId xmlns:a16="http://schemas.microsoft.com/office/drawing/2014/main" id="{6864976A-4A93-4D33-94B9-6C8DC05598A2}"/>
              </a:ext>
            </a:extLst>
          </p:cNvPr>
          <p:cNvSpPr txBox="1"/>
          <p:nvPr/>
        </p:nvSpPr>
        <p:spPr>
          <a:xfrm>
            <a:off x="6256817" y="3156291"/>
            <a:ext cx="244716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局部变量环境：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x=1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，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y=2</a:t>
            </a:r>
            <a:endParaRPr lang="zh-CN" altLang="en-US" sz="1600" dirty="0"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98" name="文本框 97">
            <a:extLst>
              <a:ext uri="{FF2B5EF4-FFF2-40B4-BE49-F238E27FC236}">
                <a16:creationId xmlns:a16="http://schemas.microsoft.com/office/drawing/2014/main" id="{3AC92021-D83E-4302-B02D-97EA8E31497C}"/>
              </a:ext>
            </a:extLst>
          </p:cNvPr>
          <p:cNvSpPr txBox="1"/>
          <p:nvPr/>
        </p:nvSpPr>
        <p:spPr>
          <a:xfrm>
            <a:off x="6245136" y="3542380"/>
            <a:ext cx="255511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操作数栈：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[]</a:t>
            </a:r>
            <a:endParaRPr lang="zh-CN" altLang="en-US" sz="1600" dirty="0"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grpSp>
        <p:nvGrpSpPr>
          <p:cNvPr id="12" name="组合 11">
            <a:extLst>
              <a:ext uri="{FF2B5EF4-FFF2-40B4-BE49-F238E27FC236}">
                <a16:creationId xmlns:a16="http://schemas.microsoft.com/office/drawing/2014/main" id="{05E2893A-C3F1-4E3D-9B25-7352E5A7B5AD}"/>
              </a:ext>
            </a:extLst>
          </p:cNvPr>
          <p:cNvGrpSpPr/>
          <p:nvPr/>
        </p:nvGrpSpPr>
        <p:grpSpPr>
          <a:xfrm>
            <a:off x="2967599" y="369678"/>
            <a:ext cx="2781234" cy="6362582"/>
            <a:chOff x="2671307" y="464928"/>
            <a:chExt cx="2781234" cy="6362582"/>
          </a:xfrm>
        </p:grpSpPr>
        <p:grpSp>
          <p:nvGrpSpPr>
            <p:cNvPr id="8" name="组合 7">
              <a:extLst>
                <a:ext uri="{FF2B5EF4-FFF2-40B4-BE49-F238E27FC236}">
                  <a16:creationId xmlns:a16="http://schemas.microsoft.com/office/drawing/2014/main" id="{2A3B326D-58A3-4C65-8495-E41F5FD4BF99}"/>
                </a:ext>
              </a:extLst>
            </p:cNvPr>
            <p:cNvGrpSpPr/>
            <p:nvPr/>
          </p:nvGrpSpPr>
          <p:grpSpPr>
            <a:xfrm>
              <a:off x="2671307" y="834260"/>
              <a:ext cx="2781234" cy="5717306"/>
              <a:chOff x="2671307" y="834260"/>
              <a:chExt cx="2781234" cy="5717306"/>
            </a:xfrm>
          </p:grpSpPr>
          <p:grpSp>
            <p:nvGrpSpPr>
              <p:cNvPr id="38" name="组合 37">
                <a:extLst>
                  <a:ext uri="{FF2B5EF4-FFF2-40B4-BE49-F238E27FC236}">
                    <a16:creationId xmlns:a16="http://schemas.microsoft.com/office/drawing/2014/main" id="{EF4609E5-5FAE-486F-8777-3540CF41D161}"/>
                  </a:ext>
                </a:extLst>
              </p:cNvPr>
              <p:cNvGrpSpPr/>
              <p:nvPr/>
            </p:nvGrpSpPr>
            <p:grpSpPr>
              <a:xfrm>
                <a:off x="2671307" y="834260"/>
                <a:ext cx="2781234" cy="5717306"/>
                <a:chOff x="4373092" y="1602149"/>
                <a:chExt cx="2719504" cy="3793469"/>
              </a:xfrm>
            </p:grpSpPr>
            <p:sp>
              <p:nvSpPr>
                <p:cNvPr id="39" name="文本框 38">
                  <a:extLst>
                    <a:ext uri="{FF2B5EF4-FFF2-40B4-BE49-F238E27FC236}">
                      <a16:creationId xmlns:a16="http://schemas.microsoft.com/office/drawing/2014/main" id="{080E4C7B-7212-45B6-809D-FAD5F3D3CD0A}"/>
                    </a:ext>
                  </a:extLst>
                </p:cNvPr>
                <p:cNvSpPr txBox="1"/>
                <p:nvPr/>
              </p:nvSpPr>
              <p:spPr>
                <a:xfrm>
                  <a:off x="5565265" y="4933953"/>
                  <a:ext cx="492443" cy="461665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altLang="zh-CN" sz="2400" b="1" dirty="0">
                      <a:latin typeface="Times New Roman" panose="02020603050405020304" pitchFamily="18" charset="0"/>
                      <a:cs typeface="Times New Roman" panose="02020603050405020304" pitchFamily="18" charset="0"/>
                    </a:rPr>
                    <a:t>…</a:t>
                  </a:r>
                  <a:endParaRPr lang="zh-CN" altLang="en-US" sz="2400" b="1" dirty="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41" name="矩形 40">
                  <a:extLst>
                    <a:ext uri="{FF2B5EF4-FFF2-40B4-BE49-F238E27FC236}">
                      <a16:creationId xmlns:a16="http://schemas.microsoft.com/office/drawing/2014/main" id="{E4B8F1EA-C096-4362-B1A9-D3F0D2D5C43A}"/>
                    </a:ext>
                  </a:extLst>
                </p:cNvPr>
                <p:cNvSpPr/>
                <p:nvPr/>
              </p:nvSpPr>
              <p:spPr>
                <a:xfrm>
                  <a:off x="4373092" y="1602149"/>
                  <a:ext cx="2719504" cy="3688307"/>
                </a:xfrm>
                <a:prstGeom prst="rect">
                  <a:avLst/>
                </a:prstGeom>
                <a:noFill/>
                <a:ln w="28575"/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dirty="0"/>
                </a:p>
              </p:txBody>
            </p:sp>
          </p:grpSp>
          <p:grpSp>
            <p:nvGrpSpPr>
              <p:cNvPr id="7" name="组合 6">
                <a:extLst>
                  <a:ext uri="{FF2B5EF4-FFF2-40B4-BE49-F238E27FC236}">
                    <a16:creationId xmlns:a16="http://schemas.microsoft.com/office/drawing/2014/main" id="{A213E22F-D8B0-49C8-B387-00B6C7BBB9C5}"/>
                  </a:ext>
                </a:extLst>
              </p:cNvPr>
              <p:cNvGrpSpPr/>
              <p:nvPr/>
            </p:nvGrpSpPr>
            <p:grpSpPr>
              <a:xfrm>
                <a:off x="2778120" y="4295520"/>
                <a:ext cx="2566799" cy="1622681"/>
                <a:chOff x="2776967" y="3431920"/>
                <a:chExt cx="2820356" cy="1622681"/>
              </a:xfrm>
            </p:grpSpPr>
            <p:sp>
              <p:nvSpPr>
                <p:cNvPr id="4" name="文本框 3">
                  <a:extLst>
                    <a:ext uri="{FF2B5EF4-FFF2-40B4-BE49-F238E27FC236}">
                      <a16:creationId xmlns:a16="http://schemas.microsoft.com/office/drawing/2014/main" id="{814E4D7C-A7B8-41E8-9C3B-DDBE6A2089E2}"/>
                    </a:ext>
                  </a:extLst>
                </p:cNvPr>
                <p:cNvSpPr txBox="1"/>
                <p:nvPr/>
              </p:nvSpPr>
              <p:spPr>
                <a:xfrm>
                  <a:off x="2840601" y="3431920"/>
                  <a:ext cx="1601721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altLang="zh-CN" b="1" dirty="0">
                      <a:latin typeface="Times New Roman" panose="02020603050405020304" pitchFamily="18" charset="0"/>
                      <a:cs typeface="Times New Roman" panose="02020603050405020304" pitchFamily="18" charset="0"/>
                    </a:rPr>
                    <a:t>Frame caller()</a:t>
                  </a:r>
                  <a:endParaRPr lang="zh-CN" altLang="en-US" b="1" dirty="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grpSp>
              <p:nvGrpSpPr>
                <p:cNvPr id="6" name="组合 5">
                  <a:extLst>
                    <a:ext uri="{FF2B5EF4-FFF2-40B4-BE49-F238E27FC236}">
                      <a16:creationId xmlns:a16="http://schemas.microsoft.com/office/drawing/2014/main" id="{39D63328-B72D-47CA-B534-1C000829DB6F}"/>
                    </a:ext>
                  </a:extLst>
                </p:cNvPr>
                <p:cNvGrpSpPr/>
                <p:nvPr/>
              </p:nvGrpSpPr>
              <p:grpSpPr>
                <a:xfrm>
                  <a:off x="2776967" y="3431921"/>
                  <a:ext cx="2820356" cy="1622680"/>
                  <a:chOff x="2776967" y="3431921"/>
                  <a:chExt cx="2820356" cy="1622680"/>
                </a:xfrm>
              </p:grpSpPr>
              <p:sp>
                <p:nvSpPr>
                  <p:cNvPr id="3" name="矩形 2">
                    <a:extLst>
                      <a:ext uri="{FF2B5EF4-FFF2-40B4-BE49-F238E27FC236}">
                        <a16:creationId xmlns:a16="http://schemas.microsoft.com/office/drawing/2014/main" id="{82839434-0064-4DB0-9806-0B0E326E279F}"/>
                      </a:ext>
                    </a:extLst>
                  </p:cNvPr>
                  <p:cNvSpPr/>
                  <p:nvPr/>
                </p:nvSpPr>
                <p:spPr>
                  <a:xfrm>
                    <a:off x="2789802" y="3431921"/>
                    <a:ext cx="2807521" cy="1622680"/>
                  </a:xfrm>
                  <a:prstGeom prst="rect">
                    <a:avLst/>
                  </a:prstGeom>
                  <a:noFill/>
                  <a:ln w="28575"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 dirty="0"/>
                  </a:p>
                </p:txBody>
              </p:sp>
              <p:sp>
                <p:nvSpPr>
                  <p:cNvPr id="5" name="文本框 4">
                    <a:extLst>
                      <a:ext uri="{FF2B5EF4-FFF2-40B4-BE49-F238E27FC236}">
                        <a16:creationId xmlns:a16="http://schemas.microsoft.com/office/drawing/2014/main" id="{DCE315F2-D91D-41E3-8675-A41F00026CEC}"/>
                      </a:ext>
                    </a:extLst>
                  </p:cNvPr>
                  <p:cNvSpPr txBox="1"/>
                  <p:nvPr/>
                </p:nvSpPr>
                <p:spPr>
                  <a:xfrm>
                    <a:off x="2789802" y="3825518"/>
                    <a:ext cx="2419350" cy="338554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r>
                      <a:rPr lang="zh-CN" altLang="en-US" sz="1600" dirty="0"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rPr>
                      <a:t>程序计数器：</a:t>
                    </a:r>
                    <a:r>
                      <a:rPr lang="en-US" altLang="zh-CN" sz="1600" dirty="0">
                        <a:solidFill>
                          <a:srgbClr val="FF0000"/>
                        </a:solidFill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rPr>
                      <a:t>24</a:t>
                    </a:r>
                    <a:endParaRPr lang="zh-CN" altLang="en-US" sz="1600" dirty="0">
                      <a:solidFill>
                        <a:srgbClr val="FF0000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  <a:cs typeface="Times New Roman" panose="02020603050405020304" pitchFamily="18" charset="0"/>
                    </a:endParaRPr>
                  </a:p>
                </p:txBody>
              </p:sp>
              <p:sp>
                <p:nvSpPr>
                  <p:cNvPr id="29" name="文本框 28">
                    <a:extLst>
                      <a:ext uri="{FF2B5EF4-FFF2-40B4-BE49-F238E27FC236}">
                        <a16:creationId xmlns:a16="http://schemas.microsoft.com/office/drawing/2014/main" id="{341297B6-4D6C-475C-A7E3-0939B2B6D527}"/>
                      </a:ext>
                    </a:extLst>
                  </p:cNvPr>
                  <p:cNvSpPr txBox="1"/>
                  <p:nvPr/>
                </p:nvSpPr>
                <p:spPr>
                  <a:xfrm>
                    <a:off x="2789802" y="4243261"/>
                    <a:ext cx="2688907" cy="338554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r>
                      <a:rPr lang="zh-CN" altLang="en-US" sz="1600" dirty="0"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rPr>
                      <a:t>局部变量环境：</a:t>
                    </a:r>
                    <a:r>
                      <a:rPr lang="en-US" altLang="zh-CN" sz="1600" dirty="0"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rPr>
                      <a:t>a=1</a:t>
                    </a:r>
                    <a:r>
                      <a:rPr lang="zh-CN" altLang="en-US" sz="1600" dirty="0"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rPr>
                      <a:t>，</a:t>
                    </a:r>
                    <a:r>
                      <a:rPr lang="en-US" altLang="zh-CN" sz="1600" dirty="0"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rPr>
                      <a:t>b=2</a:t>
                    </a:r>
                    <a:endParaRPr lang="zh-CN" altLang="en-US" sz="1600" dirty="0">
                      <a:latin typeface="Times New Roman" panose="02020603050405020304" pitchFamily="18" charset="0"/>
                      <a:ea typeface="宋体" panose="02010600030101010101" pitchFamily="2" charset="-122"/>
                      <a:cs typeface="Times New Roman" panose="02020603050405020304" pitchFamily="18" charset="0"/>
                    </a:endParaRPr>
                  </a:p>
                </p:txBody>
              </p:sp>
              <p:sp>
                <p:nvSpPr>
                  <p:cNvPr id="45" name="文本框 44">
                    <a:extLst>
                      <a:ext uri="{FF2B5EF4-FFF2-40B4-BE49-F238E27FC236}">
                        <a16:creationId xmlns:a16="http://schemas.microsoft.com/office/drawing/2014/main" id="{E8A2888A-CEEB-4D81-994A-4687C03CD83E}"/>
                      </a:ext>
                    </a:extLst>
                  </p:cNvPr>
                  <p:cNvSpPr txBox="1"/>
                  <p:nvPr/>
                </p:nvSpPr>
                <p:spPr>
                  <a:xfrm>
                    <a:off x="2776967" y="4629350"/>
                    <a:ext cx="2807521" cy="338554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r>
                      <a:rPr lang="zh-CN" altLang="en-US" sz="1600" dirty="0"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rPr>
                      <a:t>操作数栈：</a:t>
                    </a:r>
                    <a:r>
                      <a:rPr lang="en-US" altLang="zh-CN" sz="1600" dirty="0"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rPr>
                      <a:t>[…, callee, 1, 2]</a:t>
                    </a:r>
                    <a:endParaRPr lang="zh-CN" altLang="en-US" sz="1600" dirty="0">
                      <a:latin typeface="Times New Roman" panose="02020603050405020304" pitchFamily="18" charset="0"/>
                      <a:ea typeface="宋体" panose="02010600030101010101" pitchFamily="2" charset="-122"/>
                      <a:cs typeface="Times New Roman" panose="02020603050405020304" pitchFamily="18" charset="0"/>
                    </a:endParaRPr>
                  </a:p>
                </p:txBody>
              </p:sp>
            </p:grpSp>
          </p:grpSp>
        </p:grpSp>
        <p:sp>
          <p:nvSpPr>
            <p:cNvPr id="10" name="文本框 9">
              <a:extLst>
                <a:ext uri="{FF2B5EF4-FFF2-40B4-BE49-F238E27FC236}">
                  <a16:creationId xmlns:a16="http://schemas.microsoft.com/office/drawing/2014/main" id="{DAD12310-ED43-44F1-A48D-AFACEE4FF153}"/>
                </a:ext>
              </a:extLst>
            </p:cNvPr>
            <p:cNvSpPr txBox="1"/>
            <p:nvPr/>
          </p:nvSpPr>
          <p:spPr>
            <a:xfrm>
              <a:off x="2814453" y="6458178"/>
              <a:ext cx="223009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zh-CN" altLang="en-US" dirty="0"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① 执行</a:t>
              </a:r>
              <a:r>
                <a:rPr lang="en-US" altLang="zh-CN" dirty="0"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CALL</a:t>
              </a:r>
              <a:r>
                <a:rPr lang="zh-CN" altLang="en-US" dirty="0"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指令前</a:t>
              </a:r>
            </a:p>
          </p:txBody>
        </p:sp>
        <p:sp>
          <p:nvSpPr>
            <p:cNvPr id="11" name="文本框 10">
              <a:extLst>
                <a:ext uri="{FF2B5EF4-FFF2-40B4-BE49-F238E27FC236}">
                  <a16:creationId xmlns:a16="http://schemas.microsoft.com/office/drawing/2014/main" id="{38465E86-7045-4D17-A991-3E045B475687}"/>
                </a:ext>
              </a:extLst>
            </p:cNvPr>
            <p:cNvSpPr txBox="1"/>
            <p:nvPr/>
          </p:nvSpPr>
          <p:spPr>
            <a:xfrm>
              <a:off x="2957120" y="464928"/>
              <a:ext cx="222048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b="1" dirty="0"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PVM </a:t>
              </a:r>
              <a:r>
                <a:rPr lang="zh-CN" altLang="en-US" b="1" dirty="0"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调用堆栈 栈顶</a:t>
              </a:r>
            </a:p>
          </p:txBody>
        </p:sp>
      </p:grpSp>
      <p:grpSp>
        <p:nvGrpSpPr>
          <p:cNvPr id="14" name="组合 13">
            <a:extLst>
              <a:ext uri="{FF2B5EF4-FFF2-40B4-BE49-F238E27FC236}">
                <a16:creationId xmlns:a16="http://schemas.microsoft.com/office/drawing/2014/main" id="{4BDD95C5-1114-41B9-9396-4C1A9998D0BA}"/>
              </a:ext>
            </a:extLst>
          </p:cNvPr>
          <p:cNvGrpSpPr/>
          <p:nvPr/>
        </p:nvGrpSpPr>
        <p:grpSpPr>
          <a:xfrm>
            <a:off x="6123549" y="369678"/>
            <a:ext cx="2781234" cy="6346625"/>
            <a:chOff x="5827257" y="464928"/>
            <a:chExt cx="2781234" cy="6346625"/>
          </a:xfrm>
        </p:grpSpPr>
        <p:sp>
          <p:nvSpPr>
            <p:cNvPr id="95" name="矩形 94">
              <a:extLst>
                <a:ext uri="{FF2B5EF4-FFF2-40B4-BE49-F238E27FC236}">
                  <a16:creationId xmlns:a16="http://schemas.microsoft.com/office/drawing/2014/main" id="{9DF3C830-2CCB-4590-85BC-5D54C596DC05}"/>
                </a:ext>
              </a:extLst>
            </p:cNvPr>
            <p:cNvSpPr/>
            <p:nvPr/>
          </p:nvSpPr>
          <p:spPr>
            <a:xfrm>
              <a:off x="5960525" y="2440201"/>
              <a:ext cx="2555118" cy="1622680"/>
            </a:xfrm>
            <a:prstGeom prst="rect">
              <a:avLst/>
            </a:prstGeom>
            <a:no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grpSp>
          <p:nvGrpSpPr>
            <p:cNvPr id="13" name="组合 12">
              <a:extLst>
                <a:ext uri="{FF2B5EF4-FFF2-40B4-BE49-F238E27FC236}">
                  <a16:creationId xmlns:a16="http://schemas.microsoft.com/office/drawing/2014/main" id="{90E446D9-5B0C-47D8-B563-97D7FD0B1383}"/>
                </a:ext>
              </a:extLst>
            </p:cNvPr>
            <p:cNvGrpSpPr/>
            <p:nvPr/>
          </p:nvGrpSpPr>
          <p:grpSpPr>
            <a:xfrm>
              <a:off x="5827257" y="464928"/>
              <a:ext cx="2781234" cy="6346625"/>
              <a:chOff x="5827257" y="464928"/>
              <a:chExt cx="2781234" cy="6346625"/>
            </a:xfrm>
          </p:grpSpPr>
          <p:grpSp>
            <p:nvGrpSpPr>
              <p:cNvPr id="42" name="组合 41">
                <a:extLst>
                  <a:ext uri="{FF2B5EF4-FFF2-40B4-BE49-F238E27FC236}">
                    <a16:creationId xmlns:a16="http://schemas.microsoft.com/office/drawing/2014/main" id="{327828D1-7B9E-4826-94FB-3927BD337425}"/>
                  </a:ext>
                </a:extLst>
              </p:cNvPr>
              <p:cNvGrpSpPr/>
              <p:nvPr/>
            </p:nvGrpSpPr>
            <p:grpSpPr>
              <a:xfrm>
                <a:off x="5827257" y="834260"/>
                <a:ext cx="2781234" cy="5717306"/>
                <a:chOff x="2671307" y="834260"/>
                <a:chExt cx="2781234" cy="5717306"/>
              </a:xfrm>
            </p:grpSpPr>
            <p:grpSp>
              <p:nvGrpSpPr>
                <p:cNvPr id="43" name="组合 42">
                  <a:extLst>
                    <a:ext uri="{FF2B5EF4-FFF2-40B4-BE49-F238E27FC236}">
                      <a16:creationId xmlns:a16="http://schemas.microsoft.com/office/drawing/2014/main" id="{D0961722-4647-4FF4-8BF3-208B4611C26A}"/>
                    </a:ext>
                  </a:extLst>
                </p:cNvPr>
                <p:cNvGrpSpPr/>
                <p:nvPr/>
              </p:nvGrpSpPr>
              <p:grpSpPr>
                <a:xfrm>
                  <a:off x="2671307" y="834260"/>
                  <a:ext cx="2781234" cy="5717306"/>
                  <a:chOff x="4373092" y="1602149"/>
                  <a:chExt cx="2719504" cy="3793469"/>
                </a:xfrm>
              </p:grpSpPr>
              <p:sp>
                <p:nvSpPr>
                  <p:cNvPr id="52" name="文本框 51">
                    <a:extLst>
                      <a:ext uri="{FF2B5EF4-FFF2-40B4-BE49-F238E27FC236}">
                        <a16:creationId xmlns:a16="http://schemas.microsoft.com/office/drawing/2014/main" id="{9FBEBF19-A120-427B-80CC-A771F81A60D5}"/>
                      </a:ext>
                    </a:extLst>
                  </p:cNvPr>
                  <p:cNvSpPr txBox="1"/>
                  <p:nvPr/>
                </p:nvSpPr>
                <p:spPr>
                  <a:xfrm>
                    <a:off x="5565265" y="4933953"/>
                    <a:ext cx="492443" cy="461665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r>
                      <a:rPr lang="en-US" altLang="zh-CN" sz="2400" b="1" dirty="0">
                        <a:latin typeface="Times New Roman" panose="02020603050405020304" pitchFamily="18" charset="0"/>
                        <a:cs typeface="Times New Roman" panose="02020603050405020304" pitchFamily="18" charset="0"/>
                      </a:rPr>
                      <a:t>…</a:t>
                    </a:r>
                    <a:endParaRPr lang="zh-CN" altLang="en-US" sz="2400" b="1" dirty="0">
                      <a:latin typeface="Times New Roman" panose="02020603050405020304" pitchFamily="18" charset="0"/>
                      <a:cs typeface="Times New Roman" panose="02020603050405020304" pitchFamily="18" charset="0"/>
                    </a:endParaRPr>
                  </a:p>
                </p:txBody>
              </p:sp>
              <p:sp>
                <p:nvSpPr>
                  <p:cNvPr id="53" name="矩形 52">
                    <a:extLst>
                      <a:ext uri="{FF2B5EF4-FFF2-40B4-BE49-F238E27FC236}">
                        <a16:creationId xmlns:a16="http://schemas.microsoft.com/office/drawing/2014/main" id="{EDEE2964-16E2-416A-9CFA-8A8A2E53C903}"/>
                      </a:ext>
                    </a:extLst>
                  </p:cNvPr>
                  <p:cNvSpPr/>
                  <p:nvPr/>
                </p:nvSpPr>
                <p:spPr>
                  <a:xfrm>
                    <a:off x="4373092" y="1602149"/>
                    <a:ext cx="2719504" cy="3688307"/>
                  </a:xfrm>
                  <a:prstGeom prst="rect">
                    <a:avLst/>
                  </a:prstGeom>
                  <a:noFill/>
                  <a:ln w="28575"/>
                </p:spPr>
                <p:style>
                  <a:lnRef idx="2">
                    <a:schemeClr val="dk1"/>
                  </a:lnRef>
                  <a:fillRef idx="1">
                    <a:schemeClr val="lt1"/>
                  </a:fillRef>
                  <a:effectRef idx="0">
                    <a:schemeClr val="dk1"/>
                  </a:effectRef>
                  <a:fontRef idx="minor">
                    <a:schemeClr val="dk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 dirty="0"/>
                  </a:p>
                </p:txBody>
              </p:sp>
            </p:grpSp>
            <p:grpSp>
              <p:nvGrpSpPr>
                <p:cNvPr id="44" name="组合 43">
                  <a:extLst>
                    <a:ext uri="{FF2B5EF4-FFF2-40B4-BE49-F238E27FC236}">
                      <a16:creationId xmlns:a16="http://schemas.microsoft.com/office/drawing/2014/main" id="{F912A5B4-50A5-4A55-B93F-ACD82227C755}"/>
                    </a:ext>
                  </a:extLst>
                </p:cNvPr>
                <p:cNvGrpSpPr/>
                <p:nvPr/>
              </p:nvGrpSpPr>
              <p:grpSpPr>
                <a:xfrm>
                  <a:off x="2778120" y="4295520"/>
                  <a:ext cx="2566799" cy="1622681"/>
                  <a:chOff x="2776967" y="3431920"/>
                  <a:chExt cx="2820356" cy="1622681"/>
                </a:xfrm>
              </p:grpSpPr>
              <p:sp>
                <p:nvSpPr>
                  <p:cNvPr id="46" name="文本框 45">
                    <a:extLst>
                      <a:ext uri="{FF2B5EF4-FFF2-40B4-BE49-F238E27FC236}">
                        <a16:creationId xmlns:a16="http://schemas.microsoft.com/office/drawing/2014/main" id="{B06C1B37-032E-4B1E-80CF-D0427F6C5002}"/>
                      </a:ext>
                    </a:extLst>
                  </p:cNvPr>
                  <p:cNvSpPr txBox="1"/>
                  <p:nvPr/>
                </p:nvSpPr>
                <p:spPr>
                  <a:xfrm>
                    <a:off x="2840601" y="3431920"/>
                    <a:ext cx="1601721" cy="369332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r>
                      <a:rPr lang="en-US" altLang="zh-CN" b="1" dirty="0">
                        <a:latin typeface="Times New Roman" panose="02020603050405020304" pitchFamily="18" charset="0"/>
                        <a:cs typeface="Times New Roman" panose="02020603050405020304" pitchFamily="18" charset="0"/>
                      </a:rPr>
                      <a:t>Frame caller()</a:t>
                    </a:r>
                    <a:endParaRPr lang="zh-CN" altLang="en-US" b="1" dirty="0">
                      <a:latin typeface="Times New Roman" panose="02020603050405020304" pitchFamily="18" charset="0"/>
                      <a:cs typeface="Times New Roman" panose="02020603050405020304" pitchFamily="18" charset="0"/>
                    </a:endParaRPr>
                  </a:p>
                </p:txBody>
              </p:sp>
              <p:grpSp>
                <p:nvGrpSpPr>
                  <p:cNvPr id="47" name="组合 46">
                    <a:extLst>
                      <a:ext uri="{FF2B5EF4-FFF2-40B4-BE49-F238E27FC236}">
                        <a16:creationId xmlns:a16="http://schemas.microsoft.com/office/drawing/2014/main" id="{60C26C2A-7F7B-4171-BEA1-99BD99C75D5F}"/>
                      </a:ext>
                    </a:extLst>
                  </p:cNvPr>
                  <p:cNvGrpSpPr/>
                  <p:nvPr/>
                </p:nvGrpSpPr>
                <p:grpSpPr>
                  <a:xfrm>
                    <a:off x="2776967" y="3431921"/>
                    <a:ext cx="2820356" cy="1622680"/>
                    <a:chOff x="2776967" y="3431921"/>
                    <a:chExt cx="2820356" cy="1622680"/>
                  </a:xfrm>
                </p:grpSpPr>
                <p:sp>
                  <p:nvSpPr>
                    <p:cNvPr id="48" name="矩形 47">
                      <a:extLst>
                        <a:ext uri="{FF2B5EF4-FFF2-40B4-BE49-F238E27FC236}">
                          <a16:creationId xmlns:a16="http://schemas.microsoft.com/office/drawing/2014/main" id="{791F7972-D77A-4550-96F4-262CF5C2A6BA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2789802" y="3431921"/>
                      <a:ext cx="2807521" cy="1622680"/>
                    </a:xfrm>
                    <a:prstGeom prst="rect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zh-CN" altLang="en-US" dirty="0"/>
                    </a:p>
                  </p:txBody>
                </p:sp>
                <p:sp>
                  <p:nvSpPr>
                    <p:cNvPr id="49" name="文本框 48">
                      <a:extLst>
                        <a:ext uri="{FF2B5EF4-FFF2-40B4-BE49-F238E27FC236}">
                          <a16:creationId xmlns:a16="http://schemas.microsoft.com/office/drawing/2014/main" id="{2C540621-0F84-4FF2-BAE6-9223469E7652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2789802" y="3825518"/>
                      <a:ext cx="2419350" cy="338554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r>
                        <a:rPr lang="zh-CN" altLang="en-US" sz="1600" dirty="0"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程序计数器：</a:t>
                      </a:r>
                      <a:r>
                        <a:rPr lang="en-US" altLang="zh-CN" sz="1600" dirty="0">
                          <a:solidFill>
                            <a:srgbClr val="00B050"/>
                          </a:solidFill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32</a:t>
                      </a:r>
                      <a:endParaRPr lang="zh-CN" altLang="en-US" sz="1600" dirty="0">
                        <a:solidFill>
                          <a:srgbClr val="00B050"/>
                        </a:solidFill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p:txBody>
                </p:sp>
                <p:sp>
                  <p:nvSpPr>
                    <p:cNvPr id="50" name="文本框 49">
                      <a:extLst>
                        <a:ext uri="{FF2B5EF4-FFF2-40B4-BE49-F238E27FC236}">
                          <a16:creationId xmlns:a16="http://schemas.microsoft.com/office/drawing/2014/main" id="{1C49BF49-A9A6-4D80-8510-BB08083701AD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2789802" y="4243261"/>
                      <a:ext cx="2688907" cy="338554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r>
                        <a:rPr lang="zh-CN" altLang="en-US" sz="1600" dirty="0"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局部变量环境：</a:t>
                      </a:r>
                      <a:r>
                        <a:rPr lang="en-US" altLang="zh-CN" sz="1600" dirty="0"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a=1</a:t>
                      </a:r>
                      <a:r>
                        <a:rPr lang="zh-CN" altLang="en-US" sz="1600" dirty="0"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，</a:t>
                      </a:r>
                      <a:r>
                        <a:rPr lang="en-US" altLang="zh-CN" sz="1600" dirty="0"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b=2</a:t>
                      </a:r>
                      <a:endParaRPr lang="zh-CN" altLang="en-US" sz="1600" dirty="0"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p:txBody>
                </p:sp>
                <p:sp>
                  <p:nvSpPr>
                    <p:cNvPr id="51" name="文本框 50">
                      <a:extLst>
                        <a:ext uri="{FF2B5EF4-FFF2-40B4-BE49-F238E27FC236}">
                          <a16:creationId xmlns:a16="http://schemas.microsoft.com/office/drawing/2014/main" id="{0A63E937-A08E-4202-888E-2D48AA18AAC3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2776967" y="4629350"/>
                      <a:ext cx="2807521" cy="338554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r>
                        <a:rPr lang="zh-CN" altLang="en-US" sz="1600" dirty="0"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操作数栈：</a:t>
                      </a:r>
                      <a:r>
                        <a:rPr lang="en-US" altLang="zh-CN" sz="1600" dirty="0"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[…]</a:t>
                      </a:r>
                      <a:endParaRPr lang="zh-CN" altLang="en-US" sz="1600" dirty="0"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p:txBody>
                </p:sp>
              </p:grpSp>
            </p:grpSp>
          </p:grpSp>
          <p:sp>
            <p:nvSpPr>
              <p:cNvPr id="9" name="箭头: 下 8">
                <a:extLst>
                  <a:ext uri="{FF2B5EF4-FFF2-40B4-BE49-F238E27FC236}">
                    <a16:creationId xmlns:a16="http://schemas.microsoft.com/office/drawing/2014/main" id="{7E2E1FC6-4ED6-4D6A-A743-A40ADF03009D}"/>
                  </a:ext>
                </a:extLst>
              </p:cNvPr>
              <p:cNvSpPr/>
              <p:nvPr/>
            </p:nvSpPr>
            <p:spPr>
              <a:xfrm>
                <a:off x="6410767" y="1472980"/>
                <a:ext cx="1601721" cy="850900"/>
              </a:xfrm>
              <a:prstGeom prst="downArrow">
                <a:avLst>
                  <a:gd name="adj1" fmla="val 50000"/>
                  <a:gd name="adj2" fmla="val 49254"/>
                </a:avLst>
              </a:prstGeom>
              <a:no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sz="1400" b="1" dirty="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  <a:cs typeface="Times New Roman" panose="02020603050405020304" pitchFamily="18" charset="0"/>
                  </a:rPr>
                  <a:t>callee()</a:t>
                </a:r>
              </a:p>
              <a:p>
                <a:pPr algn="ctr"/>
                <a:r>
                  <a:rPr lang="zh-CN" altLang="en-US" sz="1400" b="1" dirty="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  <a:cs typeface="Times New Roman" panose="02020603050405020304" pitchFamily="18" charset="0"/>
                  </a:rPr>
                  <a:t>栈帧</a:t>
                </a:r>
                <a:endParaRPr lang="en-US" altLang="zh-CN" sz="1400" b="1" dirty="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endParaRPr>
              </a:p>
              <a:p>
                <a:pPr algn="ctr"/>
                <a:r>
                  <a:rPr lang="zh-CN" altLang="en-US" sz="1400" b="1" dirty="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  <a:cs typeface="Times New Roman" panose="02020603050405020304" pitchFamily="18" charset="0"/>
                  </a:rPr>
                  <a:t>入栈</a:t>
                </a:r>
              </a:p>
            </p:txBody>
          </p:sp>
          <p:sp>
            <p:nvSpPr>
              <p:cNvPr id="110" name="文本框 109">
                <a:extLst>
                  <a:ext uri="{FF2B5EF4-FFF2-40B4-BE49-F238E27FC236}">
                    <a16:creationId xmlns:a16="http://schemas.microsoft.com/office/drawing/2014/main" id="{19C7BA3B-3406-40BE-83C7-9D75C7E032B4}"/>
                  </a:ext>
                </a:extLst>
              </p:cNvPr>
              <p:cNvSpPr txBox="1"/>
              <p:nvPr/>
            </p:nvSpPr>
            <p:spPr>
              <a:xfrm>
                <a:off x="5916428" y="6442221"/>
                <a:ext cx="2230098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zh-CN" altLang="en-US" dirty="0">
                    <a:latin typeface="Times New Roman" panose="02020603050405020304" pitchFamily="18" charset="0"/>
                    <a:ea typeface="宋体" panose="02010600030101010101" pitchFamily="2" charset="-122"/>
                    <a:cs typeface="Times New Roman" panose="02020603050405020304" pitchFamily="18" charset="0"/>
                  </a:rPr>
                  <a:t>② 执行</a:t>
                </a:r>
                <a:r>
                  <a:rPr lang="en-US" altLang="zh-CN" dirty="0">
                    <a:latin typeface="Times New Roman" panose="02020603050405020304" pitchFamily="18" charset="0"/>
                    <a:ea typeface="宋体" panose="02010600030101010101" pitchFamily="2" charset="-122"/>
                    <a:cs typeface="Times New Roman" panose="02020603050405020304" pitchFamily="18" charset="0"/>
                  </a:rPr>
                  <a:t>CALL</a:t>
                </a:r>
                <a:r>
                  <a:rPr lang="zh-CN" altLang="en-US" dirty="0">
                    <a:latin typeface="Times New Roman" panose="02020603050405020304" pitchFamily="18" charset="0"/>
                    <a:ea typeface="宋体" panose="02010600030101010101" pitchFamily="2" charset="-122"/>
                    <a:cs typeface="Times New Roman" panose="02020603050405020304" pitchFamily="18" charset="0"/>
                  </a:rPr>
                  <a:t>指令后</a:t>
                </a:r>
              </a:p>
            </p:txBody>
          </p:sp>
          <p:sp>
            <p:nvSpPr>
              <p:cNvPr id="112" name="文本框 111">
                <a:extLst>
                  <a:ext uri="{FF2B5EF4-FFF2-40B4-BE49-F238E27FC236}">
                    <a16:creationId xmlns:a16="http://schemas.microsoft.com/office/drawing/2014/main" id="{F86242C8-2C43-45A9-9496-5DF72F28D165}"/>
                  </a:ext>
                </a:extLst>
              </p:cNvPr>
              <p:cNvSpPr txBox="1"/>
              <p:nvPr/>
            </p:nvSpPr>
            <p:spPr>
              <a:xfrm>
                <a:off x="6127844" y="464928"/>
                <a:ext cx="2220480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altLang="zh-CN" b="1" dirty="0">
                    <a:latin typeface="Times New Roman" panose="02020603050405020304" pitchFamily="18" charset="0"/>
                    <a:ea typeface="宋体" panose="02010600030101010101" pitchFamily="2" charset="-122"/>
                    <a:cs typeface="Times New Roman" panose="02020603050405020304" pitchFamily="18" charset="0"/>
                  </a:rPr>
                  <a:t>PVM </a:t>
                </a:r>
                <a:r>
                  <a:rPr lang="zh-CN" altLang="en-US" b="1" dirty="0">
                    <a:latin typeface="Times New Roman" panose="02020603050405020304" pitchFamily="18" charset="0"/>
                    <a:ea typeface="宋体" panose="02010600030101010101" pitchFamily="2" charset="-122"/>
                    <a:cs typeface="Times New Roman" panose="02020603050405020304" pitchFamily="18" charset="0"/>
                  </a:rPr>
                  <a:t>调用堆栈 栈顶</a:t>
                </a:r>
              </a:p>
            </p:txBody>
          </p:sp>
        </p:grpSp>
      </p:grpSp>
      <p:grpSp>
        <p:nvGrpSpPr>
          <p:cNvPr id="15" name="组合 14">
            <a:extLst>
              <a:ext uri="{FF2B5EF4-FFF2-40B4-BE49-F238E27FC236}">
                <a16:creationId xmlns:a16="http://schemas.microsoft.com/office/drawing/2014/main" id="{54A6AD10-FAC2-4B43-88A4-E364C8419CB8}"/>
              </a:ext>
            </a:extLst>
          </p:cNvPr>
          <p:cNvGrpSpPr/>
          <p:nvPr/>
        </p:nvGrpSpPr>
        <p:grpSpPr>
          <a:xfrm>
            <a:off x="9279499" y="361593"/>
            <a:ext cx="2781234" cy="6359350"/>
            <a:chOff x="8983207" y="456843"/>
            <a:chExt cx="2781234" cy="6359350"/>
          </a:xfrm>
        </p:grpSpPr>
        <p:grpSp>
          <p:nvGrpSpPr>
            <p:cNvPr id="99" name="组合 98">
              <a:extLst>
                <a:ext uri="{FF2B5EF4-FFF2-40B4-BE49-F238E27FC236}">
                  <a16:creationId xmlns:a16="http://schemas.microsoft.com/office/drawing/2014/main" id="{3D279B23-7DAB-4D55-AE8A-DACBB4259423}"/>
                </a:ext>
              </a:extLst>
            </p:cNvPr>
            <p:cNvGrpSpPr/>
            <p:nvPr/>
          </p:nvGrpSpPr>
          <p:grpSpPr>
            <a:xfrm>
              <a:off x="8983207" y="834260"/>
              <a:ext cx="2781234" cy="5717306"/>
              <a:chOff x="2671307" y="834260"/>
              <a:chExt cx="2781234" cy="5717306"/>
            </a:xfrm>
          </p:grpSpPr>
          <p:grpSp>
            <p:nvGrpSpPr>
              <p:cNvPr id="100" name="组合 99">
                <a:extLst>
                  <a:ext uri="{FF2B5EF4-FFF2-40B4-BE49-F238E27FC236}">
                    <a16:creationId xmlns:a16="http://schemas.microsoft.com/office/drawing/2014/main" id="{05ADFD2E-E93B-470F-B34F-3E1B3BBBAC59}"/>
                  </a:ext>
                </a:extLst>
              </p:cNvPr>
              <p:cNvGrpSpPr/>
              <p:nvPr/>
            </p:nvGrpSpPr>
            <p:grpSpPr>
              <a:xfrm>
                <a:off x="2671307" y="834260"/>
                <a:ext cx="2781234" cy="5717306"/>
                <a:chOff x="4373092" y="1602149"/>
                <a:chExt cx="2719504" cy="3793469"/>
              </a:xfrm>
            </p:grpSpPr>
            <p:sp>
              <p:nvSpPr>
                <p:cNvPr id="108" name="文本框 107">
                  <a:extLst>
                    <a:ext uri="{FF2B5EF4-FFF2-40B4-BE49-F238E27FC236}">
                      <a16:creationId xmlns:a16="http://schemas.microsoft.com/office/drawing/2014/main" id="{27954E2C-A8F1-42EE-B3B7-C37B7B5A93FF}"/>
                    </a:ext>
                  </a:extLst>
                </p:cNvPr>
                <p:cNvSpPr txBox="1"/>
                <p:nvPr/>
              </p:nvSpPr>
              <p:spPr>
                <a:xfrm>
                  <a:off x="5565265" y="4933953"/>
                  <a:ext cx="492443" cy="461665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altLang="zh-CN" sz="2400" b="1" dirty="0">
                      <a:latin typeface="Times New Roman" panose="02020603050405020304" pitchFamily="18" charset="0"/>
                      <a:cs typeface="Times New Roman" panose="02020603050405020304" pitchFamily="18" charset="0"/>
                    </a:rPr>
                    <a:t>…</a:t>
                  </a:r>
                  <a:endParaRPr lang="zh-CN" altLang="en-US" sz="2400" b="1" dirty="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09" name="矩形 108">
                  <a:extLst>
                    <a:ext uri="{FF2B5EF4-FFF2-40B4-BE49-F238E27FC236}">
                      <a16:creationId xmlns:a16="http://schemas.microsoft.com/office/drawing/2014/main" id="{8BA1FA17-0533-4940-8D22-FF050421F019}"/>
                    </a:ext>
                  </a:extLst>
                </p:cNvPr>
                <p:cNvSpPr/>
                <p:nvPr/>
              </p:nvSpPr>
              <p:spPr>
                <a:xfrm>
                  <a:off x="4373092" y="1602149"/>
                  <a:ext cx="2719504" cy="3688307"/>
                </a:xfrm>
                <a:prstGeom prst="rect">
                  <a:avLst/>
                </a:prstGeom>
                <a:noFill/>
                <a:ln w="28575"/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dirty="0"/>
                </a:p>
              </p:txBody>
            </p:sp>
          </p:grpSp>
          <p:grpSp>
            <p:nvGrpSpPr>
              <p:cNvPr id="101" name="组合 100">
                <a:extLst>
                  <a:ext uri="{FF2B5EF4-FFF2-40B4-BE49-F238E27FC236}">
                    <a16:creationId xmlns:a16="http://schemas.microsoft.com/office/drawing/2014/main" id="{CCF5CA14-FE3E-49CF-B760-0F751F949E63}"/>
                  </a:ext>
                </a:extLst>
              </p:cNvPr>
              <p:cNvGrpSpPr/>
              <p:nvPr/>
            </p:nvGrpSpPr>
            <p:grpSpPr>
              <a:xfrm>
                <a:off x="2778120" y="4295520"/>
                <a:ext cx="2566799" cy="1622681"/>
                <a:chOff x="2776967" y="3431920"/>
                <a:chExt cx="2820356" cy="1622681"/>
              </a:xfrm>
            </p:grpSpPr>
            <p:sp>
              <p:nvSpPr>
                <p:cNvPr id="102" name="文本框 101">
                  <a:extLst>
                    <a:ext uri="{FF2B5EF4-FFF2-40B4-BE49-F238E27FC236}">
                      <a16:creationId xmlns:a16="http://schemas.microsoft.com/office/drawing/2014/main" id="{86BD8C42-E509-4044-BE65-FE7BC50ED9FD}"/>
                    </a:ext>
                  </a:extLst>
                </p:cNvPr>
                <p:cNvSpPr txBox="1"/>
                <p:nvPr/>
              </p:nvSpPr>
              <p:spPr>
                <a:xfrm>
                  <a:off x="2840601" y="3431920"/>
                  <a:ext cx="1601721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altLang="zh-CN" b="1" dirty="0">
                      <a:latin typeface="Times New Roman" panose="02020603050405020304" pitchFamily="18" charset="0"/>
                      <a:cs typeface="Times New Roman" panose="02020603050405020304" pitchFamily="18" charset="0"/>
                    </a:rPr>
                    <a:t>Frame caller()</a:t>
                  </a:r>
                  <a:endParaRPr lang="zh-CN" altLang="en-US" b="1" dirty="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grpSp>
              <p:nvGrpSpPr>
                <p:cNvPr id="103" name="组合 102">
                  <a:extLst>
                    <a:ext uri="{FF2B5EF4-FFF2-40B4-BE49-F238E27FC236}">
                      <a16:creationId xmlns:a16="http://schemas.microsoft.com/office/drawing/2014/main" id="{42ED2DED-ADDC-4022-BA6D-EE2D120002D5}"/>
                    </a:ext>
                  </a:extLst>
                </p:cNvPr>
                <p:cNvGrpSpPr/>
                <p:nvPr/>
              </p:nvGrpSpPr>
              <p:grpSpPr>
                <a:xfrm>
                  <a:off x="2776967" y="3431921"/>
                  <a:ext cx="2820356" cy="1622680"/>
                  <a:chOff x="2776967" y="3431921"/>
                  <a:chExt cx="2820356" cy="1622680"/>
                </a:xfrm>
              </p:grpSpPr>
              <p:sp>
                <p:nvSpPr>
                  <p:cNvPr id="104" name="矩形 103">
                    <a:extLst>
                      <a:ext uri="{FF2B5EF4-FFF2-40B4-BE49-F238E27FC236}">
                        <a16:creationId xmlns:a16="http://schemas.microsoft.com/office/drawing/2014/main" id="{925A0E6C-D263-45AD-A339-944092D48420}"/>
                      </a:ext>
                    </a:extLst>
                  </p:cNvPr>
                  <p:cNvSpPr/>
                  <p:nvPr/>
                </p:nvSpPr>
                <p:spPr>
                  <a:xfrm>
                    <a:off x="2789802" y="3431921"/>
                    <a:ext cx="2807521" cy="1622680"/>
                  </a:xfrm>
                  <a:prstGeom prst="rect">
                    <a:avLst/>
                  </a:prstGeom>
                  <a:noFill/>
                  <a:ln w="28575"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 dirty="0"/>
                  </a:p>
                </p:txBody>
              </p:sp>
              <p:sp>
                <p:nvSpPr>
                  <p:cNvPr id="105" name="文本框 104">
                    <a:extLst>
                      <a:ext uri="{FF2B5EF4-FFF2-40B4-BE49-F238E27FC236}">
                        <a16:creationId xmlns:a16="http://schemas.microsoft.com/office/drawing/2014/main" id="{ABD08A67-F278-4D40-A4BE-6575C6979728}"/>
                      </a:ext>
                    </a:extLst>
                  </p:cNvPr>
                  <p:cNvSpPr txBox="1"/>
                  <p:nvPr/>
                </p:nvSpPr>
                <p:spPr>
                  <a:xfrm>
                    <a:off x="2789802" y="3825518"/>
                    <a:ext cx="2419350" cy="338554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r>
                      <a:rPr lang="zh-CN" altLang="en-US" sz="1600" dirty="0"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rPr>
                      <a:t>程序计数器：</a:t>
                    </a:r>
                    <a:r>
                      <a:rPr lang="en-US" altLang="zh-CN" sz="1600" dirty="0">
                        <a:solidFill>
                          <a:srgbClr val="00B050"/>
                        </a:solidFill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rPr>
                      <a:t>32</a:t>
                    </a:r>
                    <a:endParaRPr lang="zh-CN" altLang="en-US" sz="1600" dirty="0">
                      <a:solidFill>
                        <a:srgbClr val="00B050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  <a:cs typeface="Times New Roman" panose="02020603050405020304" pitchFamily="18" charset="0"/>
                    </a:endParaRPr>
                  </a:p>
                </p:txBody>
              </p:sp>
              <p:sp>
                <p:nvSpPr>
                  <p:cNvPr id="106" name="文本框 105">
                    <a:extLst>
                      <a:ext uri="{FF2B5EF4-FFF2-40B4-BE49-F238E27FC236}">
                        <a16:creationId xmlns:a16="http://schemas.microsoft.com/office/drawing/2014/main" id="{4E5074C8-18B0-46D5-8CAC-A8F619B382E7}"/>
                      </a:ext>
                    </a:extLst>
                  </p:cNvPr>
                  <p:cNvSpPr txBox="1"/>
                  <p:nvPr/>
                </p:nvSpPr>
                <p:spPr>
                  <a:xfrm>
                    <a:off x="2789802" y="4243261"/>
                    <a:ext cx="2688907" cy="338554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r>
                      <a:rPr lang="zh-CN" altLang="en-US" sz="1600" dirty="0"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rPr>
                      <a:t>局部变量环境：</a:t>
                    </a:r>
                    <a:r>
                      <a:rPr lang="en-US" altLang="zh-CN" sz="1600" dirty="0"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rPr>
                      <a:t>a=1</a:t>
                    </a:r>
                    <a:r>
                      <a:rPr lang="zh-CN" altLang="en-US" sz="1600" dirty="0"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rPr>
                      <a:t>，</a:t>
                    </a:r>
                    <a:r>
                      <a:rPr lang="en-US" altLang="zh-CN" sz="1600" dirty="0"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rPr>
                      <a:t>b=2</a:t>
                    </a:r>
                    <a:endParaRPr lang="zh-CN" altLang="en-US" sz="1600" dirty="0">
                      <a:latin typeface="Times New Roman" panose="02020603050405020304" pitchFamily="18" charset="0"/>
                      <a:ea typeface="宋体" panose="02010600030101010101" pitchFamily="2" charset="-122"/>
                      <a:cs typeface="Times New Roman" panose="02020603050405020304" pitchFamily="18" charset="0"/>
                    </a:endParaRPr>
                  </a:p>
                </p:txBody>
              </p:sp>
              <p:sp>
                <p:nvSpPr>
                  <p:cNvPr id="107" name="文本框 106">
                    <a:extLst>
                      <a:ext uri="{FF2B5EF4-FFF2-40B4-BE49-F238E27FC236}">
                        <a16:creationId xmlns:a16="http://schemas.microsoft.com/office/drawing/2014/main" id="{C1316D4F-20C5-4297-9E7A-45FEB21B4FF3}"/>
                      </a:ext>
                    </a:extLst>
                  </p:cNvPr>
                  <p:cNvSpPr txBox="1"/>
                  <p:nvPr/>
                </p:nvSpPr>
                <p:spPr>
                  <a:xfrm>
                    <a:off x="2776967" y="4629350"/>
                    <a:ext cx="2807521" cy="338554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r>
                      <a:rPr lang="zh-CN" altLang="en-US" sz="1600" dirty="0"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rPr>
                      <a:t>操作数栈：</a:t>
                    </a:r>
                    <a:r>
                      <a:rPr lang="en-US" altLang="zh-CN" sz="1600" dirty="0"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rPr>
                      <a:t>[…, 3]</a:t>
                    </a:r>
                    <a:endParaRPr lang="zh-CN" altLang="en-US" sz="1600" dirty="0">
                      <a:latin typeface="Times New Roman" panose="02020603050405020304" pitchFamily="18" charset="0"/>
                      <a:ea typeface="宋体" panose="02010600030101010101" pitchFamily="2" charset="-122"/>
                      <a:cs typeface="Times New Roman" panose="02020603050405020304" pitchFamily="18" charset="0"/>
                    </a:endParaRPr>
                  </a:p>
                </p:txBody>
              </p:sp>
            </p:grpSp>
          </p:grpSp>
        </p:grpSp>
        <p:sp>
          <p:nvSpPr>
            <p:cNvPr id="111" name="文本框 110">
              <a:extLst>
                <a:ext uri="{FF2B5EF4-FFF2-40B4-BE49-F238E27FC236}">
                  <a16:creationId xmlns:a16="http://schemas.microsoft.com/office/drawing/2014/main" id="{38575B86-627F-436B-8213-031FA11CC38B}"/>
                </a:ext>
              </a:extLst>
            </p:cNvPr>
            <p:cNvSpPr txBox="1"/>
            <p:nvPr/>
          </p:nvSpPr>
          <p:spPr>
            <a:xfrm>
              <a:off x="9389245" y="6446861"/>
              <a:ext cx="1704313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zh-CN" altLang="en-US" dirty="0"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③ </a:t>
              </a:r>
              <a:r>
                <a:rPr lang="en-US" altLang="zh-CN" dirty="0"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callee</a:t>
              </a:r>
              <a:r>
                <a:rPr lang="zh-CN" altLang="en-US" dirty="0"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返回后</a:t>
              </a:r>
            </a:p>
          </p:txBody>
        </p:sp>
        <p:sp>
          <p:nvSpPr>
            <p:cNvPr id="113" name="文本框 112">
              <a:extLst>
                <a:ext uri="{FF2B5EF4-FFF2-40B4-BE49-F238E27FC236}">
                  <a16:creationId xmlns:a16="http://schemas.microsoft.com/office/drawing/2014/main" id="{1F308451-8873-431F-B7FD-AC4F48E904D3}"/>
                </a:ext>
              </a:extLst>
            </p:cNvPr>
            <p:cNvSpPr txBox="1"/>
            <p:nvPr/>
          </p:nvSpPr>
          <p:spPr>
            <a:xfrm>
              <a:off x="9344011" y="456843"/>
              <a:ext cx="222048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b="1" dirty="0"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PVM </a:t>
              </a:r>
              <a:r>
                <a:rPr lang="zh-CN" altLang="en-US" b="1" dirty="0"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调用堆栈 栈顶</a:t>
              </a:r>
            </a:p>
          </p:txBody>
        </p:sp>
      </p:grpSp>
      <p:sp>
        <p:nvSpPr>
          <p:cNvPr id="16" name="文本框 15">
            <a:extLst>
              <a:ext uri="{FF2B5EF4-FFF2-40B4-BE49-F238E27FC236}">
                <a16:creationId xmlns:a16="http://schemas.microsoft.com/office/drawing/2014/main" id="{D9CAA056-0C40-4654-BF4B-1707EC9FDFB0}"/>
              </a:ext>
            </a:extLst>
          </p:cNvPr>
          <p:cNvSpPr txBox="1"/>
          <p:nvPr/>
        </p:nvSpPr>
        <p:spPr>
          <a:xfrm>
            <a:off x="131267" y="546259"/>
            <a:ext cx="1563248" cy="206210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b="1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def callee(x, y):</a:t>
            </a:r>
          </a:p>
          <a:p>
            <a:r>
              <a:rPr lang="en-US" altLang="zh-CN" sz="1600" b="0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  return x + y</a:t>
            </a:r>
          </a:p>
          <a:p>
            <a:br>
              <a:rPr lang="en-US" altLang="zh-CN" sz="1600" b="0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altLang="zh-CN" sz="1600" b="1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def caller():</a:t>
            </a:r>
          </a:p>
          <a:p>
            <a:r>
              <a:rPr lang="en-US" altLang="zh-CN" sz="1600" b="0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  a = 1</a:t>
            </a:r>
          </a:p>
          <a:p>
            <a:r>
              <a:rPr lang="en-US" altLang="zh-CN" sz="1600" b="0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  b = 2</a:t>
            </a:r>
          </a:p>
          <a:p>
            <a:r>
              <a:rPr lang="en-US" altLang="zh-CN" sz="1600" b="0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  c = callee(a, b) </a:t>
            </a:r>
          </a:p>
          <a:p>
            <a:endParaRPr lang="zh-CN" altLang="en-US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7" name="箭头: 上 16">
            <a:extLst>
              <a:ext uri="{FF2B5EF4-FFF2-40B4-BE49-F238E27FC236}">
                <a16:creationId xmlns:a16="http://schemas.microsoft.com/office/drawing/2014/main" id="{F7C59FF0-E7B3-4636-B897-83A2AF7B9BBE}"/>
              </a:ext>
            </a:extLst>
          </p:cNvPr>
          <p:cNvSpPr/>
          <p:nvPr/>
        </p:nvSpPr>
        <p:spPr>
          <a:xfrm>
            <a:off x="9925637" y="3172420"/>
            <a:ext cx="1649812" cy="856441"/>
          </a:xfrm>
          <a:prstGeom prst="upArrow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 b="1" dirty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callee()</a:t>
            </a:r>
          </a:p>
          <a:p>
            <a:pPr algn="ctr"/>
            <a:r>
              <a:rPr lang="zh-CN" altLang="en-US" sz="1400" b="1" dirty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栈帧</a:t>
            </a:r>
            <a:endParaRPr lang="en-US" altLang="zh-CN" sz="1400" b="1" dirty="0">
              <a:solidFill>
                <a:schemeClr val="tx1"/>
              </a:solidFill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  <a:p>
            <a:pPr algn="ctr"/>
            <a:r>
              <a:rPr lang="zh-CN" altLang="en-US" sz="1400" b="1" dirty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出栈</a:t>
            </a:r>
          </a:p>
        </p:txBody>
      </p:sp>
    </p:spTree>
    <p:extLst>
      <p:ext uri="{BB962C8B-B14F-4D97-AF65-F5344CB8AC3E}">
        <p14:creationId xmlns:p14="http://schemas.microsoft.com/office/powerpoint/2010/main" val="305187391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文本框 4">
            <a:extLst>
              <a:ext uri="{FF2B5EF4-FFF2-40B4-BE49-F238E27FC236}">
                <a16:creationId xmlns:a16="http://schemas.microsoft.com/office/drawing/2014/main" id="{537A5843-FDFA-4C38-A9DC-81BE10F32887}"/>
              </a:ext>
            </a:extLst>
          </p:cNvPr>
          <p:cNvSpPr txBox="1"/>
          <p:nvPr/>
        </p:nvSpPr>
        <p:spPr>
          <a:xfrm>
            <a:off x="584132" y="686895"/>
            <a:ext cx="1027945" cy="209288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b="0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x = 1</a:t>
            </a:r>
          </a:p>
          <a:p>
            <a:r>
              <a:rPr lang="en-US" altLang="zh-CN" sz="1600" b="0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y = 2</a:t>
            </a:r>
          </a:p>
          <a:p>
            <a:br>
              <a:rPr lang="en-US" altLang="zh-CN" sz="1600" b="1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altLang="zh-CN" sz="1600" b="1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def foo():</a:t>
            </a:r>
          </a:p>
          <a:p>
            <a:r>
              <a:rPr lang="en-US" altLang="zh-CN" sz="1600" b="0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    a = 3</a:t>
            </a:r>
          </a:p>
          <a:p>
            <a:r>
              <a:rPr lang="en-US" altLang="zh-CN" sz="1600" b="0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    b = 4</a:t>
            </a:r>
            <a:endParaRPr lang="en-US" altLang="zh-CN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altLang="zh-CN" sz="1600" b="0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foo()</a:t>
            </a:r>
          </a:p>
          <a:p>
            <a:endParaRPr lang="zh-CN" altLang="en-US" dirty="0"/>
          </a:p>
        </p:txBody>
      </p:sp>
      <p:grpSp>
        <p:nvGrpSpPr>
          <p:cNvPr id="72" name="组合 71">
            <a:extLst>
              <a:ext uri="{FF2B5EF4-FFF2-40B4-BE49-F238E27FC236}">
                <a16:creationId xmlns:a16="http://schemas.microsoft.com/office/drawing/2014/main" id="{66AA8B4D-3564-4533-9D1B-52113B3D047B}"/>
              </a:ext>
            </a:extLst>
          </p:cNvPr>
          <p:cNvGrpSpPr/>
          <p:nvPr/>
        </p:nvGrpSpPr>
        <p:grpSpPr>
          <a:xfrm>
            <a:off x="3308305" y="544594"/>
            <a:ext cx="2555287" cy="2623361"/>
            <a:chOff x="3041643" y="523620"/>
            <a:chExt cx="2555287" cy="2623361"/>
          </a:xfrm>
        </p:grpSpPr>
        <p:cxnSp>
          <p:nvCxnSpPr>
            <p:cNvPr id="16" name="直接连接符 15">
              <a:extLst>
                <a:ext uri="{FF2B5EF4-FFF2-40B4-BE49-F238E27FC236}">
                  <a16:creationId xmlns:a16="http://schemas.microsoft.com/office/drawing/2014/main" id="{FEC6F88E-398C-4D40-AA82-B8A4ADA31806}"/>
                </a:ext>
              </a:extLst>
            </p:cNvPr>
            <p:cNvCxnSpPr/>
            <p:nvPr/>
          </p:nvCxnSpPr>
          <p:spPr>
            <a:xfrm>
              <a:off x="3041643" y="1779610"/>
              <a:ext cx="2555118" cy="0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71" name="组合 70">
              <a:extLst>
                <a:ext uri="{FF2B5EF4-FFF2-40B4-BE49-F238E27FC236}">
                  <a16:creationId xmlns:a16="http://schemas.microsoft.com/office/drawing/2014/main" id="{6349E83A-598A-4B4D-9C9A-8FA47002741A}"/>
                </a:ext>
              </a:extLst>
            </p:cNvPr>
            <p:cNvGrpSpPr/>
            <p:nvPr/>
          </p:nvGrpSpPr>
          <p:grpSpPr>
            <a:xfrm>
              <a:off x="3041643" y="523620"/>
              <a:ext cx="2555287" cy="2623361"/>
              <a:chOff x="3041643" y="523620"/>
              <a:chExt cx="2555287" cy="2623361"/>
            </a:xfrm>
          </p:grpSpPr>
          <p:cxnSp>
            <p:nvCxnSpPr>
              <p:cNvPr id="18" name="直接连接符 17">
                <a:extLst>
                  <a:ext uri="{FF2B5EF4-FFF2-40B4-BE49-F238E27FC236}">
                    <a16:creationId xmlns:a16="http://schemas.microsoft.com/office/drawing/2014/main" id="{01418F91-43D4-4F75-950F-FE2B73D75D5F}"/>
                  </a:ext>
                </a:extLst>
              </p:cNvPr>
              <p:cNvCxnSpPr/>
              <p:nvPr/>
            </p:nvCxnSpPr>
            <p:spPr>
              <a:xfrm>
                <a:off x="3041812" y="2663868"/>
                <a:ext cx="2555118" cy="0"/>
              </a:xfrm>
              <a:prstGeom prst="line">
                <a:avLst/>
              </a:prstGeom>
              <a:ln w="28575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grpSp>
            <p:nvGrpSpPr>
              <p:cNvPr id="57" name="组合 56">
                <a:extLst>
                  <a:ext uri="{FF2B5EF4-FFF2-40B4-BE49-F238E27FC236}">
                    <a16:creationId xmlns:a16="http://schemas.microsoft.com/office/drawing/2014/main" id="{A7C117F1-BC2B-466A-8A21-DAFB9FB31B85}"/>
                  </a:ext>
                </a:extLst>
              </p:cNvPr>
              <p:cNvGrpSpPr/>
              <p:nvPr/>
            </p:nvGrpSpPr>
            <p:grpSpPr>
              <a:xfrm>
                <a:off x="3041643" y="523620"/>
                <a:ext cx="2555118" cy="2623361"/>
                <a:chOff x="3041643" y="523620"/>
                <a:chExt cx="2555118" cy="2623361"/>
              </a:xfrm>
            </p:grpSpPr>
            <p:cxnSp>
              <p:nvCxnSpPr>
                <p:cNvPr id="15" name="直接连接符 14">
                  <a:extLst>
                    <a:ext uri="{FF2B5EF4-FFF2-40B4-BE49-F238E27FC236}">
                      <a16:creationId xmlns:a16="http://schemas.microsoft.com/office/drawing/2014/main" id="{D4F7D2DA-75F0-4634-BBCD-7D97E2848619}"/>
                    </a:ext>
                  </a:extLst>
                </p:cNvPr>
                <p:cNvCxnSpPr/>
                <p:nvPr/>
              </p:nvCxnSpPr>
              <p:spPr>
                <a:xfrm>
                  <a:off x="3041643" y="1375158"/>
                  <a:ext cx="2555118" cy="0"/>
                </a:xfrm>
                <a:prstGeom prst="line">
                  <a:avLst/>
                </a:prstGeom>
                <a:ln w="28575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grpSp>
              <p:nvGrpSpPr>
                <p:cNvPr id="45" name="组合 44">
                  <a:extLst>
                    <a:ext uri="{FF2B5EF4-FFF2-40B4-BE49-F238E27FC236}">
                      <a16:creationId xmlns:a16="http://schemas.microsoft.com/office/drawing/2014/main" id="{33509DE3-9524-4995-9A07-7422CCE2C1D6}"/>
                    </a:ext>
                  </a:extLst>
                </p:cNvPr>
                <p:cNvGrpSpPr/>
                <p:nvPr/>
              </p:nvGrpSpPr>
              <p:grpSpPr>
                <a:xfrm>
                  <a:off x="3041643" y="523620"/>
                  <a:ext cx="2555118" cy="2623361"/>
                  <a:chOff x="3041643" y="523620"/>
                  <a:chExt cx="2555118" cy="2623361"/>
                </a:xfrm>
              </p:grpSpPr>
              <p:sp>
                <p:nvSpPr>
                  <p:cNvPr id="4" name="矩形 3">
                    <a:extLst>
                      <a:ext uri="{FF2B5EF4-FFF2-40B4-BE49-F238E27FC236}">
                        <a16:creationId xmlns:a16="http://schemas.microsoft.com/office/drawing/2014/main" id="{574E653C-B3D2-42AF-8A69-C203F087781E}"/>
                      </a:ext>
                    </a:extLst>
                  </p:cNvPr>
                  <p:cNvSpPr/>
                  <p:nvPr/>
                </p:nvSpPr>
                <p:spPr>
                  <a:xfrm>
                    <a:off x="3041643" y="523620"/>
                    <a:ext cx="2555118" cy="2623361"/>
                  </a:xfrm>
                  <a:prstGeom prst="rect">
                    <a:avLst/>
                  </a:prstGeom>
                  <a:noFill/>
                  <a:ln w="28575"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 dirty="0"/>
                  </a:p>
                </p:txBody>
              </p:sp>
              <p:sp>
                <p:nvSpPr>
                  <p:cNvPr id="6" name="文本框 5">
                    <a:extLst>
                      <a:ext uri="{FF2B5EF4-FFF2-40B4-BE49-F238E27FC236}">
                        <a16:creationId xmlns:a16="http://schemas.microsoft.com/office/drawing/2014/main" id="{6A100911-380A-4B00-9622-4BB5C9607E2F}"/>
                      </a:ext>
                    </a:extLst>
                  </p:cNvPr>
                  <p:cNvSpPr txBox="1"/>
                  <p:nvPr/>
                </p:nvSpPr>
                <p:spPr>
                  <a:xfrm>
                    <a:off x="3100575" y="593470"/>
                    <a:ext cx="1819729" cy="369332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r>
                      <a:rPr lang="en-US" altLang="zh-CN" b="1" dirty="0">
                        <a:latin typeface="Times New Roman" panose="02020603050405020304" pitchFamily="18" charset="0"/>
                        <a:cs typeface="Times New Roman" panose="02020603050405020304" pitchFamily="18" charset="0"/>
                      </a:rPr>
                      <a:t>Frame </a:t>
                    </a:r>
                    <a:r>
                      <a:rPr lang="zh-CN" altLang="en-US" b="1" dirty="0">
                        <a:latin typeface="宋体" panose="02010600030101010101" pitchFamily="2" charset="-122"/>
                        <a:ea typeface="宋体" panose="02010600030101010101" pitchFamily="2" charset="-122"/>
                        <a:cs typeface="Times New Roman" panose="02020603050405020304" pitchFamily="18" charset="0"/>
                      </a:rPr>
                      <a:t>顶层代码</a:t>
                    </a:r>
                  </a:p>
                </p:txBody>
              </p:sp>
              <p:sp>
                <p:nvSpPr>
                  <p:cNvPr id="7" name="文本框 6">
                    <a:extLst>
                      <a:ext uri="{FF2B5EF4-FFF2-40B4-BE49-F238E27FC236}">
                        <a16:creationId xmlns:a16="http://schemas.microsoft.com/office/drawing/2014/main" id="{18E8AC7A-2578-4528-BC67-389B375AB96B}"/>
                      </a:ext>
                    </a:extLst>
                  </p:cNvPr>
                  <p:cNvSpPr txBox="1"/>
                  <p:nvPr/>
                </p:nvSpPr>
                <p:spPr>
                  <a:xfrm>
                    <a:off x="3100575" y="1032652"/>
                    <a:ext cx="2201844" cy="338554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r>
                      <a:rPr lang="zh-CN" altLang="en-US" sz="1600" dirty="0"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rPr>
                      <a:t>程序计数器     </a:t>
                    </a:r>
                    <a:r>
                      <a:rPr lang="en-US" altLang="zh-CN" sz="1600" dirty="0"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rPr>
                      <a:t>…</a:t>
                    </a:r>
                    <a:endParaRPr lang="zh-CN" altLang="en-US" sz="1600" dirty="0">
                      <a:latin typeface="Times New Roman" panose="02020603050405020304" pitchFamily="18" charset="0"/>
                      <a:ea typeface="宋体" panose="02010600030101010101" pitchFamily="2" charset="-122"/>
                      <a:cs typeface="Times New Roman" panose="02020603050405020304" pitchFamily="18" charset="0"/>
                    </a:endParaRPr>
                  </a:p>
                </p:txBody>
              </p:sp>
              <p:sp>
                <p:nvSpPr>
                  <p:cNvPr id="8" name="文本框 7">
                    <a:extLst>
                      <a:ext uri="{FF2B5EF4-FFF2-40B4-BE49-F238E27FC236}">
                        <a16:creationId xmlns:a16="http://schemas.microsoft.com/office/drawing/2014/main" id="{3617EC0A-6AB3-4EDF-B34A-524219D89980}"/>
                      </a:ext>
                    </a:extLst>
                  </p:cNvPr>
                  <p:cNvSpPr txBox="1"/>
                  <p:nvPr/>
                </p:nvSpPr>
                <p:spPr>
                  <a:xfrm>
                    <a:off x="3100574" y="1441056"/>
                    <a:ext cx="2315975" cy="338554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r>
                      <a:rPr lang="zh-CN" altLang="en-US" sz="1600" dirty="0"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rPr>
                      <a:t>操作数栈         </a:t>
                    </a:r>
                    <a:r>
                      <a:rPr lang="en-US" altLang="zh-CN" sz="1600" dirty="0"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rPr>
                      <a:t>[…]</a:t>
                    </a:r>
                    <a:endParaRPr lang="zh-CN" altLang="en-US" sz="1600" dirty="0">
                      <a:latin typeface="Times New Roman" panose="02020603050405020304" pitchFamily="18" charset="0"/>
                      <a:ea typeface="宋体" panose="02010600030101010101" pitchFamily="2" charset="-122"/>
                      <a:cs typeface="Times New Roman" panose="02020603050405020304" pitchFamily="18" charset="0"/>
                    </a:endParaRPr>
                  </a:p>
                </p:txBody>
              </p:sp>
              <p:sp>
                <p:nvSpPr>
                  <p:cNvPr id="9" name="文本框 8">
                    <a:extLst>
                      <a:ext uri="{FF2B5EF4-FFF2-40B4-BE49-F238E27FC236}">
                        <a16:creationId xmlns:a16="http://schemas.microsoft.com/office/drawing/2014/main" id="{FBC671FE-C509-4A20-9EAE-F79DCB53A9BC}"/>
                      </a:ext>
                    </a:extLst>
                  </p:cNvPr>
                  <p:cNvSpPr txBox="1"/>
                  <p:nvPr/>
                </p:nvSpPr>
                <p:spPr>
                  <a:xfrm>
                    <a:off x="3094905" y="2724808"/>
                    <a:ext cx="722126" cy="338554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r>
                      <a:rPr lang="en-US" altLang="zh-CN" sz="1600" dirty="0"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rPr>
                      <a:t>locals</a:t>
                    </a:r>
                    <a:endParaRPr lang="zh-CN" altLang="en-US" sz="1600" dirty="0">
                      <a:latin typeface="Times New Roman" panose="02020603050405020304" pitchFamily="18" charset="0"/>
                      <a:ea typeface="宋体" panose="02010600030101010101" pitchFamily="2" charset="-122"/>
                      <a:cs typeface="Times New Roman" panose="02020603050405020304" pitchFamily="18" charset="0"/>
                    </a:endParaRPr>
                  </a:p>
                </p:txBody>
              </p:sp>
              <p:sp>
                <p:nvSpPr>
                  <p:cNvPr id="10" name="文本框 9">
                    <a:extLst>
                      <a:ext uri="{FF2B5EF4-FFF2-40B4-BE49-F238E27FC236}">
                        <a16:creationId xmlns:a16="http://schemas.microsoft.com/office/drawing/2014/main" id="{D0516658-7717-4EB4-B5E2-C20AAD257168}"/>
                      </a:ext>
                    </a:extLst>
                  </p:cNvPr>
                  <p:cNvSpPr txBox="1"/>
                  <p:nvPr/>
                </p:nvSpPr>
                <p:spPr>
                  <a:xfrm>
                    <a:off x="3100572" y="2256664"/>
                    <a:ext cx="2315975" cy="338554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r>
                      <a:rPr lang="en-US" altLang="zh-CN" sz="1600" dirty="0"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rPr>
                      <a:t>localsplus         NULL</a:t>
                    </a:r>
                    <a:endParaRPr lang="zh-CN" altLang="en-US" sz="1600" dirty="0">
                      <a:latin typeface="Times New Roman" panose="02020603050405020304" pitchFamily="18" charset="0"/>
                      <a:ea typeface="宋体" panose="02010600030101010101" pitchFamily="2" charset="-122"/>
                      <a:cs typeface="Times New Roman" panose="02020603050405020304" pitchFamily="18" charset="0"/>
                    </a:endParaRPr>
                  </a:p>
                </p:txBody>
              </p:sp>
              <p:sp>
                <p:nvSpPr>
                  <p:cNvPr id="11" name="文本框 10">
                    <a:extLst>
                      <a:ext uri="{FF2B5EF4-FFF2-40B4-BE49-F238E27FC236}">
                        <a16:creationId xmlns:a16="http://schemas.microsoft.com/office/drawing/2014/main" id="{C557FC36-C131-4045-9717-1C46C31D9BE8}"/>
                      </a:ext>
                    </a:extLst>
                  </p:cNvPr>
                  <p:cNvSpPr txBox="1"/>
                  <p:nvPr/>
                </p:nvSpPr>
                <p:spPr>
                  <a:xfrm>
                    <a:off x="3094905" y="1791181"/>
                    <a:ext cx="842779" cy="338554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r>
                      <a:rPr lang="en-US" altLang="zh-CN" sz="1600" dirty="0"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rPr>
                      <a:t>globals</a:t>
                    </a:r>
                    <a:endParaRPr lang="zh-CN" altLang="en-US" sz="1600" dirty="0">
                      <a:latin typeface="Times New Roman" panose="02020603050405020304" pitchFamily="18" charset="0"/>
                      <a:ea typeface="宋体" panose="02010600030101010101" pitchFamily="2" charset="-122"/>
                      <a:cs typeface="Times New Roman" panose="02020603050405020304" pitchFamily="18" charset="0"/>
                    </a:endParaRPr>
                  </a:p>
                </p:txBody>
              </p:sp>
              <p:cxnSp>
                <p:nvCxnSpPr>
                  <p:cNvPr id="14" name="直接连接符 13">
                    <a:extLst>
                      <a:ext uri="{FF2B5EF4-FFF2-40B4-BE49-F238E27FC236}">
                        <a16:creationId xmlns:a16="http://schemas.microsoft.com/office/drawing/2014/main" id="{1C3FE492-1534-4C73-8E90-0FB8D6234600}"/>
                      </a:ext>
                    </a:extLst>
                  </p:cNvPr>
                  <p:cNvCxnSpPr/>
                  <p:nvPr/>
                </p:nvCxnSpPr>
                <p:spPr>
                  <a:xfrm>
                    <a:off x="3041643" y="962802"/>
                    <a:ext cx="2555118" cy="0"/>
                  </a:xfrm>
                  <a:prstGeom prst="line">
                    <a:avLst/>
                  </a:prstGeom>
                  <a:ln w="28575">
                    <a:solidFill>
                      <a:schemeClr val="tx1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7" name="直接连接符 16">
                    <a:extLst>
                      <a:ext uri="{FF2B5EF4-FFF2-40B4-BE49-F238E27FC236}">
                        <a16:creationId xmlns:a16="http://schemas.microsoft.com/office/drawing/2014/main" id="{2022F10E-5C8A-45B8-8953-2F9543ACB603}"/>
                      </a:ext>
                    </a:extLst>
                  </p:cNvPr>
                  <p:cNvCxnSpPr/>
                  <p:nvPr/>
                </p:nvCxnSpPr>
                <p:spPr>
                  <a:xfrm>
                    <a:off x="3041643" y="2202324"/>
                    <a:ext cx="2555118" cy="0"/>
                  </a:xfrm>
                  <a:prstGeom prst="line">
                    <a:avLst/>
                  </a:prstGeom>
                  <a:ln w="28575">
                    <a:solidFill>
                      <a:schemeClr val="tx1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20" name="直接连接符 19">
                    <a:extLst>
                      <a:ext uri="{FF2B5EF4-FFF2-40B4-BE49-F238E27FC236}">
                        <a16:creationId xmlns:a16="http://schemas.microsoft.com/office/drawing/2014/main" id="{97706DCF-87E4-4DCD-94E5-A787A65337AC}"/>
                      </a:ext>
                    </a:extLst>
                  </p:cNvPr>
                  <p:cNvCxnSpPr>
                    <a:cxnSpLocks/>
                    <a:endCxn id="4" idx="2"/>
                  </p:cNvCxnSpPr>
                  <p:nvPr/>
                </p:nvCxnSpPr>
                <p:spPr>
                  <a:xfrm>
                    <a:off x="4319202" y="962802"/>
                    <a:ext cx="0" cy="2184179"/>
                  </a:xfrm>
                  <a:prstGeom prst="line">
                    <a:avLst/>
                  </a:prstGeom>
                  <a:ln w="28575">
                    <a:solidFill>
                      <a:schemeClr val="tx1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</p:grpSp>
        </p:grpSp>
      </p:grpSp>
      <p:grpSp>
        <p:nvGrpSpPr>
          <p:cNvPr id="94" name="组合 93">
            <a:extLst>
              <a:ext uri="{FF2B5EF4-FFF2-40B4-BE49-F238E27FC236}">
                <a16:creationId xmlns:a16="http://schemas.microsoft.com/office/drawing/2014/main" id="{D117C914-E509-48DE-AAA0-C6A5CE55D5BA}"/>
              </a:ext>
            </a:extLst>
          </p:cNvPr>
          <p:cNvGrpSpPr/>
          <p:nvPr/>
        </p:nvGrpSpPr>
        <p:grpSpPr>
          <a:xfrm>
            <a:off x="3350927" y="3812054"/>
            <a:ext cx="2555287" cy="2623361"/>
            <a:chOff x="3041643" y="3429000"/>
            <a:chExt cx="2555287" cy="2623361"/>
          </a:xfrm>
        </p:grpSpPr>
        <p:grpSp>
          <p:nvGrpSpPr>
            <p:cNvPr id="73" name="组合 72">
              <a:extLst>
                <a:ext uri="{FF2B5EF4-FFF2-40B4-BE49-F238E27FC236}">
                  <a16:creationId xmlns:a16="http://schemas.microsoft.com/office/drawing/2014/main" id="{9FDA35A6-6E37-4CF1-A043-85051C3D965B}"/>
                </a:ext>
              </a:extLst>
            </p:cNvPr>
            <p:cNvGrpSpPr/>
            <p:nvPr/>
          </p:nvGrpSpPr>
          <p:grpSpPr>
            <a:xfrm>
              <a:off x="3041643" y="3429000"/>
              <a:ext cx="2555287" cy="2623361"/>
              <a:chOff x="3041643" y="523620"/>
              <a:chExt cx="2555287" cy="2623361"/>
            </a:xfrm>
          </p:grpSpPr>
          <p:cxnSp>
            <p:nvCxnSpPr>
              <p:cNvPr id="74" name="直接连接符 73">
                <a:extLst>
                  <a:ext uri="{FF2B5EF4-FFF2-40B4-BE49-F238E27FC236}">
                    <a16:creationId xmlns:a16="http://schemas.microsoft.com/office/drawing/2014/main" id="{FE62186F-840B-4D9B-98B5-02E912D26CCF}"/>
                  </a:ext>
                </a:extLst>
              </p:cNvPr>
              <p:cNvCxnSpPr/>
              <p:nvPr/>
            </p:nvCxnSpPr>
            <p:spPr>
              <a:xfrm>
                <a:off x="3041643" y="1779610"/>
                <a:ext cx="2555118" cy="0"/>
              </a:xfrm>
              <a:prstGeom prst="line">
                <a:avLst/>
              </a:prstGeom>
              <a:ln w="28575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grpSp>
            <p:nvGrpSpPr>
              <p:cNvPr id="75" name="组合 74">
                <a:extLst>
                  <a:ext uri="{FF2B5EF4-FFF2-40B4-BE49-F238E27FC236}">
                    <a16:creationId xmlns:a16="http://schemas.microsoft.com/office/drawing/2014/main" id="{507A96CD-035D-443F-978B-24E7A465D1BD}"/>
                  </a:ext>
                </a:extLst>
              </p:cNvPr>
              <p:cNvGrpSpPr/>
              <p:nvPr/>
            </p:nvGrpSpPr>
            <p:grpSpPr>
              <a:xfrm>
                <a:off x="3041643" y="523620"/>
                <a:ext cx="2555287" cy="2623361"/>
                <a:chOff x="3041643" y="523620"/>
                <a:chExt cx="2555287" cy="2623361"/>
              </a:xfrm>
            </p:grpSpPr>
            <p:cxnSp>
              <p:nvCxnSpPr>
                <p:cNvPr id="76" name="直接连接符 75">
                  <a:extLst>
                    <a:ext uri="{FF2B5EF4-FFF2-40B4-BE49-F238E27FC236}">
                      <a16:creationId xmlns:a16="http://schemas.microsoft.com/office/drawing/2014/main" id="{477D4BD2-5CAD-4A7E-883A-35C1C2342A55}"/>
                    </a:ext>
                  </a:extLst>
                </p:cNvPr>
                <p:cNvCxnSpPr/>
                <p:nvPr/>
              </p:nvCxnSpPr>
              <p:spPr>
                <a:xfrm>
                  <a:off x="3041812" y="2663868"/>
                  <a:ext cx="2555118" cy="0"/>
                </a:xfrm>
                <a:prstGeom prst="line">
                  <a:avLst/>
                </a:prstGeom>
                <a:ln w="28575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grpSp>
              <p:nvGrpSpPr>
                <p:cNvPr id="77" name="组合 76">
                  <a:extLst>
                    <a:ext uri="{FF2B5EF4-FFF2-40B4-BE49-F238E27FC236}">
                      <a16:creationId xmlns:a16="http://schemas.microsoft.com/office/drawing/2014/main" id="{75799A20-2FDB-4809-8C6E-57FF5E7F2183}"/>
                    </a:ext>
                  </a:extLst>
                </p:cNvPr>
                <p:cNvGrpSpPr/>
                <p:nvPr/>
              </p:nvGrpSpPr>
              <p:grpSpPr>
                <a:xfrm>
                  <a:off x="3041643" y="523620"/>
                  <a:ext cx="2555118" cy="2623361"/>
                  <a:chOff x="3041643" y="523620"/>
                  <a:chExt cx="2555118" cy="2623361"/>
                </a:xfrm>
              </p:grpSpPr>
              <p:cxnSp>
                <p:nvCxnSpPr>
                  <p:cNvPr id="78" name="直接连接符 77">
                    <a:extLst>
                      <a:ext uri="{FF2B5EF4-FFF2-40B4-BE49-F238E27FC236}">
                        <a16:creationId xmlns:a16="http://schemas.microsoft.com/office/drawing/2014/main" id="{84281ADE-7B2F-43F5-A758-D8236331E8E6}"/>
                      </a:ext>
                    </a:extLst>
                  </p:cNvPr>
                  <p:cNvCxnSpPr/>
                  <p:nvPr/>
                </p:nvCxnSpPr>
                <p:spPr>
                  <a:xfrm>
                    <a:off x="3041643" y="1375158"/>
                    <a:ext cx="2555118" cy="0"/>
                  </a:xfrm>
                  <a:prstGeom prst="line">
                    <a:avLst/>
                  </a:prstGeom>
                  <a:ln w="28575">
                    <a:solidFill>
                      <a:schemeClr val="tx1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grpSp>
                <p:nvGrpSpPr>
                  <p:cNvPr id="79" name="组合 78">
                    <a:extLst>
                      <a:ext uri="{FF2B5EF4-FFF2-40B4-BE49-F238E27FC236}">
                        <a16:creationId xmlns:a16="http://schemas.microsoft.com/office/drawing/2014/main" id="{0EEDB387-8BD4-4B05-87E5-8D42F9C0601B}"/>
                      </a:ext>
                    </a:extLst>
                  </p:cNvPr>
                  <p:cNvGrpSpPr/>
                  <p:nvPr/>
                </p:nvGrpSpPr>
                <p:grpSpPr>
                  <a:xfrm>
                    <a:off x="3041643" y="523620"/>
                    <a:ext cx="2555118" cy="2623361"/>
                    <a:chOff x="3041643" y="523620"/>
                    <a:chExt cx="2555118" cy="2623361"/>
                  </a:xfrm>
                </p:grpSpPr>
                <p:sp>
                  <p:nvSpPr>
                    <p:cNvPr id="80" name="矩形 79">
                      <a:extLst>
                        <a:ext uri="{FF2B5EF4-FFF2-40B4-BE49-F238E27FC236}">
                          <a16:creationId xmlns:a16="http://schemas.microsoft.com/office/drawing/2014/main" id="{A86746FA-14BE-402B-9EEF-C7546BFAC868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3041643" y="523620"/>
                      <a:ext cx="2555118" cy="2623361"/>
                    </a:xfrm>
                    <a:prstGeom prst="rect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zh-CN" altLang="en-US" dirty="0"/>
                    </a:p>
                  </p:txBody>
                </p:sp>
                <p:sp>
                  <p:nvSpPr>
                    <p:cNvPr id="81" name="文本框 80">
                      <a:extLst>
                        <a:ext uri="{FF2B5EF4-FFF2-40B4-BE49-F238E27FC236}">
                          <a16:creationId xmlns:a16="http://schemas.microsoft.com/office/drawing/2014/main" id="{6D992FB4-AA99-4E31-AFFE-7BCB291205D7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3100575" y="593470"/>
                      <a:ext cx="1358064" cy="369332"/>
                    </a:xfrm>
                    <a:prstGeom prst="rect">
                      <a:avLst/>
                    </a:prstGeom>
                    <a:noFill/>
                  </p:spPr>
                  <p:txBody>
                    <a:bodyPr wrap="none" rtlCol="0">
                      <a:spAutoFit/>
                    </a:bodyPr>
                    <a:lstStyle/>
                    <a:p>
                      <a:r>
                        <a:rPr lang="en-US" altLang="zh-CN" b="1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Frame </a:t>
                      </a:r>
                      <a:r>
                        <a:rPr lang="en-US" altLang="zh-CN" b="1" dirty="0"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foo()</a:t>
                      </a:r>
                      <a:endParaRPr lang="zh-CN" altLang="en-US" b="1" dirty="0"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p:txBody>
                </p:sp>
                <p:sp>
                  <p:nvSpPr>
                    <p:cNvPr id="82" name="文本框 81">
                      <a:extLst>
                        <a:ext uri="{FF2B5EF4-FFF2-40B4-BE49-F238E27FC236}">
                          <a16:creationId xmlns:a16="http://schemas.microsoft.com/office/drawing/2014/main" id="{2AFE1CD8-28D7-4055-90E9-60603D6912B3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3100575" y="1032652"/>
                      <a:ext cx="2201844" cy="338554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r>
                        <a:rPr lang="zh-CN" altLang="en-US" sz="1600" dirty="0"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程序计数器     </a:t>
                      </a:r>
                      <a:r>
                        <a:rPr lang="en-US" altLang="zh-CN" sz="1600" dirty="0"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…</a:t>
                      </a:r>
                      <a:endParaRPr lang="zh-CN" altLang="en-US" sz="1600" dirty="0"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p:txBody>
                </p:sp>
                <p:sp>
                  <p:nvSpPr>
                    <p:cNvPr id="83" name="文本框 82">
                      <a:extLst>
                        <a:ext uri="{FF2B5EF4-FFF2-40B4-BE49-F238E27FC236}">
                          <a16:creationId xmlns:a16="http://schemas.microsoft.com/office/drawing/2014/main" id="{3A0614CA-4821-4BBF-9A35-E6D6E41F6324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3100574" y="1441056"/>
                      <a:ext cx="2315975" cy="338554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r>
                        <a:rPr lang="zh-CN" altLang="en-US" sz="1600" dirty="0"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操作数栈         </a:t>
                      </a:r>
                      <a:r>
                        <a:rPr lang="en-US" altLang="zh-CN" sz="1600" dirty="0"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[…]</a:t>
                      </a:r>
                      <a:endParaRPr lang="zh-CN" altLang="en-US" sz="1600" dirty="0"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p:txBody>
                </p:sp>
                <p:sp>
                  <p:nvSpPr>
                    <p:cNvPr id="84" name="文本框 83">
                      <a:extLst>
                        <a:ext uri="{FF2B5EF4-FFF2-40B4-BE49-F238E27FC236}">
                          <a16:creationId xmlns:a16="http://schemas.microsoft.com/office/drawing/2014/main" id="{C76D9692-DAA5-4A82-881F-91DCF61B6428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3094905" y="2724808"/>
                      <a:ext cx="722126" cy="338554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r>
                        <a:rPr lang="en-US" altLang="zh-CN" sz="1600" dirty="0"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locals</a:t>
                      </a:r>
                      <a:endParaRPr lang="zh-CN" altLang="en-US" sz="1600" dirty="0"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p:txBody>
                </p:sp>
                <p:sp>
                  <p:nvSpPr>
                    <p:cNvPr id="85" name="文本框 84">
                      <a:extLst>
                        <a:ext uri="{FF2B5EF4-FFF2-40B4-BE49-F238E27FC236}">
                          <a16:creationId xmlns:a16="http://schemas.microsoft.com/office/drawing/2014/main" id="{D04F7F74-279E-44D9-9411-1B3DD1B11818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3100573" y="2256664"/>
                      <a:ext cx="1014228" cy="338554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r>
                        <a:rPr lang="en-US" altLang="zh-CN" sz="1600" dirty="0"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localsplus</a:t>
                      </a:r>
                      <a:endParaRPr lang="zh-CN" altLang="en-US" sz="1600" dirty="0"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p:txBody>
                </p:sp>
                <p:sp>
                  <p:nvSpPr>
                    <p:cNvPr id="86" name="文本框 85">
                      <a:extLst>
                        <a:ext uri="{FF2B5EF4-FFF2-40B4-BE49-F238E27FC236}">
                          <a16:creationId xmlns:a16="http://schemas.microsoft.com/office/drawing/2014/main" id="{02E58734-6244-4DF8-A121-0E0588D1C402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3094905" y="1791181"/>
                      <a:ext cx="842779" cy="338554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r>
                        <a:rPr lang="en-US" altLang="zh-CN" sz="1600" dirty="0"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globals</a:t>
                      </a:r>
                      <a:endParaRPr lang="zh-CN" altLang="en-US" sz="1600" dirty="0"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p:txBody>
                </p:sp>
                <p:cxnSp>
                  <p:nvCxnSpPr>
                    <p:cNvPr id="87" name="直接连接符 86">
                      <a:extLst>
                        <a:ext uri="{FF2B5EF4-FFF2-40B4-BE49-F238E27FC236}">
                          <a16:creationId xmlns:a16="http://schemas.microsoft.com/office/drawing/2014/main" id="{9F742614-66A2-450A-B775-9711C944E72C}"/>
                        </a:ext>
                      </a:extLst>
                    </p:cNvPr>
                    <p:cNvCxnSpPr/>
                    <p:nvPr/>
                  </p:nvCxnSpPr>
                  <p:spPr>
                    <a:xfrm>
                      <a:off x="3041643" y="962802"/>
                      <a:ext cx="2555118" cy="0"/>
                    </a:xfrm>
                    <a:prstGeom prst="line">
                      <a:avLst/>
                    </a:prstGeom>
                    <a:ln w="28575">
                      <a:solidFill>
                        <a:schemeClr val="tx1"/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88" name="直接连接符 87">
                      <a:extLst>
                        <a:ext uri="{FF2B5EF4-FFF2-40B4-BE49-F238E27FC236}">
                          <a16:creationId xmlns:a16="http://schemas.microsoft.com/office/drawing/2014/main" id="{DDD3ABED-21BE-4C05-8758-45ED6FDA383C}"/>
                        </a:ext>
                      </a:extLst>
                    </p:cNvPr>
                    <p:cNvCxnSpPr/>
                    <p:nvPr/>
                  </p:nvCxnSpPr>
                  <p:spPr>
                    <a:xfrm>
                      <a:off x="3041643" y="2202324"/>
                      <a:ext cx="2555118" cy="0"/>
                    </a:xfrm>
                    <a:prstGeom prst="line">
                      <a:avLst/>
                    </a:prstGeom>
                    <a:ln w="28575">
                      <a:solidFill>
                        <a:schemeClr val="tx1"/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89" name="直接连接符 88">
                      <a:extLst>
                        <a:ext uri="{FF2B5EF4-FFF2-40B4-BE49-F238E27FC236}">
                          <a16:creationId xmlns:a16="http://schemas.microsoft.com/office/drawing/2014/main" id="{2CF581DA-5553-4302-AF04-BAF77E712532}"/>
                        </a:ext>
                      </a:extLst>
                    </p:cNvPr>
                    <p:cNvCxnSpPr>
                      <a:cxnSpLocks/>
                      <a:endCxn id="80" idx="2"/>
                    </p:cNvCxnSpPr>
                    <p:nvPr/>
                  </p:nvCxnSpPr>
                  <p:spPr>
                    <a:xfrm>
                      <a:off x="4319202" y="962802"/>
                      <a:ext cx="0" cy="2184179"/>
                    </a:xfrm>
                    <a:prstGeom prst="line">
                      <a:avLst/>
                    </a:prstGeom>
                    <a:ln w="28575">
                      <a:solidFill>
                        <a:schemeClr val="tx1"/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</p:grpSp>
            </p:grpSp>
          </p:grpSp>
        </p:grpSp>
        <p:sp>
          <p:nvSpPr>
            <p:cNvPr id="93" name="文本框 92">
              <a:extLst>
                <a:ext uri="{FF2B5EF4-FFF2-40B4-BE49-F238E27FC236}">
                  <a16:creationId xmlns:a16="http://schemas.microsoft.com/office/drawing/2014/main" id="{A3D4CC9C-9C14-4F4A-A6E1-6C291D114D54}"/>
                </a:ext>
              </a:extLst>
            </p:cNvPr>
            <p:cNvSpPr txBox="1"/>
            <p:nvPr/>
          </p:nvSpPr>
          <p:spPr>
            <a:xfrm>
              <a:off x="4396729" y="5642127"/>
              <a:ext cx="744242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sz="1600" dirty="0"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NULL</a:t>
              </a:r>
              <a:endPara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endParaRPr>
            </a:p>
          </p:txBody>
        </p:sp>
      </p:grpSp>
      <p:grpSp>
        <p:nvGrpSpPr>
          <p:cNvPr id="103" name="组合 102">
            <a:extLst>
              <a:ext uri="{FF2B5EF4-FFF2-40B4-BE49-F238E27FC236}">
                <a16:creationId xmlns:a16="http://schemas.microsoft.com/office/drawing/2014/main" id="{854A7A42-8624-40E1-A9CE-6B4B5F3ADD75}"/>
              </a:ext>
            </a:extLst>
          </p:cNvPr>
          <p:cNvGrpSpPr/>
          <p:nvPr/>
        </p:nvGrpSpPr>
        <p:grpSpPr>
          <a:xfrm>
            <a:off x="304278" y="2985954"/>
            <a:ext cx="2555118" cy="1316426"/>
            <a:chOff x="3041643" y="523621"/>
            <a:chExt cx="2555118" cy="1316426"/>
          </a:xfrm>
        </p:grpSpPr>
        <p:cxnSp>
          <p:nvCxnSpPr>
            <p:cNvPr id="104" name="直接连接符 103">
              <a:extLst>
                <a:ext uri="{FF2B5EF4-FFF2-40B4-BE49-F238E27FC236}">
                  <a16:creationId xmlns:a16="http://schemas.microsoft.com/office/drawing/2014/main" id="{1C5956F5-113A-4519-8215-50F1CA46B27B}"/>
                </a:ext>
              </a:extLst>
            </p:cNvPr>
            <p:cNvCxnSpPr/>
            <p:nvPr/>
          </p:nvCxnSpPr>
          <p:spPr>
            <a:xfrm>
              <a:off x="3041643" y="1375158"/>
              <a:ext cx="2555118" cy="0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105" name="组合 104">
              <a:extLst>
                <a:ext uri="{FF2B5EF4-FFF2-40B4-BE49-F238E27FC236}">
                  <a16:creationId xmlns:a16="http://schemas.microsoft.com/office/drawing/2014/main" id="{44A724A3-09ED-41CD-B416-14744A1AA84C}"/>
                </a:ext>
              </a:extLst>
            </p:cNvPr>
            <p:cNvGrpSpPr/>
            <p:nvPr/>
          </p:nvGrpSpPr>
          <p:grpSpPr>
            <a:xfrm>
              <a:off x="3041643" y="523621"/>
              <a:ext cx="2555118" cy="1316426"/>
              <a:chOff x="3041643" y="523621"/>
              <a:chExt cx="2555118" cy="1316426"/>
            </a:xfrm>
          </p:grpSpPr>
          <p:sp>
            <p:nvSpPr>
              <p:cNvPr id="106" name="矩形 105">
                <a:extLst>
                  <a:ext uri="{FF2B5EF4-FFF2-40B4-BE49-F238E27FC236}">
                    <a16:creationId xmlns:a16="http://schemas.microsoft.com/office/drawing/2014/main" id="{B87F6832-7D4E-433C-97C1-A1293EC47D8E}"/>
                  </a:ext>
                </a:extLst>
              </p:cNvPr>
              <p:cNvSpPr/>
              <p:nvPr/>
            </p:nvSpPr>
            <p:spPr>
              <a:xfrm>
                <a:off x="3041643" y="523621"/>
                <a:ext cx="2555118" cy="1316426"/>
              </a:xfrm>
              <a:prstGeom prst="rect">
                <a:avLst/>
              </a:prstGeom>
              <a:no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dirty="0"/>
              </a:p>
            </p:txBody>
          </p:sp>
          <p:sp>
            <p:nvSpPr>
              <p:cNvPr id="107" name="文本框 106">
                <a:extLst>
                  <a:ext uri="{FF2B5EF4-FFF2-40B4-BE49-F238E27FC236}">
                    <a16:creationId xmlns:a16="http://schemas.microsoft.com/office/drawing/2014/main" id="{5DE78379-EE2C-4A73-9C0B-6E8027F0BB20}"/>
                  </a:ext>
                </a:extLst>
              </p:cNvPr>
              <p:cNvSpPr txBox="1"/>
              <p:nvPr/>
            </p:nvSpPr>
            <p:spPr>
              <a:xfrm>
                <a:off x="3100575" y="593470"/>
                <a:ext cx="2313454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altLang="zh-CN" b="1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Function Object </a:t>
                </a:r>
                <a:r>
                  <a:rPr lang="en-US" altLang="zh-CN" b="1" dirty="0">
                    <a:latin typeface="Times New Roman" panose="02020603050405020304" pitchFamily="18" charset="0"/>
                    <a:ea typeface="宋体" panose="02010600030101010101" pitchFamily="2" charset="-122"/>
                    <a:cs typeface="Times New Roman" panose="02020603050405020304" pitchFamily="18" charset="0"/>
                  </a:rPr>
                  <a:t>foo()</a:t>
                </a:r>
                <a:endParaRPr lang="zh-CN" altLang="en-US" b="1" dirty="0"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endParaRPr>
              </a:p>
            </p:txBody>
          </p:sp>
          <p:sp>
            <p:nvSpPr>
              <p:cNvPr id="108" name="文本框 107">
                <a:extLst>
                  <a:ext uri="{FF2B5EF4-FFF2-40B4-BE49-F238E27FC236}">
                    <a16:creationId xmlns:a16="http://schemas.microsoft.com/office/drawing/2014/main" id="{D37A7692-7503-430B-94E0-FBD0E6D45E0B}"/>
                  </a:ext>
                </a:extLst>
              </p:cNvPr>
              <p:cNvSpPr txBox="1"/>
              <p:nvPr/>
            </p:nvSpPr>
            <p:spPr>
              <a:xfrm>
                <a:off x="3100575" y="1007006"/>
                <a:ext cx="877980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sz="1600" dirty="0">
                    <a:latin typeface="Times New Roman" panose="02020603050405020304" pitchFamily="18" charset="0"/>
                    <a:ea typeface="宋体" panose="02010600030101010101" pitchFamily="2" charset="-122"/>
                    <a:cs typeface="Times New Roman" panose="02020603050405020304" pitchFamily="18" charset="0"/>
                  </a:rPr>
                  <a:t>globals</a:t>
                </a:r>
                <a:endParaRPr lang="zh-CN" altLang="en-US" sz="1600" dirty="0"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endParaRPr>
              </a:p>
            </p:txBody>
          </p:sp>
          <p:sp>
            <p:nvSpPr>
              <p:cNvPr id="109" name="文本框 108">
                <a:extLst>
                  <a:ext uri="{FF2B5EF4-FFF2-40B4-BE49-F238E27FC236}">
                    <a16:creationId xmlns:a16="http://schemas.microsoft.com/office/drawing/2014/main" id="{712B0976-054A-49B9-86D8-69DF69C4945D}"/>
                  </a:ext>
                </a:extLst>
              </p:cNvPr>
              <p:cNvSpPr txBox="1"/>
              <p:nvPr/>
            </p:nvSpPr>
            <p:spPr>
              <a:xfrm>
                <a:off x="3100574" y="1441056"/>
                <a:ext cx="2315975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sz="1600" dirty="0">
                    <a:latin typeface="Times New Roman" panose="02020603050405020304" pitchFamily="18" charset="0"/>
                    <a:ea typeface="宋体" panose="02010600030101010101" pitchFamily="2" charset="-122"/>
                    <a:cs typeface="Times New Roman" panose="02020603050405020304" pitchFamily="18" charset="0"/>
                  </a:rPr>
                  <a:t>…                     …</a:t>
                </a:r>
                <a:endParaRPr lang="zh-CN" altLang="en-US" sz="1600" dirty="0"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endParaRPr>
              </a:p>
            </p:txBody>
          </p:sp>
          <p:cxnSp>
            <p:nvCxnSpPr>
              <p:cNvPr id="113" name="直接连接符 112">
                <a:extLst>
                  <a:ext uri="{FF2B5EF4-FFF2-40B4-BE49-F238E27FC236}">
                    <a16:creationId xmlns:a16="http://schemas.microsoft.com/office/drawing/2014/main" id="{7D17C6FC-0702-450F-9DBA-F766DE8915A3}"/>
                  </a:ext>
                </a:extLst>
              </p:cNvPr>
              <p:cNvCxnSpPr/>
              <p:nvPr/>
            </p:nvCxnSpPr>
            <p:spPr>
              <a:xfrm>
                <a:off x="3041643" y="962802"/>
                <a:ext cx="2555118" cy="0"/>
              </a:xfrm>
              <a:prstGeom prst="line">
                <a:avLst/>
              </a:prstGeom>
              <a:ln w="28575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15" name="直接连接符 114">
                <a:extLst>
                  <a:ext uri="{FF2B5EF4-FFF2-40B4-BE49-F238E27FC236}">
                    <a16:creationId xmlns:a16="http://schemas.microsoft.com/office/drawing/2014/main" id="{07D7A068-852E-42F6-A9ED-F5745A28FD98}"/>
                  </a:ext>
                </a:extLst>
              </p:cNvPr>
              <p:cNvCxnSpPr>
                <a:cxnSpLocks/>
                <a:endCxn id="106" idx="2"/>
              </p:cNvCxnSpPr>
              <p:nvPr/>
            </p:nvCxnSpPr>
            <p:spPr>
              <a:xfrm>
                <a:off x="4319202" y="962802"/>
                <a:ext cx="0" cy="877245"/>
              </a:xfrm>
              <a:prstGeom prst="line">
                <a:avLst/>
              </a:prstGeom>
              <a:ln w="28575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grpSp>
        <p:nvGrpSpPr>
          <p:cNvPr id="125" name="组合 124">
            <a:extLst>
              <a:ext uri="{FF2B5EF4-FFF2-40B4-BE49-F238E27FC236}">
                <a16:creationId xmlns:a16="http://schemas.microsoft.com/office/drawing/2014/main" id="{7FAE04FB-B841-419E-96EA-FD8BEB01CF05}"/>
              </a:ext>
            </a:extLst>
          </p:cNvPr>
          <p:cNvGrpSpPr/>
          <p:nvPr/>
        </p:nvGrpSpPr>
        <p:grpSpPr>
          <a:xfrm>
            <a:off x="6626064" y="5502683"/>
            <a:ext cx="1947612" cy="793545"/>
            <a:chOff x="6815388" y="1384056"/>
            <a:chExt cx="1947612" cy="793545"/>
          </a:xfrm>
        </p:grpSpPr>
        <p:grpSp>
          <p:nvGrpSpPr>
            <p:cNvPr id="126" name="组合 125">
              <a:extLst>
                <a:ext uri="{FF2B5EF4-FFF2-40B4-BE49-F238E27FC236}">
                  <a16:creationId xmlns:a16="http://schemas.microsoft.com/office/drawing/2014/main" id="{F15FAD4F-67A3-47DF-B48A-1EF01350AB57}"/>
                </a:ext>
              </a:extLst>
            </p:cNvPr>
            <p:cNvGrpSpPr/>
            <p:nvPr/>
          </p:nvGrpSpPr>
          <p:grpSpPr>
            <a:xfrm>
              <a:off x="6815388" y="1384056"/>
              <a:ext cx="1947612" cy="793544"/>
              <a:chOff x="3041643" y="3511454"/>
              <a:chExt cx="2555118" cy="793544"/>
            </a:xfrm>
          </p:grpSpPr>
          <p:grpSp>
            <p:nvGrpSpPr>
              <p:cNvPr id="131" name="组合 130">
                <a:extLst>
                  <a:ext uri="{FF2B5EF4-FFF2-40B4-BE49-F238E27FC236}">
                    <a16:creationId xmlns:a16="http://schemas.microsoft.com/office/drawing/2014/main" id="{0D49385F-4209-40BD-8B03-5DF6311C9012}"/>
                  </a:ext>
                </a:extLst>
              </p:cNvPr>
              <p:cNvGrpSpPr/>
              <p:nvPr/>
            </p:nvGrpSpPr>
            <p:grpSpPr>
              <a:xfrm>
                <a:off x="3041643" y="3511454"/>
                <a:ext cx="2555118" cy="793544"/>
                <a:chOff x="3041643" y="3511454"/>
                <a:chExt cx="2555118" cy="793544"/>
              </a:xfrm>
            </p:grpSpPr>
            <p:sp>
              <p:nvSpPr>
                <p:cNvPr id="133" name="矩形 132">
                  <a:extLst>
                    <a:ext uri="{FF2B5EF4-FFF2-40B4-BE49-F238E27FC236}">
                      <a16:creationId xmlns:a16="http://schemas.microsoft.com/office/drawing/2014/main" id="{DDAA04C7-9764-4804-B64F-650C3172ABC8}"/>
                    </a:ext>
                  </a:extLst>
                </p:cNvPr>
                <p:cNvSpPr/>
                <p:nvPr/>
              </p:nvSpPr>
              <p:spPr>
                <a:xfrm>
                  <a:off x="3041643" y="3511454"/>
                  <a:ext cx="2555118" cy="793544"/>
                </a:xfrm>
                <a:prstGeom prst="rect">
                  <a:avLst/>
                </a:prstGeom>
                <a:noFill/>
                <a:ln w="28575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dirty="0"/>
                </a:p>
              </p:txBody>
            </p:sp>
            <p:cxnSp>
              <p:nvCxnSpPr>
                <p:cNvPr id="134" name="直接连接符 133">
                  <a:extLst>
                    <a:ext uri="{FF2B5EF4-FFF2-40B4-BE49-F238E27FC236}">
                      <a16:creationId xmlns:a16="http://schemas.microsoft.com/office/drawing/2014/main" id="{7D754FEC-74AF-440E-9F03-10A7CFCA85E0}"/>
                    </a:ext>
                  </a:extLst>
                </p:cNvPr>
                <p:cNvCxnSpPr/>
                <p:nvPr/>
              </p:nvCxnSpPr>
              <p:spPr>
                <a:xfrm>
                  <a:off x="3041643" y="3914818"/>
                  <a:ext cx="2555118" cy="0"/>
                </a:xfrm>
                <a:prstGeom prst="line">
                  <a:avLst/>
                </a:prstGeom>
                <a:ln w="28575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135" name="文本框 134">
                  <a:extLst>
                    <a:ext uri="{FF2B5EF4-FFF2-40B4-BE49-F238E27FC236}">
                      <a16:creationId xmlns:a16="http://schemas.microsoft.com/office/drawing/2014/main" id="{D5597B6F-282E-4C9E-9D36-A93A905B2FCF}"/>
                    </a:ext>
                  </a:extLst>
                </p:cNvPr>
                <p:cNvSpPr txBox="1"/>
                <p:nvPr/>
              </p:nvSpPr>
              <p:spPr>
                <a:xfrm>
                  <a:off x="3100575" y="3514595"/>
                  <a:ext cx="1842746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zh-CN" altLang="en-US" b="1" dirty="0">
                      <a:latin typeface="Times New Roman" panose="02020603050405020304" pitchFamily="18" charset="0"/>
                      <a:ea typeface="宋体" panose="02010600030101010101" pitchFamily="2" charset="-122"/>
                      <a:cs typeface="Times New Roman" panose="02020603050405020304" pitchFamily="18" charset="0"/>
                    </a:rPr>
                    <a:t>槽位数组</a:t>
                  </a:r>
                  <a:endParaRPr lang="zh-CN" altLang="en-US" b="1" dirty="0">
                    <a:latin typeface="宋体" panose="02010600030101010101" pitchFamily="2" charset="-122"/>
                    <a:ea typeface="宋体" panose="02010600030101010101" pitchFamily="2" charset="-122"/>
                    <a:cs typeface="Times New Roman" panose="02020603050405020304" pitchFamily="18" charset="0"/>
                  </a:endParaRPr>
                </a:p>
              </p:txBody>
            </p:sp>
          </p:grpSp>
          <p:cxnSp>
            <p:nvCxnSpPr>
              <p:cNvPr id="132" name="直接连接符 131">
                <a:extLst>
                  <a:ext uri="{FF2B5EF4-FFF2-40B4-BE49-F238E27FC236}">
                    <a16:creationId xmlns:a16="http://schemas.microsoft.com/office/drawing/2014/main" id="{75726A22-1540-406F-B9F9-BADE197277BF}"/>
                  </a:ext>
                </a:extLst>
              </p:cNvPr>
              <p:cNvCxnSpPr>
                <a:cxnSpLocks/>
                <a:endCxn id="133" idx="2"/>
              </p:cNvCxnSpPr>
              <p:nvPr/>
            </p:nvCxnSpPr>
            <p:spPr>
              <a:xfrm>
                <a:off x="4319202" y="3914818"/>
                <a:ext cx="0" cy="390180"/>
              </a:xfrm>
              <a:prstGeom prst="line">
                <a:avLst/>
              </a:prstGeom>
              <a:ln w="28575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127" name="文本框 126">
              <a:extLst>
                <a:ext uri="{FF2B5EF4-FFF2-40B4-BE49-F238E27FC236}">
                  <a16:creationId xmlns:a16="http://schemas.microsoft.com/office/drawing/2014/main" id="{C9AF48F8-325D-49D0-8357-4758BA8021C0}"/>
                </a:ext>
              </a:extLst>
            </p:cNvPr>
            <p:cNvSpPr txBox="1"/>
            <p:nvPr/>
          </p:nvSpPr>
          <p:spPr>
            <a:xfrm>
              <a:off x="7093105" y="1839047"/>
              <a:ext cx="355442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sz="1600" dirty="0"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3</a:t>
              </a:r>
              <a:endPara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endParaRPr>
            </a:p>
          </p:txBody>
        </p:sp>
        <p:sp>
          <p:nvSpPr>
            <p:cNvPr id="129" name="文本框 128">
              <a:extLst>
                <a:ext uri="{FF2B5EF4-FFF2-40B4-BE49-F238E27FC236}">
                  <a16:creationId xmlns:a16="http://schemas.microsoft.com/office/drawing/2014/main" id="{B6FCA575-03A6-4737-A373-96F8A0FA23CD}"/>
                </a:ext>
              </a:extLst>
            </p:cNvPr>
            <p:cNvSpPr txBox="1"/>
            <p:nvPr/>
          </p:nvSpPr>
          <p:spPr>
            <a:xfrm>
              <a:off x="8066911" y="1839047"/>
              <a:ext cx="355442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sz="1600" dirty="0"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4</a:t>
              </a:r>
              <a:endPara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endParaRPr>
            </a:p>
          </p:txBody>
        </p:sp>
      </p:grpSp>
      <p:cxnSp>
        <p:nvCxnSpPr>
          <p:cNvPr id="138" name="直接箭头连接符 137">
            <a:extLst>
              <a:ext uri="{FF2B5EF4-FFF2-40B4-BE49-F238E27FC236}">
                <a16:creationId xmlns:a16="http://schemas.microsoft.com/office/drawing/2014/main" id="{DEBECBF2-15B6-4B84-9A82-E61B1504CAD6}"/>
              </a:ext>
            </a:extLst>
          </p:cNvPr>
          <p:cNvCxnSpPr>
            <a:cxnSpLocks/>
          </p:cNvCxnSpPr>
          <p:nvPr/>
        </p:nvCxnSpPr>
        <p:spPr>
          <a:xfrm>
            <a:off x="5185336" y="5776453"/>
            <a:ext cx="1443458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45" name="组合 144">
            <a:extLst>
              <a:ext uri="{FF2B5EF4-FFF2-40B4-BE49-F238E27FC236}">
                <a16:creationId xmlns:a16="http://schemas.microsoft.com/office/drawing/2014/main" id="{F01F6A8E-28CB-4A81-8FC7-8D5B64BF9312}"/>
              </a:ext>
            </a:extLst>
          </p:cNvPr>
          <p:cNvGrpSpPr/>
          <p:nvPr/>
        </p:nvGrpSpPr>
        <p:grpSpPr>
          <a:xfrm>
            <a:off x="6224068" y="931012"/>
            <a:ext cx="1961473" cy="1739143"/>
            <a:chOff x="7897078" y="337041"/>
            <a:chExt cx="1961473" cy="1739143"/>
          </a:xfrm>
        </p:grpSpPr>
        <p:grpSp>
          <p:nvGrpSpPr>
            <p:cNvPr id="35" name="组合 34">
              <a:extLst>
                <a:ext uri="{FF2B5EF4-FFF2-40B4-BE49-F238E27FC236}">
                  <a16:creationId xmlns:a16="http://schemas.microsoft.com/office/drawing/2014/main" id="{A828DA49-003C-4FA2-A5BC-93759A6E853E}"/>
                </a:ext>
              </a:extLst>
            </p:cNvPr>
            <p:cNvGrpSpPr/>
            <p:nvPr/>
          </p:nvGrpSpPr>
          <p:grpSpPr>
            <a:xfrm>
              <a:off x="7897078" y="337041"/>
              <a:ext cx="1947612" cy="1739143"/>
              <a:chOff x="6815388" y="1384055"/>
              <a:chExt cx="1947612" cy="1739143"/>
            </a:xfrm>
          </p:grpSpPr>
          <p:grpSp>
            <p:nvGrpSpPr>
              <p:cNvPr id="29" name="组合 28">
                <a:extLst>
                  <a:ext uri="{FF2B5EF4-FFF2-40B4-BE49-F238E27FC236}">
                    <a16:creationId xmlns:a16="http://schemas.microsoft.com/office/drawing/2014/main" id="{C5D6578F-EEC9-4AEE-8100-2807F5C3ADCB}"/>
                  </a:ext>
                </a:extLst>
              </p:cNvPr>
              <p:cNvGrpSpPr/>
              <p:nvPr/>
            </p:nvGrpSpPr>
            <p:grpSpPr>
              <a:xfrm>
                <a:off x="6815388" y="1384055"/>
                <a:ext cx="1947612" cy="1739143"/>
                <a:chOff x="3041643" y="3511453"/>
                <a:chExt cx="2555118" cy="1739143"/>
              </a:xfrm>
            </p:grpSpPr>
            <p:grpSp>
              <p:nvGrpSpPr>
                <p:cNvPr id="25" name="组合 24">
                  <a:extLst>
                    <a:ext uri="{FF2B5EF4-FFF2-40B4-BE49-F238E27FC236}">
                      <a16:creationId xmlns:a16="http://schemas.microsoft.com/office/drawing/2014/main" id="{14C85539-D9C2-4A8A-975E-8522F019A0D1}"/>
                    </a:ext>
                  </a:extLst>
                </p:cNvPr>
                <p:cNvGrpSpPr/>
                <p:nvPr/>
              </p:nvGrpSpPr>
              <p:grpSpPr>
                <a:xfrm>
                  <a:off x="3041643" y="3511453"/>
                  <a:ext cx="2555118" cy="1739143"/>
                  <a:chOff x="3041643" y="3511453"/>
                  <a:chExt cx="2555118" cy="1739143"/>
                </a:xfrm>
              </p:grpSpPr>
              <p:sp>
                <p:nvSpPr>
                  <p:cNvPr id="12" name="矩形 11">
                    <a:extLst>
                      <a:ext uri="{FF2B5EF4-FFF2-40B4-BE49-F238E27FC236}">
                        <a16:creationId xmlns:a16="http://schemas.microsoft.com/office/drawing/2014/main" id="{E44B7E2A-18EC-4E59-B5C1-F854418C51CF}"/>
                      </a:ext>
                    </a:extLst>
                  </p:cNvPr>
                  <p:cNvSpPr/>
                  <p:nvPr/>
                </p:nvSpPr>
                <p:spPr>
                  <a:xfrm>
                    <a:off x="3041643" y="3511453"/>
                    <a:ext cx="2555118" cy="1739143"/>
                  </a:xfrm>
                  <a:prstGeom prst="rect">
                    <a:avLst/>
                  </a:prstGeom>
                  <a:noFill/>
                  <a:ln w="28575"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 dirty="0"/>
                  </a:p>
                </p:txBody>
              </p:sp>
              <p:cxnSp>
                <p:nvCxnSpPr>
                  <p:cNvPr id="22" name="直接连接符 21">
                    <a:extLst>
                      <a:ext uri="{FF2B5EF4-FFF2-40B4-BE49-F238E27FC236}">
                        <a16:creationId xmlns:a16="http://schemas.microsoft.com/office/drawing/2014/main" id="{A30732F3-BCFE-4857-B343-4AB385DD0FC4}"/>
                      </a:ext>
                    </a:extLst>
                  </p:cNvPr>
                  <p:cNvCxnSpPr/>
                  <p:nvPr/>
                </p:nvCxnSpPr>
                <p:spPr>
                  <a:xfrm>
                    <a:off x="3041643" y="3914818"/>
                    <a:ext cx="2555118" cy="0"/>
                  </a:xfrm>
                  <a:prstGeom prst="line">
                    <a:avLst/>
                  </a:prstGeom>
                  <a:ln w="28575">
                    <a:solidFill>
                      <a:schemeClr val="tx1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sp>
                <p:nvSpPr>
                  <p:cNvPr id="23" name="文本框 22">
                    <a:extLst>
                      <a:ext uri="{FF2B5EF4-FFF2-40B4-BE49-F238E27FC236}">
                        <a16:creationId xmlns:a16="http://schemas.microsoft.com/office/drawing/2014/main" id="{8EE5621F-EED5-4F85-BF0F-AF928738D58E}"/>
                      </a:ext>
                    </a:extLst>
                  </p:cNvPr>
                  <p:cNvSpPr txBox="1"/>
                  <p:nvPr/>
                </p:nvSpPr>
                <p:spPr>
                  <a:xfrm>
                    <a:off x="3100575" y="3514595"/>
                    <a:ext cx="1611125" cy="369332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r>
                      <a:rPr lang="zh-CN" altLang="en-US" b="1" dirty="0"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rPr>
                      <a:t>字典</a:t>
                    </a:r>
                    <a:endParaRPr lang="zh-CN" altLang="en-US" b="1" dirty="0">
                      <a:latin typeface="宋体" panose="02010600030101010101" pitchFamily="2" charset="-122"/>
                      <a:ea typeface="宋体" panose="02010600030101010101" pitchFamily="2" charset="-122"/>
                      <a:cs typeface="Times New Roman" panose="02020603050405020304" pitchFamily="18" charset="0"/>
                    </a:endParaRPr>
                  </a:p>
                </p:txBody>
              </p:sp>
              <p:cxnSp>
                <p:nvCxnSpPr>
                  <p:cNvPr id="24" name="直接连接符 23">
                    <a:extLst>
                      <a:ext uri="{FF2B5EF4-FFF2-40B4-BE49-F238E27FC236}">
                        <a16:creationId xmlns:a16="http://schemas.microsoft.com/office/drawing/2014/main" id="{110C0035-146A-48DE-80B0-44052C5609A7}"/>
                      </a:ext>
                    </a:extLst>
                  </p:cNvPr>
                  <p:cNvCxnSpPr/>
                  <p:nvPr/>
                </p:nvCxnSpPr>
                <p:spPr>
                  <a:xfrm>
                    <a:off x="3041643" y="4327908"/>
                    <a:ext cx="2555118" cy="0"/>
                  </a:xfrm>
                  <a:prstGeom prst="line">
                    <a:avLst/>
                  </a:prstGeom>
                  <a:ln w="28575">
                    <a:solidFill>
                      <a:schemeClr val="tx1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cxnSp>
              <p:nvCxnSpPr>
                <p:cNvPr id="26" name="直接连接符 25">
                  <a:extLst>
                    <a:ext uri="{FF2B5EF4-FFF2-40B4-BE49-F238E27FC236}">
                      <a16:creationId xmlns:a16="http://schemas.microsoft.com/office/drawing/2014/main" id="{3F59A69B-8752-4FC5-BAAC-D9BB4EA6DEA7}"/>
                    </a:ext>
                  </a:extLst>
                </p:cNvPr>
                <p:cNvCxnSpPr>
                  <a:cxnSpLocks/>
                  <a:endCxn id="12" idx="2"/>
                </p:cNvCxnSpPr>
                <p:nvPr/>
              </p:nvCxnSpPr>
              <p:spPr>
                <a:xfrm>
                  <a:off x="4319202" y="3914818"/>
                  <a:ext cx="0" cy="1335778"/>
                </a:xfrm>
                <a:prstGeom prst="line">
                  <a:avLst/>
                </a:prstGeom>
                <a:ln w="28575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sp>
            <p:nvSpPr>
              <p:cNvPr id="30" name="文本框 29">
                <a:extLst>
                  <a:ext uri="{FF2B5EF4-FFF2-40B4-BE49-F238E27FC236}">
                    <a16:creationId xmlns:a16="http://schemas.microsoft.com/office/drawing/2014/main" id="{9CD6330F-03AC-429D-80A6-DD35B372C149}"/>
                  </a:ext>
                </a:extLst>
              </p:cNvPr>
              <p:cNvSpPr txBox="1"/>
              <p:nvPr/>
            </p:nvSpPr>
            <p:spPr>
              <a:xfrm>
                <a:off x="7093104" y="1839047"/>
                <a:ext cx="495303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sz="1600" dirty="0">
                    <a:latin typeface="Times New Roman" panose="02020603050405020304" pitchFamily="18" charset="0"/>
                    <a:ea typeface="宋体" panose="02010600030101010101" pitchFamily="2" charset="-122"/>
                    <a:cs typeface="Times New Roman" panose="02020603050405020304" pitchFamily="18" charset="0"/>
                  </a:rPr>
                  <a:t>“x”</a:t>
                </a:r>
                <a:endParaRPr lang="zh-CN" altLang="en-US" sz="1600" dirty="0"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endParaRPr>
              </a:p>
            </p:txBody>
          </p:sp>
          <p:sp>
            <p:nvSpPr>
              <p:cNvPr id="31" name="文本框 30">
                <a:extLst>
                  <a:ext uri="{FF2B5EF4-FFF2-40B4-BE49-F238E27FC236}">
                    <a16:creationId xmlns:a16="http://schemas.microsoft.com/office/drawing/2014/main" id="{7EB23124-69AD-4C04-9462-0E39A1D4FE5B}"/>
                  </a:ext>
                </a:extLst>
              </p:cNvPr>
              <p:cNvSpPr txBox="1"/>
              <p:nvPr/>
            </p:nvSpPr>
            <p:spPr>
              <a:xfrm>
                <a:off x="6964933" y="2242130"/>
                <a:ext cx="546545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zh-CN" altLang="en-US" sz="1600" dirty="0">
                    <a:latin typeface="Times New Roman" panose="02020603050405020304" pitchFamily="18" charset="0"/>
                    <a:ea typeface="宋体" panose="02010600030101010101" pitchFamily="2" charset="-122"/>
                    <a:cs typeface="Times New Roman" panose="02020603050405020304" pitchFamily="18" charset="0"/>
                  </a:rPr>
                  <a:t>“</a:t>
                </a:r>
                <a:r>
                  <a:rPr lang="en-US" altLang="zh-CN" sz="1600" dirty="0">
                    <a:latin typeface="Times New Roman" panose="02020603050405020304" pitchFamily="18" charset="0"/>
                    <a:ea typeface="宋体" panose="02010600030101010101" pitchFamily="2" charset="-122"/>
                    <a:cs typeface="Times New Roman" panose="02020603050405020304" pitchFamily="18" charset="0"/>
                  </a:rPr>
                  <a:t>y</a:t>
                </a:r>
                <a:r>
                  <a:rPr lang="zh-CN" altLang="en-US" sz="1600" dirty="0">
                    <a:latin typeface="Times New Roman" panose="02020603050405020304" pitchFamily="18" charset="0"/>
                    <a:ea typeface="宋体" panose="02010600030101010101" pitchFamily="2" charset="-122"/>
                    <a:cs typeface="Times New Roman" panose="02020603050405020304" pitchFamily="18" charset="0"/>
                  </a:rPr>
                  <a:t>”</a:t>
                </a:r>
                <a:endParaRPr lang="en-US" altLang="zh-CN" sz="1600" dirty="0"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endParaRPr>
              </a:p>
            </p:txBody>
          </p:sp>
          <p:sp>
            <p:nvSpPr>
              <p:cNvPr id="33" name="文本框 32">
                <a:extLst>
                  <a:ext uri="{FF2B5EF4-FFF2-40B4-BE49-F238E27FC236}">
                    <a16:creationId xmlns:a16="http://schemas.microsoft.com/office/drawing/2014/main" id="{0C2AB5B3-F2EF-4DED-85E4-CE974A3BCD72}"/>
                  </a:ext>
                </a:extLst>
              </p:cNvPr>
              <p:cNvSpPr txBox="1"/>
              <p:nvPr/>
            </p:nvSpPr>
            <p:spPr>
              <a:xfrm>
                <a:off x="8066911" y="1839047"/>
                <a:ext cx="355442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sz="1600" dirty="0">
                    <a:latin typeface="Times New Roman" panose="02020603050405020304" pitchFamily="18" charset="0"/>
                    <a:ea typeface="宋体" panose="02010600030101010101" pitchFamily="2" charset="-122"/>
                    <a:cs typeface="Times New Roman" panose="02020603050405020304" pitchFamily="18" charset="0"/>
                  </a:rPr>
                  <a:t>1</a:t>
                </a:r>
                <a:endParaRPr lang="zh-CN" altLang="en-US" sz="1600" dirty="0"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endParaRPr>
              </a:p>
            </p:txBody>
          </p:sp>
          <p:sp>
            <p:nvSpPr>
              <p:cNvPr id="34" name="文本框 33">
                <a:extLst>
                  <a:ext uri="{FF2B5EF4-FFF2-40B4-BE49-F238E27FC236}">
                    <a16:creationId xmlns:a16="http://schemas.microsoft.com/office/drawing/2014/main" id="{72421F3D-C985-419B-AC9D-4D8A9DB443CF}"/>
                  </a:ext>
                </a:extLst>
              </p:cNvPr>
              <p:cNvSpPr txBox="1"/>
              <p:nvPr/>
            </p:nvSpPr>
            <p:spPr>
              <a:xfrm>
                <a:off x="8066911" y="2247274"/>
                <a:ext cx="355442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sz="1600" dirty="0">
                    <a:latin typeface="Times New Roman" panose="02020603050405020304" pitchFamily="18" charset="0"/>
                    <a:ea typeface="宋体" panose="02010600030101010101" pitchFamily="2" charset="-122"/>
                    <a:cs typeface="Times New Roman" panose="02020603050405020304" pitchFamily="18" charset="0"/>
                  </a:rPr>
                  <a:t>2</a:t>
                </a:r>
                <a:endParaRPr lang="zh-CN" altLang="en-US" sz="1600" dirty="0"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endParaRPr>
              </a:p>
            </p:txBody>
          </p:sp>
        </p:grpSp>
        <p:cxnSp>
          <p:nvCxnSpPr>
            <p:cNvPr id="143" name="直接连接符 142">
              <a:extLst>
                <a:ext uri="{FF2B5EF4-FFF2-40B4-BE49-F238E27FC236}">
                  <a16:creationId xmlns:a16="http://schemas.microsoft.com/office/drawing/2014/main" id="{98A6AA05-0190-48A8-B156-0A36F4B15C01}"/>
                </a:ext>
              </a:extLst>
            </p:cNvPr>
            <p:cNvCxnSpPr/>
            <p:nvPr/>
          </p:nvCxnSpPr>
          <p:spPr>
            <a:xfrm>
              <a:off x="7910939" y="1585296"/>
              <a:ext cx="1947612" cy="0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44" name="文本框 143">
              <a:extLst>
                <a:ext uri="{FF2B5EF4-FFF2-40B4-BE49-F238E27FC236}">
                  <a16:creationId xmlns:a16="http://schemas.microsoft.com/office/drawing/2014/main" id="{420D5FE8-01D0-4FC1-98FA-93980479F62F}"/>
                </a:ext>
              </a:extLst>
            </p:cNvPr>
            <p:cNvSpPr txBox="1"/>
            <p:nvPr/>
          </p:nvSpPr>
          <p:spPr>
            <a:xfrm>
              <a:off x="7956316" y="1650107"/>
              <a:ext cx="690977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zh-CN" altLang="en-US" sz="1600" dirty="0"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“</a:t>
              </a:r>
              <a:r>
                <a:rPr lang="en-US" altLang="zh-CN" sz="1600" dirty="0"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foo</a:t>
              </a:r>
              <a:r>
                <a:rPr lang="zh-CN" altLang="en-US" sz="1600" dirty="0"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”</a:t>
              </a:r>
              <a:endPara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endParaRPr>
            </a:p>
          </p:txBody>
        </p:sp>
      </p:grpSp>
      <p:sp>
        <p:nvSpPr>
          <p:cNvPr id="183" name="文本框 182">
            <a:extLst>
              <a:ext uri="{FF2B5EF4-FFF2-40B4-BE49-F238E27FC236}">
                <a16:creationId xmlns:a16="http://schemas.microsoft.com/office/drawing/2014/main" id="{5565A5BB-1AA1-47E7-9B98-3817AADEDB6B}"/>
              </a:ext>
            </a:extLst>
          </p:cNvPr>
          <p:cNvSpPr txBox="1"/>
          <p:nvPr/>
        </p:nvSpPr>
        <p:spPr>
          <a:xfrm>
            <a:off x="3173686" y="3210978"/>
            <a:ext cx="2577950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1600" b="1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① 顶层代码中创建</a:t>
            </a:r>
            <a:r>
              <a:rPr lang="en-US" altLang="zh-CN" sz="1600" b="1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foo</a:t>
            </a:r>
            <a:r>
              <a:rPr lang="zh-CN" altLang="en-US" sz="1600" b="1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对象</a:t>
            </a:r>
          </a:p>
        </p:txBody>
      </p:sp>
      <p:sp>
        <p:nvSpPr>
          <p:cNvPr id="184" name="文本框 183">
            <a:extLst>
              <a:ext uri="{FF2B5EF4-FFF2-40B4-BE49-F238E27FC236}">
                <a16:creationId xmlns:a16="http://schemas.microsoft.com/office/drawing/2014/main" id="{95EB277B-346F-4B53-ABB8-DD9EE88E8876}"/>
              </a:ext>
            </a:extLst>
          </p:cNvPr>
          <p:cNvSpPr txBox="1"/>
          <p:nvPr/>
        </p:nvSpPr>
        <p:spPr>
          <a:xfrm>
            <a:off x="234869" y="4367252"/>
            <a:ext cx="2665223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sz="1600" b="1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② </a:t>
            </a:r>
            <a:r>
              <a:rPr lang="en-US" altLang="zh-CN" sz="1600" b="1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foo</a:t>
            </a:r>
            <a:r>
              <a:rPr lang="zh-CN" altLang="en-US" sz="1600" b="1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对象创建时</a:t>
            </a:r>
            <a:endParaRPr lang="en-US" altLang="zh-CN" sz="1600" b="1" dirty="0"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  <a:p>
            <a:pPr algn="ctr"/>
            <a:r>
              <a:rPr lang="zh-CN" altLang="en-US" sz="1600" b="1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绑定当前栈帧的全局环境</a:t>
            </a:r>
          </a:p>
        </p:txBody>
      </p:sp>
      <p:sp>
        <p:nvSpPr>
          <p:cNvPr id="185" name="文本框 184">
            <a:extLst>
              <a:ext uri="{FF2B5EF4-FFF2-40B4-BE49-F238E27FC236}">
                <a16:creationId xmlns:a16="http://schemas.microsoft.com/office/drawing/2014/main" id="{27B148D2-8277-409C-8A31-AAFE1CD2DC26}"/>
              </a:ext>
            </a:extLst>
          </p:cNvPr>
          <p:cNvSpPr txBox="1"/>
          <p:nvPr/>
        </p:nvSpPr>
        <p:spPr>
          <a:xfrm>
            <a:off x="1902333" y="6504065"/>
            <a:ext cx="6502101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1600" b="1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③ 调用</a:t>
            </a:r>
            <a:r>
              <a:rPr lang="en-US" altLang="zh-CN" sz="1600" b="1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foo</a:t>
            </a:r>
            <a:r>
              <a:rPr lang="zh-CN" altLang="en-US" sz="1600" b="1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，栈帧中采用该全局环境，并使用槽位数组保存局部变量</a:t>
            </a:r>
          </a:p>
        </p:txBody>
      </p:sp>
      <p:grpSp>
        <p:nvGrpSpPr>
          <p:cNvPr id="13" name="组合 12">
            <a:extLst>
              <a:ext uri="{FF2B5EF4-FFF2-40B4-BE49-F238E27FC236}">
                <a16:creationId xmlns:a16="http://schemas.microsoft.com/office/drawing/2014/main" id="{8B38EF29-19DF-45E9-9992-73E6E410E6E5}"/>
              </a:ext>
            </a:extLst>
          </p:cNvPr>
          <p:cNvGrpSpPr/>
          <p:nvPr/>
        </p:nvGrpSpPr>
        <p:grpSpPr>
          <a:xfrm>
            <a:off x="5106185" y="1932729"/>
            <a:ext cx="1103136" cy="136566"/>
            <a:chOff x="5106185" y="1932729"/>
            <a:chExt cx="1103136" cy="136566"/>
          </a:xfrm>
        </p:grpSpPr>
        <p:cxnSp>
          <p:nvCxnSpPr>
            <p:cNvPr id="181" name="直接箭头连接符 180">
              <a:extLst>
                <a:ext uri="{FF2B5EF4-FFF2-40B4-BE49-F238E27FC236}">
                  <a16:creationId xmlns:a16="http://schemas.microsoft.com/office/drawing/2014/main" id="{F5A0C349-4ECB-46F2-9628-196DC585EB46}"/>
                </a:ext>
              </a:extLst>
            </p:cNvPr>
            <p:cNvCxnSpPr>
              <a:cxnSpLocks/>
            </p:cNvCxnSpPr>
            <p:nvPr/>
          </p:nvCxnSpPr>
          <p:spPr>
            <a:xfrm>
              <a:off x="5149755" y="2001680"/>
              <a:ext cx="1059566" cy="7467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" name="椭圆 2">
              <a:extLst>
                <a:ext uri="{FF2B5EF4-FFF2-40B4-BE49-F238E27FC236}">
                  <a16:creationId xmlns:a16="http://schemas.microsoft.com/office/drawing/2014/main" id="{4E030E14-C77B-46F2-A9B2-D342D20EF03A}"/>
                </a:ext>
              </a:extLst>
            </p:cNvPr>
            <p:cNvSpPr/>
            <p:nvPr/>
          </p:nvSpPr>
          <p:spPr>
            <a:xfrm>
              <a:off x="5106185" y="1932729"/>
              <a:ext cx="136566" cy="136566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</p:grpSp>
      <p:grpSp>
        <p:nvGrpSpPr>
          <p:cNvPr id="42" name="组合 41">
            <a:extLst>
              <a:ext uri="{FF2B5EF4-FFF2-40B4-BE49-F238E27FC236}">
                <a16:creationId xmlns:a16="http://schemas.microsoft.com/office/drawing/2014/main" id="{FC9E1A2B-CA97-4BB0-96DE-53340D99291D}"/>
              </a:ext>
            </a:extLst>
          </p:cNvPr>
          <p:cNvGrpSpPr/>
          <p:nvPr/>
        </p:nvGrpSpPr>
        <p:grpSpPr>
          <a:xfrm>
            <a:off x="5106217" y="2653132"/>
            <a:ext cx="1830916" cy="407590"/>
            <a:chOff x="5106217" y="2653132"/>
            <a:chExt cx="1830916" cy="407590"/>
          </a:xfrm>
        </p:grpSpPr>
        <p:cxnSp>
          <p:nvCxnSpPr>
            <p:cNvPr id="147" name="连接符: 肘形 146">
              <a:extLst>
                <a:ext uri="{FF2B5EF4-FFF2-40B4-BE49-F238E27FC236}">
                  <a16:creationId xmlns:a16="http://schemas.microsoft.com/office/drawing/2014/main" id="{94EA9A6C-FC8E-4D85-AAEE-A8B5ECB70626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5206301" y="2653132"/>
              <a:ext cx="1730832" cy="332822"/>
            </a:xfrm>
            <a:prstGeom prst="bentConnector3">
              <a:avLst>
                <a:gd name="adj1" fmla="val 100079"/>
              </a:avLst>
            </a:prstGeom>
            <a:ln w="285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95" name="椭圆 94">
              <a:extLst>
                <a:ext uri="{FF2B5EF4-FFF2-40B4-BE49-F238E27FC236}">
                  <a16:creationId xmlns:a16="http://schemas.microsoft.com/office/drawing/2014/main" id="{0678F5DA-9CA9-44CE-AC5E-179035A5A99D}"/>
                </a:ext>
              </a:extLst>
            </p:cNvPr>
            <p:cNvSpPr/>
            <p:nvPr/>
          </p:nvSpPr>
          <p:spPr>
            <a:xfrm>
              <a:off x="5106217" y="2924156"/>
              <a:ext cx="136566" cy="136566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</p:grpSp>
      <p:grpSp>
        <p:nvGrpSpPr>
          <p:cNvPr id="41" name="组合 40">
            <a:extLst>
              <a:ext uri="{FF2B5EF4-FFF2-40B4-BE49-F238E27FC236}">
                <a16:creationId xmlns:a16="http://schemas.microsoft.com/office/drawing/2014/main" id="{22754FBB-A294-4B1E-AA34-B48FE1D5315D}"/>
              </a:ext>
            </a:extLst>
          </p:cNvPr>
          <p:cNvGrpSpPr/>
          <p:nvPr/>
        </p:nvGrpSpPr>
        <p:grpSpPr>
          <a:xfrm>
            <a:off x="2152334" y="2670155"/>
            <a:ext cx="5045540" cy="1076701"/>
            <a:chOff x="2152334" y="2670155"/>
            <a:chExt cx="5045540" cy="1076701"/>
          </a:xfrm>
        </p:grpSpPr>
        <p:cxnSp>
          <p:nvCxnSpPr>
            <p:cNvPr id="117" name="连接符: 肘形 116">
              <a:extLst>
                <a:ext uri="{FF2B5EF4-FFF2-40B4-BE49-F238E27FC236}">
                  <a16:creationId xmlns:a16="http://schemas.microsoft.com/office/drawing/2014/main" id="{31748DCF-3B13-4366-9E26-56E8A75CBD6A}"/>
                </a:ext>
              </a:extLst>
            </p:cNvPr>
            <p:cNvCxnSpPr>
              <a:cxnSpLocks/>
              <a:endCxn id="12" idx="2"/>
            </p:cNvCxnSpPr>
            <p:nvPr/>
          </p:nvCxnSpPr>
          <p:spPr>
            <a:xfrm flipV="1">
              <a:off x="2240437" y="2670155"/>
              <a:ext cx="4957437" cy="1003128"/>
            </a:xfrm>
            <a:prstGeom prst="bentConnector2">
              <a:avLst/>
            </a:prstGeom>
            <a:ln w="285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96" name="椭圆 95">
              <a:extLst>
                <a:ext uri="{FF2B5EF4-FFF2-40B4-BE49-F238E27FC236}">
                  <a16:creationId xmlns:a16="http://schemas.microsoft.com/office/drawing/2014/main" id="{9500991A-B2B5-4A3E-B71B-B7BBA461B621}"/>
                </a:ext>
              </a:extLst>
            </p:cNvPr>
            <p:cNvSpPr/>
            <p:nvPr/>
          </p:nvSpPr>
          <p:spPr>
            <a:xfrm>
              <a:off x="2152334" y="3610290"/>
              <a:ext cx="136566" cy="136566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</p:grpSp>
      <p:grpSp>
        <p:nvGrpSpPr>
          <p:cNvPr id="40" name="组合 39">
            <a:extLst>
              <a:ext uri="{FF2B5EF4-FFF2-40B4-BE49-F238E27FC236}">
                <a16:creationId xmlns:a16="http://schemas.microsoft.com/office/drawing/2014/main" id="{C10FCB00-E024-4873-97DA-307C8459DF6A}"/>
              </a:ext>
            </a:extLst>
          </p:cNvPr>
          <p:cNvGrpSpPr/>
          <p:nvPr/>
        </p:nvGrpSpPr>
        <p:grpSpPr>
          <a:xfrm>
            <a:off x="2268005" y="226016"/>
            <a:ext cx="6220796" cy="2757705"/>
            <a:chOff x="2268005" y="226016"/>
            <a:chExt cx="6220796" cy="2757705"/>
          </a:xfrm>
        </p:grpSpPr>
        <p:cxnSp>
          <p:nvCxnSpPr>
            <p:cNvPr id="160" name="连接符: 肘形 159">
              <a:extLst>
                <a:ext uri="{FF2B5EF4-FFF2-40B4-BE49-F238E27FC236}">
                  <a16:creationId xmlns:a16="http://schemas.microsoft.com/office/drawing/2014/main" id="{54F86B02-B007-4E06-B70C-81CB96B86269}"/>
                </a:ext>
              </a:extLst>
            </p:cNvPr>
            <p:cNvCxnSpPr>
              <a:cxnSpLocks/>
            </p:cNvCxnSpPr>
            <p:nvPr/>
          </p:nvCxnSpPr>
          <p:spPr>
            <a:xfrm rot="10800000" flipV="1">
              <a:off x="2268005" y="236588"/>
              <a:ext cx="6220795" cy="2747133"/>
            </a:xfrm>
            <a:prstGeom prst="bentConnector3">
              <a:avLst>
                <a:gd name="adj1" fmla="val 100018"/>
              </a:avLst>
            </a:prstGeom>
            <a:ln w="285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39" name="组合 38">
              <a:extLst>
                <a:ext uri="{FF2B5EF4-FFF2-40B4-BE49-F238E27FC236}">
                  <a16:creationId xmlns:a16="http://schemas.microsoft.com/office/drawing/2014/main" id="{67270E1C-5556-450F-AEEE-1CBB4F6E6F7E}"/>
                </a:ext>
              </a:extLst>
            </p:cNvPr>
            <p:cNvGrpSpPr/>
            <p:nvPr/>
          </p:nvGrpSpPr>
          <p:grpSpPr>
            <a:xfrm>
              <a:off x="7621208" y="226016"/>
              <a:ext cx="867593" cy="2224990"/>
              <a:chOff x="7621208" y="226016"/>
              <a:chExt cx="867593" cy="2224990"/>
            </a:xfrm>
          </p:grpSpPr>
          <p:cxnSp>
            <p:nvCxnSpPr>
              <p:cNvPr id="167" name="连接符: 肘形 166">
                <a:extLst>
                  <a:ext uri="{FF2B5EF4-FFF2-40B4-BE49-F238E27FC236}">
                    <a16:creationId xmlns:a16="http://schemas.microsoft.com/office/drawing/2014/main" id="{73880740-50AC-4990-960C-7F1C131B8D80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 flipH="1" flipV="1">
                <a:off x="7004112" y="911395"/>
                <a:ext cx="2170068" cy="799310"/>
              </a:xfrm>
              <a:prstGeom prst="bentConnector3">
                <a:avLst>
                  <a:gd name="adj1" fmla="val 606"/>
                </a:avLst>
              </a:prstGeom>
              <a:ln w="28575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97" name="椭圆 96">
                <a:extLst>
                  <a:ext uri="{FF2B5EF4-FFF2-40B4-BE49-F238E27FC236}">
                    <a16:creationId xmlns:a16="http://schemas.microsoft.com/office/drawing/2014/main" id="{3531DBD7-104A-438F-A77E-35BB8DD8F346}"/>
                  </a:ext>
                </a:extLst>
              </p:cNvPr>
              <p:cNvSpPr/>
              <p:nvPr/>
            </p:nvSpPr>
            <p:spPr>
              <a:xfrm>
                <a:off x="7621208" y="2314440"/>
                <a:ext cx="136566" cy="136566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</p:grpSp>
      </p:grpSp>
      <p:grpSp>
        <p:nvGrpSpPr>
          <p:cNvPr id="43" name="组合 42">
            <a:extLst>
              <a:ext uri="{FF2B5EF4-FFF2-40B4-BE49-F238E27FC236}">
                <a16:creationId xmlns:a16="http://schemas.microsoft.com/office/drawing/2014/main" id="{29009D70-2A44-498D-8E2B-725E10E01003}"/>
              </a:ext>
            </a:extLst>
          </p:cNvPr>
          <p:cNvGrpSpPr/>
          <p:nvPr/>
        </p:nvGrpSpPr>
        <p:grpSpPr>
          <a:xfrm>
            <a:off x="5106185" y="2673760"/>
            <a:ext cx="2577368" cy="2652180"/>
            <a:chOff x="5106185" y="2673760"/>
            <a:chExt cx="2577368" cy="2652180"/>
          </a:xfrm>
        </p:grpSpPr>
        <p:cxnSp>
          <p:nvCxnSpPr>
            <p:cNvPr id="91" name="连接符: 肘形 90">
              <a:extLst>
                <a:ext uri="{FF2B5EF4-FFF2-40B4-BE49-F238E27FC236}">
                  <a16:creationId xmlns:a16="http://schemas.microsoft.com/office/drawing/2014/main" id="{191AC61F-CFCB-4C04-90CD-DEF16AAE5974}"/>
                </a:ext>
              </a:extLst>
            </p:cNvPr>
            <p:cNvCxnSpPr>
              <a:cxnSpLocks/>
            </p:cNvCxnSpPr>
            <p:nvPr/>
          </p:nvCxnSpPr>
          <p:spPr>
            <a:xfrm rot="5400000" flipH="1" flipV="1">
              <a:off x="5158353" y="2729631"/>
              <a:ext cx="2581071" cy="2469329"/>
            </a:xfrm>
            <a:prstGeom prst="bentConnector3">
              <a:avLst>
                <a:gd name="adj1" fmla="val 58"/>
              </a:avLst>
            </a:prstGeom>
            <a:ln w="285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01" name="椭圆 100">
              <a:extLst>
                <a:ext uri="{FF2B5EF4-FFF2-40B4-BE49-F238E27FC236}">
                  <a16:creationId xmlns:a16="http://schemas.microsoft.com/office/drawing/2014/main" id="{6FBE5D43-7F33-476E-A1A6-3F16D7E3170E}"/>
                </a:ext>
              </a:extLst>
            </p:cNvPr>
            <p:cNvSpPr/>
            <p:nvPr/>
          </p:nvSpPr>
          <p:spPr>
            <a:xfrm>
              <a:off x="5106185" y="5189374"/>
              <a:ext cx="136566" cy="136566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</p:grpSp>
      <p:sp>
        <p:nvSpPr>
          <p:cNvPr id="110" name="椭圆 109">
            <a:extLst>
              <a:ext uri="{FF2B5EF4-FFF2-40B4-BE49-F238E27FC236}">
                <a16:creationId xmlns:a16="http://schemas.microsoft.com/office/drawing/2014/main" id="{72FB9ABD-4C6C-419F-9636-318220D43732}"/>
              </a:ext>
            </a:extLst>
          </p:cNvPr>
          <p:cNvSpPr/>
          <p:nvPr/>
        </p:nvSpPr>
        <p:spPr>
          <a:xfrm>
            <a:off x="5123546" y="5714700"/>
            <a:ext cx="136566" cy="136566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64094307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文本框 113">
            <a:extLst>
              <a:ext uri="{FF2B5EF4-FFF2-40B4-BE49-F238E27FC236}">
                <a16:creationId xmlns:a16="http://schemas.microsoft.com/office/drawing/2014/main" id="{E9A72035-2D7D-4469-BDAC-57F95E6EA325}"/>
              </a:ext>
            </a:extLst>
          </p:cNvPr>
          <p:cNvSpPr txBox="1"/>
          <p:nvPr/>
        </p:nvSpPr>
        <p:spPr>
          <a:xfrm>
            <a:off x="470415" y="3643958"/>
            <a:ext cx="402486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① </a:t>
            </a:r>
            <a:r>
              <a:rPr lang="en-US" altLang="zh-CN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outer </a:t>
            </a:r>
            <a:r>
              <a:rPr lang="zh-CN" altLang="en-US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执行期间，单元对象被当前栈帧和新建的 </a:t>
            </a:r>
            <a:r>
              <a:rPr lang="en-US" altLang="zh-CN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inner </a:t>
            </a:r>
            <a:r>
              <a:rPr lang="zh-CN" altLang="en-US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对象同时持有。</a:t>
            </a:r>
          </a:p>
        </p:txBody>
      </p:sp>
      <p:sp>
        <p:nvSpPr>
          <p:cNvPr id="134" name="文本框 133">
            <a:extLst>
              <a:ext uri="{FF2B5EF4-FFF2-40B4-BE49-F238E27FC236}">
                <a16:creationId xmlns:a16="http://schemas.microsoft.com/office/drawing/2014/main" id="{00B9F294-3F63-4480-AECA-AE2C1675AB88}"/>
              </a:ext>
            </a:extLst>
          </p:cNvPr>
          <p:cNvSpPr txBox="1"/>
          <p:nvPr/>
        </p:nvSpPr>
        <p:spPr>
          <a:xfrm>
            <a:off x="5797634" y="3643958"/>
            <a:ext cx="445076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② </a:t>
            </a:r>
            <a:r>
              <a:rPr lang="en-US" altLang="zh-CN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outer </a:t>
            </a:r>
            <a:r>
              <a:rPr lang="zh-CN" altLang="en-US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退出后，栈帧被销毁，但单元对象</a:t>
            </a:r>
            <a:endParaRPr lang="en-US" altLang="zh-CN" dirty="0"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  <a:p>
            <a:r>
              <a:rPr lang="en-US" altLang="zh-CN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     </a:t>
            </a:r>
            <a:r>
              <a:rPr lang="zh-CN" altLang="en-US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仍然被</a:t>
            </a:r>
            <a:r>
              <a:rPr lang="en-US" altLang="zh-CN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 inner </a:t>
            </a:r>
            <a:r>
              <a:rPr lang="zh-CN" altLang="en-US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对象持有，因此保持存活。</a:t>
            </a:r>
          </a:p>
        </p:txBody>
      </p:sp>
      <p:grpSp>
        <p:nvGrpSpPr>
          <p:cNvPr id="5" name="组合 4">
            <a:extLst>
              <a:ext uri="{FF2B5EF4-FFF2-40B4-BE49-F238E27FC236}">
                <a16:creationId xmlns:a16="http://schemas.microsoft.com/office/drawing/2014/main" id="{9C3B75BA-66B0-439B-ABDF-4349453EADC7}"/>
              </a:ext>
            </a:extLst>
          </p:cNvPr>
          <p:cNvGrpSpPr/>
          <p:nvPr/>
        </p:nvGrpSpPr>
        <p:grpSpPr>
          <a:xfrm>
            <a:off x="319146" y="341395"/>
            <a:ext cx="4645568" cy="3112946"/>
            <a:chOff x="319146" y="341395"/>
            <a:chExt cx="4645568" cy="3112946"/>
          </a:xfrm>
        </p:grpSpPr>
        <p:grpSp>
          <p:nvGrpSpPr>
            <p:cNvPr id="90" name="组合 89">
              <a:extLst>
                <a:ext uri="{FF2B5EF4-FFF2-40B4-BE49-F238E27FC236}">
                  <a16:creationId xmlns:a16="http://schemas.microsoft.com/office/drawing/2014/main" id="{180C8327-5556-4827-BC51-448EB40B6FFE}"/>
                </a:ext>
              </a:extLst>
            </p:cNvPr>
            <p:cNvGrpSpPr/>
            <p:nvPr/>
          </p:nvGrpSpPr>
          <p:grpSpPr>
            <a:xfrm>
              <a:off x="3605794" y="1597384"/>
              <a:ext cx="1358920" cy="725432"/>
              <a:chOff x="6534909" y="436632"/>
              <a:chExt cx="1358920" cy="725432"/>
            </a:xfrm>
          </p:grpSpPr>
          <p:sp>
            <p:nvSpPr>
              <p:cNvPr id="60" name="矩形 59">
                <a:extLst>
                  <a:ext uri="{FF2B5EF4-FFF2-40B4-BE49-F238E27FC236}">
                    <a16:creationId xmlns:a16="http://schemas.microsoft.com/office/drawing/2014/main" id="{FFA6BFC9-12DE-47EF-A55F-C827003FA7CB}"/>
                  </a:ext>
                </a:extLst>
              </p:cNvPr>
              <p:cNvSpPr/>
              <p:nvPr/>
            </p:nvSpPr>
            <p:spPr>
              <a:xfrm>
                <a:off x="6534909" y="436634"/>
                <a:ext cx="1358920" cy="725430"/>
              </a:xfrm>
              <a:prstGeom prst="rect">
                <a:avLst/>
              </a:prstGeom>
              <a:no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61" name="文本框 60">
                <a:extLst>
                  <a:ext uri="{FF2B5EF4-FFF2-40B4-BE49-F238E27FC236}">
                    <a16:creationId xmlns:a16="http://schemas.microsoft.com/office/drawing/2014/main" id="{F0FE486C-28FF-4F44-A40B-4133A5036635}"/>
                  </a:ext>
                </a:extLst>
              </p:cNvPr>
              <p:cNvSpPr txBox="1"/>
              <p:nvPr/>
            </p:nvSpPr>
            <p:spPr>
              <a:xfrm>
                <a:off x="6560985" y="436632"/>
                <a:ext cx="1306768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altLang="zh-CN" b="1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Cell Object</a:t>
                </a:r>
                <a:endParaRPr lang="zh-CN" altLang="en-US" b="1" dirty="0"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endParaRPr>
              </a:p>
            </p:txBody>
          </p:sp>
          <p:sp>
            <p:nvSpPr>
              <p:cNvPr id="62" name="文本框 61">
                <a:extLst>
                  <a:ext uri="{FF2B5EF4-FFF2-40B4-BE49-F238E27FC236}">
                    <a16:creationId xmlns:a16="http://schemas.microsoft.com/office/drawing/2014/main" id="{0CEAF381-0094-4EE6-BCB2-D39081DBCCA8}"/>
                  </a:ext>
                </a:extLst>
              </p:cNvPr>
              <p:cNvSpPr txBox="1"/>
              <p:nvPr/>
            </p:nvSpPr>
            <p:spPr>
              <a:xfrm>
                <a:off x="6691629" y="753659"/>
                <a:ext cx="1045479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altLang="zh-CN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value=10</a:t>
                </a:r>
                <a:endParaRPr lang="zh-CN" altLang="en-US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p:grpSp>
        <p:grpSp>
          <p:nvGrpSpPr>
            <p:cNvPr id="76" name="组合 75">
              <a:extLst>
                <a:ext uri="{FF2B5EF4-FFF2-40B4-BE49-F238E27FC236}">
                  <a16:creationId xmlns:a16="http://schemas.microsoft.com/office/drawing/2014/main" id="{881337DD-E1D6-479C-9DC2-D3CFF48F1098}"/>
                </a:ext>
              </a:extLst>
            </p:cNvPr>
            <p:cNvGrpSpPr/>
            <p:nvPr/>
          </p:nvGrpSpPr>
          <p:grpSpPr>
            <a:xfrm>
              <a:off x="319146" y="341395"/>
              <a:ext cx="2555118" cy="1335006"/>
              <a:chOff x="1720805" y="417595"/>
              <a:chExt cx="2555118" cy="1335006"/>
            </a:xfrm>
          </p:grpSpPr>
          <p:grpSp>
            <p:nvGrpSpPr>
              <p:cNvPr id="23" name="组合 22">
                <a:extLst>
                  <a:ext uri="{FF2B5EF4-FFF2-40B4-BE49-F238E27FC236}">
                    <a16:creationId xmlns:a16="http://schemas.microsoft.com/office/drawing/2014/main" id="{2E4FB221-B9F8-4C31-904C-54AE54C28F0C}"/>
                  </a:ext>
                </a:extLst>
              </p:cNvPr>
              <p:cNvGrpSpPr/>
              <p:nvPr/>
            </p:nvGrpSpPr>
            <p:grpSpPr>
              <a:xfrm>
                <a:off x="1720805" y="417595"/>
                <a:ext cx="2555118" cy="1335006"/>
                <a:chOff x="2025605" y="931945"/>
                <a:chExt cx="2555118" cy="1335006"/>
              </a:xfrm>
            </p:grpSpPr>
            <p:grpSp>
              <p:nvGrpSpPr>
                <p:cNvPr id="8" name="组合 7">
                  <a:extLst>
                    <a:ext uri="{FF2B5EF4-FFF2-40B4-BE49-F238E27FC236}">
                      <a16:creationId xmlns:a16="http://schemas.microsoft.com/office/drawing/2014/main" id="{3DAE7417-5239-427B-A18E-277649525350}"/>
                    </a:ext>
                  </a:extLst>
                </p:cNvPr>
                <p:cNvGrpSpPr/>
                <p:nvPr/>
              </p:nvGrpSpPr>
              <p:grpSpPr>
                <a:xfrm>
                  <a:off x="2025605" y="931945"/>
                  <a:ext cx="2555118" cy="1335006"/>
                  <a:chOff x="3041643" y="523621"/>
                  <a:chExt cx="2555118" cy="1335006"/>
                </a:xfrm>
              </p:grpSpPr>
              <p:cxnSp>
                <p:nvCxnSpPr>
                  <p:cNvPr id="9" name="直接连接符 8">
                    <a:extLst>
                      <a:ext uri="{FF2B5EF4-FFF2-40B4-BE49-F238E27FC236}">
                        <a16:creationId xmlns:a16="http://schemas.microsoft.com/office/drawing/2014/main" id="{6D0E9870-E8F8-4FB7-A6A0-2F3403617611}"/>
                      </a:ext>
                    </a:extLst>
                  </p:cNvPr>
                  <p:cNvCxnSpPr/>
                  <p:nvPr/>
                </p:nvCxnSpPr>
                <p:spPr>
                  <a:xfrm>
                    <a:off x="3041643" y="1375158"/>
                    <a:ext cx="2555118" cy="0"/>
                  </a:xfrm>
                  <a:prstGeom prst="line">
                    <a:avLst/>
                  </a:prstGeom>
                  <a:ln w="28575">
                    <a:solidFill>
                      <a:schemeClr val="tx1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grpSp>
                <p:nvGrpSpPr>
                  <p:cNvPr id="10" name="组合 9">
                    <a:extLst>
                      <a:ext uri="{FF2B5EF4-FFF2-40B4-BE49-F238E27FC236}">
                        <a16:creationId xmlns:a16="http://schemas.microsoft.com/office/drawing/2014/main" id="{F87F037B-C92F-406F-B686-D7A520DA4A19}"/>
                      </a:ext>
                    </a:extLst>
                  </p:cNvPr>
                  <p:cNvGrpSpPr/>
                  <p:nvPr/>
                </p:nvGrpSpPr>
                <p:grpSpPr>
                  <a:xfrm>
                    <a:off x="3041643" y="523621"/>
                    <a:ext cx="2555118" cy="1335006"/>
                    <a:chOff x="3041643" y="523621"/>
                    <a:chExt cx="2555118" cy="1335006"/>
                  </a:xfrm>
                </p:grpSpPr>
                <p:sp>
                  <p:nvSpPr>
                    <p:cNvPr id="11" name="矩形 10">
                      <a:extLst>
                        <a:ext uri="{FF2B5EF4-FFF2-40B4-BE49-F238E27FC236}">
                          <a16:creationId xmlns:a16="http://schemas.microsoft.com/office/drawing/2014/main" id="{84FA0DD5-C788-46BC-924E-F9E58E7EB76D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3041643" y="523621"/>
                      <a:ext cx="2555118" cy="1335006"/>
                    </a:xfrm>
                    <a:prstGeom prst="rect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zh-CN" altLang="en-US" dirty="0"/>
                    </a:p>
                  </p:txBody>
                </p:sp>
                <p:sp>
                  <p:nvSpPr>
                    <p:cNvPr id="12" name="文本框 11">
                      <a:extLst>
                        <a:ext uri="{FF2B5EF4-FFF2-40B4-BE49-F238E27FC236}">
                          <a16:creationId xmlns:a16="http://schemas.microsoft.com/office/drawing/2014/main" id="{4C4BDEE7-0CC9-4D60-8860-E57E6A5F0035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3100575" y="593470"/>
                      <a:ext cx="1576072" cy="369332"/>
                    </a:xfrm>
                    <a:prstGeom prst="rect">
                      <a:avLst/>
                    </a:prstGeom>
                    <a:noFill/>
                  </p:spPr>
                  <p:txBody>
                    <a:bodyPr wrap="none" rtlCol="0">
                      <a:spAutoFit/>
                    </a:bodyPr>
                    <a:lstStyle/>
                    <a:p>
                      <a:r>
                        <a:rPr lang="en-US" altLang="zh-CN" b="1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Frame </a:t>
                      </a:r>
                      <a:r>
                        <a:rPr lang="en-US" altLang="zh-CN" b="1" dirty="0"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outer()</a:t>
                      </a:r>
                      <a:endParaRPr lang="zh-CN" altLang="en-US" b="1" dirty="0"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p:txBody>
                </p:sp>
                <p:sp>
                  <p:nvSpPr>
                    <p:cNvPr id="13" name="文本框 12">
                      <a:extLst>
                        <a:ext uri="{FF2B5EF4-FFF2-40B4-BE49-F238E27FC236}">
                          <a16:creationId xmlns:a16="http://schemas.microsoft.com/office/drawing/2014/main" id="{1D3A5D4B-F9B5-4F47-B146-57667EB36FB7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3100575" y="1032652"/>
                      <a:ext cx="1007912" cy="338554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r>
                        <a:rPr lang="en-US" altLang="zh-CN" sz="1600" dirty="0"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localsplus</a:t>
                      </a:r>
                      <a:endParaRPr lang="zh-CN" altLang="en-US" sz="1600" dirty="0"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p:txBody>
                </p:sp>
                <p:sp>
                  <p:nvSpPr>
                    <p:cNvPr id="14" name="文本框 13">
                      <a:extLst>
                        <a:ext uri="{FF2B5EF4-FFF2-40B4-BE49-F238E27FC236}">
                          <a16:creationId xmlns:a16="http://schemas.microsoft.com/office/drawing/2014/main" id="{BD29F049-DEA0-4D9C-8C88-8D16676E896D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3100575" y="1441056"/>
                      <a:ext cx="404664" cy="338554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r>
                        <a:rPr lang="en-US" altLang="zh-CN" sz="1600" dirty="0"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…</a:t>
                      </a:r>
                      <a:endParaRPr lang="zh-CN" altLang="en-US" sz="1600" dirty="0"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p:txBody>
                </p:sp>
                <p:cxnSp>
                  <p:nvCxnSpPr>
                    <p:cNvPr id="18" name="直接连接符 17">
                      <a:extLst>
                        <a:ext uri="{FF2B5EF4-FFF2-40B4-BE49-F238E27FC236}">
                          <a16:creationId xmlns:a16="http://schemas.microsoft.com/office/drawing/2014/main" id="{809966E5-6114-4396-BF88-E263FC642CA6}"/>
                        </a:ext>
                      </a:extLst>
                    </p:cNvPr>
                    <p:cNvCxnSpPr/>
                    <p:nvPr/>
                  </p:nvCxnSpPr>
                  <p:spPr>
                    <a:xfrm>
                      <a:off x="3041643" y="962802"/>
                      <a:ext cx="2555118" cy="0"/>
                    </a:xfrm>
                    <a:prstGeom prst="line">
                      <a:avLst/>
                    </a:prstGeom>
                    <a:ln w="28575">
                      <a:solidFill>
                        <a:schemeClr val="tx1"/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20" name="直接连接符 19">
                      <a:extLst>
                        <a:ext uri="{FF2B5EF4-FFF2-40B4-BE49-F238E27FC236}">
                          <a16:creationId xmlns:a16="http://schemas.microsoft.com/office/drawing/2014/main" id="{D140E5D7-1E6D-488B-81C0-CB008E8D98C4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>
                      <a:off x="4108487" y="962802"/>
                      <a:ext cx="0" cy="895825"/>
                    </a:xfrm>
                    <a:prstGeom prst="line">
                      <a:avLst/>
                    </a:prstGeom>
                    <a:ln w="28575">
                      <a:solidFill>
                        <a:schemeClr val="tx1"/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</p:grpSp>
            </p:grpSp>
            <p:sp>
              <p:nvSpPr>
                <p:cNvPr id="21" name="文本框 20">
                  <a:extLst>
                    <a:ext uri="{FF2B5EF4-FFF2-40B4-BE49-F238E27FC236}">
                      <a16:creationId xmlns:a16="http://schemas.microsoft.com/office/drawing/2014/main" id="{2C1690A6-110A-43BD-B9DE-7BB86991C277}"/>
                    </a:ext>
                  </a:extLst>
                </p:cNvPr>
                <p:cNvSpPr txBox="1"/>
                <p:nvPr/>
              </p:nvSpPr>
              <p:spPr>
                <a:xfrm>
                  <a:off x="3384085" y="1849380"/>
                  <a:ext cx="404664" cy="338554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altLang="zh-CN" sz="1600" dirty="0">
                      <a:latin typeface="Times New Roman" panose="02020603050405020304" pitchFamily="18" charset="0"/>
                      <a:ea typeface="宋体" panose="02010600030101010101" pitchFamily="2" charset="-122"/>
                      <a:cs typeface="Times New Roman" panose="02020603050405020304" pitchFamily="18" charset="0"/>
                    </a:rPr>
                    <a:t>…</a:t>
                  </a:r>
                  <a:endParaRPr lang="zh-CN" altLang="en-US" sz="1600" dirty="0">
                    <a:latin typeface="Times New Roman" panose="02020603050405020304" pitchFamily="18" charset="0"/>
                    <a:ea typeface="宋体" panose="02010600030101010101" pitchFamily="2" charset="-122"/>
                    <a:cs typeface="Times New Roman" panose="02020603050405020304" pitchFamily="18" charset="0"/>
                  </a:endParaRPr>
                </a:p>
              </p:txBody>
            </p:sp>
          </p:grpSp>
          <p:sp>
            <p:nvSpPr>
              <p:cNvPr id="59" name="文本框 58">
                <a:extLst>
                  <a:ext uri="{FF2B5EF4-FFF2-40B4-BE49-F238E27FC236}">
                    <a16:creationId xmlns:a16="http://schemas.microsoft.com/office/drawing/2014/main" id="{A5FAEA8F-A6D9-4028-BFAC-BF3D500F4682}"/>
                  </a:ext>
                </a:extLst>
              </p:cNvPr>
              <p:cNvSpPr txBox="1"/>
              <p:nvPr/>
            </p:nvSpPr>
            <p:spPr>
              <a:xfrm>
                <a:off x="2798064" y="917459"/>
                <a:ext cx="1460217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zh-CN" altLang="en-US" sz="1600" dirty="0">
                    <a:latin typeface="Times New Roman" panose="02020603050405020304" pitchFamily="18" charset="0"/>
                    <a:ea typeface="宋体" panose="02010600030101010101" pitchFamily="2" charset="-122"/>
                    <a:cs typeface="Times New Roman" panose="02020603050405020304" pitchFamily="18" charset="0"/>
                  </a:rPr>
                  <a:t>槽位数组</a:t>
                </a:r>
                <a:r>
                  <a:rPr lang="en-US" altLang="zh-CN" sz="1600" dirty="0">
                    <a:latin typeface="Times New Roman" panose="02020603050405020304" pitchFamily="18" charset="0"/>
                    <a:ea typeface="宋体" panose="02010600030101010101" pitchFamily="2" charset="-122"/>
                    <a:cs typeface="Times New Roman" panose="02020603050405020304" pitchFamily="18" charset="0"/>
                  </a:rPr>
                  <a:t>(     )</a:t>
                </a:r>
                <a:endParaRPr lang="zh-CN" altLang="en-US" sz="1600" dirty="0"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endParaRPr>
              </a:p>
            </p:txBody>
          </p:sp>
        </p:grpSp>
        <p:grpSp>
          <p:nvGrpSpPr>
            <p:cNvPr id="64" name="组合 63">
              <a:extLst>
                <a:ext uri="{FF2B5EF4-FFF2-40B4-BE49-F238E27FC236}">
                  <a16:creationId xmlns:a16="http://schemas.microsoft.com/office/drawing/2014/main" id="{144A7A32-9963-48D7-9F29-C83419B70D1B}"/>
                </a:ext>
              </a:extLst>
            </p:cNvPr>
            <p:cNvGrpSpPr/>
            <p:nvPr/>
          </p:nvGrpSpPr>
          <p:grpSpPr>
            <a:xfrm>
              <a:off x="319146" y="2119335"/>
              <a:ext cx="2590394" cy="1335006"/>
              <a:chOff x="5729970" y="2678194"/>
              <a:chExt cx="2590394" cy="1335006"/>
            </a:xfrm>
          </p:grpSpPr>
          <p:grpSp>
            <p:nvGrpSpPr>
              <p:cNvPr id="33" name="组合 32">
                <a:extLst>
                  <a:ext uri="{FF2B5EF4-FFF2-40B4-BE49-F238E27FC236}">
                    <a16:creationId xmlns:a16="http://schemas.microsoft.com/office/drawing/2014/main" id="{CCB9AFAD-27E2-4F49-AFC3-F121627AB55E}"/>
                  </a:ext>
                </a:extLst>
              </p:cNvPr>
              <p:cNvGrpSpPr/>
              <p:nvPr/>
            </p:nvGrpSpPr>
            <p:grpSpPr>
              <a:xfrm>
                <a:off x="5729970" y="2678194"/>
                <a:ext cx="2590394" cy="1335006"/>
                <a:chOff x="2025605" y="931945"/>
                <a:chExt cx="2590394" cy="1335006"/>
              </a:xfrm>
            </p:grpSpPr>
            <p:grpSp>
              <p:nvGrpSpPr>
                <p:cNvPr id="34" name="组合 33">
                  <a:extLst>
                    <a:ext uri="{FF2B5EF4-FFF2-40B4-BE49-F238E27FC236}">
                      <a16:creationId xmlns:a16="http://schemas.microsoft.com/office/drawing/2014/main" id="{3457CECA-DAFF-4D02-A5CD-10A9A3B66DBD}"/>
                    </a:ext>
                  </a:extLst>
                </p:cNvPr>
                <p:cNvGrpSpPr/>
                <p:nvPr/>
              </p:nvGrpSpPr>
              <p:grpSpPr>
                <a:xfrm>
                  <a:off x="2025605" y="931945"/>
                  <a:ext cx="2590394" cy="1335006"/>
                  <a:chOff x="3041643" y="523621"/>
                  <a:chExt cx="2590394" cy="1335006"/>
                </a:xfrm>
              </p:grpSpPr>
              <p:cxnSp>
                <p:nvCxnSpPr>
                  <p:cNvPr id="36" name="直接连接符 35">
                    <a:extLst>
                      <a:ext uri="{FF2B5EF4-FFF2-40B4-BE49-F238E27FC236}">
                        <a16:creationId xmlns:a16="http://schemas.microsoft.com/office/drawing/2014/main" id="{04B18D45-136B-4DFB-B963-971B119063A4}"/>
                      </a:ext>
                    </a:extLst>
                  </p:cNvPr>
                  <p:cNvCxnSpPr/>
                  <p:nvPr/>
                </p:nvCxnSpPr>
                <p:spPr>
                  <a:xfrm>
                    <a:off x="3041643" y="1375158"/>
                    <a:ext cx="2555118" cy="0"/>
                  </a:xfrm>
                  <a:prstGeom prst="line">
                    <a:avLst/>
                  </a:prstGeom>
                  <a:ln w="28575">
                    <a:solidFill>
                      <a:schemeClr val="tx1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grpSp>
                <p:nvGrpSpPr>
                  <p:cNvPr id="37" name="组合 36">
                    <a:extLst>
                      <a:ext uri="{FF2B5EF4-FFF2-40B4-BE49-F238E27FC236}">
                        <a16:creationId xmlns:a16="http://schemas.microsoft.com/office/drawing/2014/main" id="{65997647-BEE7-4D77-A6AF-34DDD216743D}"/>
                      </a:ext>
                    </a:extLst>
                  </p:cNvPr>
                  <p:cNvGrpSpPr/>
                  <p:nvPr/>
                </p:nvGrpSpPr>
                <p:grpSpPr>
                  <a:xfrm>
                    <a:off x="3041643" y="523621"/>
                    <a:ext cx="2590394" cy="1335006"/>
                    <a:chOff x="3041643" y="523621"/>
                    <a:chExt cx="2590394" cy="1335006"/>
                  </a:xfrm>
                </p:grpSpPr>
                <p:sp>
                  <p:nvSpPr>
                    <p:cNvPr id="38" name="矩形 37">
                      <a:extLst>
                        <a:ext uri="{FF2B5EF4-FFF2-40B4-BE49-F238E27FC236}">
                          <a16:creationId xmlns:a16="http://schemas.microsoft.com/office/drawing/2014/main" id="{49787E65-B3CD-4E9A-97AA-0FE02C043D50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3041643" y="523621"/>
                      <a:ext cx="2555118" cy="1335006"/>
                    </a:xfrm>
                    <a:prstGeom prst="rect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zh-CN" altLang="en-US" dirty="0"/>
                    </a:p>
                  </p:txBody>
                </p:sp>
                <p:sp>
                  <p:nvSpPr>
                    <p:cNvPr id="39" name="文本框 38">
                      <a:extLst>
                        <a:ext uri="{FF2B5EF4-FFF2-40B4-BE49-F238E27FC236}">
                          <a16:creationId xmlns:a16="http://schemas.microsoft.com/office/drawing/2014/main" id="{791303A7-A9AD-41F6-8B53-F9248487DE28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3100575" y="593470"/>
                      <a:ext cx="2531462" cy="369332"/>
                    </a:xfrm>
                    <a:prstGeom prst="rect">
                      <a:avLst/>
                    </a:prstGeom>
                    <a:noFill/>
                  </p:spPr>
                  <p:txBody>
                    <a:bodyPr wrap="none" rtlCol="0">
                      <a:spAutoFit/>
                    </a:bodyPr>
                    <a:lstStyle/>
                    <a:p>
                      <a:r>
                        <a:rPr lang="en-US" altLang="zh-CN" b="1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Function </a:t>
                      </a:r>
                      <a:r>
                        <a:rPr lang="en-US" altLang="zh-CN" b="1" dirty="0"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Object inner()</a:t>
                      </a:r>
                      <a:endParaRPr lang="zh-CN" altLang="en-US" b="1" dirty="0"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p:txBody>
                </p:sp>
                <p:sp>
                  <p:nvSpPr>
                    <p:cNvPr id="40" name="文本框 39">
                      <a:extLst>
                        <a:ext uri="{FF2B5EF4-FFF2-40B4-BE49-F238E27FC236}">
                          <a16:creationId xmlns:a16="http://schemas.microsoft.com/office/drawing/2014/main" id="{2B813025-9BC4-4550-AB28-75C1D1C331DD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3100575" y="1032652"/>
                      <a:ext cx="869952" cy="338554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r>
                        <a:rPr lang="en-US" altLang="zh-CN" sz="1600" dirty="0"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closures</a:t>
                      </a:r>
                      <a:endParaRPr lang="zh-CN" altLang="en-US" sz="1600" dirty="0"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p:txBody>
                </p:sp>
                <p:sp>
                  <p:nvSpPr>
                    <p:cNvPr id="41" name="文本框 40">
                      <a:extLst>
                        <a:ext uri="{FF2B5EF4-FFF2-40B4-BE49-F238E27FC236}">
                          <a16:creationId xmlns:a16="http://schemas.microsoft.com/office/drawing/2014/main" id="{3D205C62-5E1F-4ED4-8534-F6D0503C68B6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3100575" y="1441056"/>
                      <a:ext cx="404664" cy="338554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r>
                        <a:rPr lang="en-US" altLang="zh-CN" sz="1600" dirty="0"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…</a:t>
                      </a:r>
                      <a:endParaRPr lang="zh-CN" altLang="en-US" sz="1600" dirty="0"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p:txBody>
                </p:sp>
                <p:cxnSp>
                  <p:nvCxnSpPr>
                    <p:cNvPr id="42" name="直接连接符 41">
                      <a:extLst>
                        <a:ext uri="{FF2B5EF4-FFF2-40B4-BE49-F238E27FC236}">
                          <a16:creationId xmlns:a16="http://schemas.microsoft.com/office/drawing/2014/main" id="{17C57E02-B30B-456B-B183-27FF5525664B}"/>
                        </a:ext>
                      </a:extLst>
                    </p:cNvPr>
                    <p:cNvCxnSpPr/>
                    <p:nvPr/>
                  </p:nvCxnSpPr>
                  <p:spPr>
                    <a:xfrm>
                      <a:off x="3041643" y="962802"/>
                      <a:ext cx="2555118" cy="0"/>
                    </a:xfrm>
                    <a:prstGeom prst="line">
                      <a:avLst/>
                    </a:prstGeom>
                    <a:ln w="28575">
                      <a:solidFill>
                        <a:schemeClr val="tx1"/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43" name="直接连接符 42">
                      <a:extLst>
                        <a:ext uri="{FF2B5EF4-FFF2-40B4-BE49-F238E27FC236}">
                          <a16:creationId xmlns:a16="http://schemas.microsoft.com/office/drawing/2014/main" id="{7540B650-BA9B-4DBB-AD26-E787A838B4F8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>
                      <a:off x="4122351" y="962802"/>
                      <a:ext cx="0" cy="895825"/>
                    </a:xfrm>
                    <a:prstGeom prst="line">
                      <a:avLst/>
                    </a:prstGeom>
                    <a:ln w="28575">
                      <a:solidFill>
                        <a:schemeClr val="tx1"/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</p:grpSp>
            </p:grpSp>
            <p:sp>
              <p:nvSpPr>
                <p:cNvPr id="35" name="文本框 34">
                  <a:extLst>
                    <a:ext uri="{FF2B5EF4-FFF2-40B4-BE49-F238E27FC236}">
                      <a16:creationId xmlns:a16="http://schemas.microsoft.com/office/drawing/2014/main" id="{929DD6A5-341F-41FE-B65D-BEF75BD175EE}"/>
                    </a:ext>
                  </a:extLst>
                </p:cNvPr>
                <p:cNvSpPr txBox="1"/>
                <p:nvPr/>
              </p:nvSpPr>
              <p:spPr>
                <a:xfrm>
                  <a:off x="3384085" y="1849380"/>
                  <a:ext cx="404664" cy="338554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altLang="zh-CN" sz="1600" dirty="0">
                      <a:latin typeface="Times New Roman" panose="02020603050405020304" pitchFamily="18" charset="0"/>
                      <a:ea typeface="宋体" panose="02010600030101010101" pitchFamily="2" charset="-122"/>
                      <a:cs typeface="Times New Roman" panose="02020603050405020304" pitchFamily="18" charset="0"/>
                    </a:rPr>
                    <a:t>…</a:t>
                  </a:r>
                  <a:endParaRPr lang="zh-CN" altLang="en-US" sz="1600" dirty="0">
                    <a:latin typeface="Times New Roman" panose="02020603050405020304" pitchFamily="18" charset="0"/>
                    <a:ea typeface="宋体" panose="02010600030101010101" pitchFamily="2" charset="-122"/>
                    <a:cs typeface="Times New Roman" panose="02020603050405020304" pitchFamily="18" charset="0"/>
                  </a:endParaRPr>
                </a:p>
              </p:txBody>
            </p:sp>
          </p:grpSp>
          <p:sp>
            <p:nvSpPr>
              <p:cNvPr id="44" name="文本框 43">
                <a:extLst>
                  <a:ext uri="{FF2B5EF4-FFF2-40B4-BE49-F238E27FC236}">
                    <a16:creationId xmlns:a16="http://schemas.microsoft.com/office/drawing/2014/main" id="{8026012F-AEA4-41C1-BA44-8049312235FF}"/>
                  </a:ext>
                </a:extLst>
              </p:cNvPr>
              <p:cNvSpPr txBox="1"/>
              <p:nvPr/>
            </p:nvSpPr>
            <p:spPr>
              <a:xfrm>
                <a:off x="6824867" y="3178615"/>
                <a:ext cx="1392935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sz="1600" dirty="0">
                    <a:latin typeface="Times New Roman" panose="02020603050405020304" pitchFamily="18" charset="0"/>
                    <a:ea typeface="宋体" panose="02010600030101010101" pitchFamily="2" charset="-122"/>
                    <a:cs typeface="Times New Roman" panose="02020603050405020304" pitchFamily="18" charset="0"/>
                  </a:rPr>
                  <a:t>Tuple(      )</a:t>
                </a:r>
                <a:endParaRPr lang="zh-CN" altLang="en-US" sz="1600" dirty="0"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endParaRPr>
              </a:p>
            </p:txBody>
          </p:sp>
        </p:grpSp>
        <p:cxnSp>
          <p:nvCxnSpPr>
            <p:cNvPr id="111" name="连接符: 肘形 110">
              <a:extLst>
                <a:ext uri="{FF2B5EF4-FFF2-40B4-BE49-F238E27FC236}">
                  <a16:creationId xmlns:a16="http://schemas.microsoft.com/office/drawing/2014/main" id="{192E5FCE-E107-4C0B-96E1-2FEDB8F0F53B}"/>
                </a:ext>
              </a:extLst>
            </p:cNvPr>
            <p:cNvCxnSpPr>
              <a:cxnSpLocks/>
              <a:endCxn id="60" idx="0"/>
            </p:cNvCxnSpPr>
            <p:nvPr/>
          </p:nvCxnSpPr>
          <p:spPr>
            <a:xfrm>
              <a:off x="2482850" y="1016000"/>
              <a:ext cx="1802404" cy="581386"/>
            </a:xfrm>
            <a:prstGeom prst="bentConnector2">
              <a:avLst/>
            </a:prstGeom>
            <a:ln w="285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54" name="椭圆 53">
              <a:extLst>
                <a:ext uri="{FF2B5EF4-FFF2-40B4-BE49-F238E27FC236}">
                  <a16:creationId xmlns:a16="http://schemas.microsoft.com/office/drawing/2014/main" id="{03BC8FC2-C05D-4DB6-8848-E517C5D5A8A2}"/>
                </a:ext>
              </a:extLst>
            </p:cNvPr>
            <p:cNvSpPr/>
            <p:nvPr/>
          </p:nvSpPr>
          <p:spPr>
            <a:xfrm>
              <a:off x="2420504" y="951420"/>
              <a:ext cx="136566" cy="136566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cxnSp>
          <p:nvCxnSpPr>
            <p:cNvPr id="113" name="连接符: 肘形 112">
              <a:extLst>
                <a:ext uri="{FF2B5EF4-FFF2-40B4-BE49-F238E27FC236}">
                  <a16:creationId xmlns:a16="http://schemas.microsoft.com/office/drawing/2014/main" id="{0AD260BF-1192-4B69-8A76-C1958737F4D2}"/>
                </a:ext>
              </a:extLst>
            </p:cNvPr>
            <p:cNvCxnSpPr>
              <a:endCxn id="60" idx="2"/>
            </p:cNvCxnSpPr>
            <p:nvPr/>
          </p:nvCxnSpPr>
          <p:spPr>
            <a:xfrm flipV="1">
              <a:off x="2171700" y="2322816"/>
              <a:ext cx="2113554" cy="474827"/>
            </a:xfrm>
            <a:prstGeom prst="bentConnector2">
              <a:avLst/>
            </a:prstGeom>
            <a:ln w="285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55" name="椭圆 54">
              <a:extLst>
                <a:ext uri="{FF2B5EF4-FFF2-40B4-BE49-F238E27FC236}">
                  <a16:creationId xmlns:a16="http://schemas.microsoft.com/office/drawing/2014/main" id="{A3AED03E-41D1-4A1A-AEB8-33DD34B7774C}"/>
                </a:ext>
              </a:extLst>
            </p:cNvPr>
            <p:cNvSpPr/>
            <p:nvPr/>
          </p:nvSpPr>
          <p:spPr>
            <a:xfrm>
              <a:off x="2109355" y="2729702"/>
              <a:ext cx="136566" cy="136566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</p:grpSp>
      <p:grpSp>
        <p:nvGrpSpPr>
          <p:cNvPr id="228" name="组合 227">
            <a:extLst>
              <a:ext uri="{FF2B5EF4-FFF2-40B4-BE49-F238E27FC236}">
                <a16:creationId xmlns:a16="http://schemas.microsoft.com/office/drawing/2014/main" id="{59419326-9DE4-4AF1-92E9-48DDF851F278}"/>
              </a:ext>
            </a:extLst>
          </p:cNvPr>
          <p:cNvGrpSpPr/>
          <p:nvPr/>
        </p:nvGrpSpPr>
        <p:grpSpPr>
          <a:xfrm>
            <a:off x="5536371" y="341395"/>
            <a:ext cx="4645568" cy="3112946"/>
            <a:chOff x="319146" y="341395"/>
            <a:chExt cx="4645568" cy="3112946"/>
          </a:xfrm>
        </p:grpSpPr>
        <p:grpSp>
          <p:nvGrpSpPr>
            <p:cNvPr id="229" name="组合 228">
              <a:extLst>
                <a:ext uri="{FF2B5EF4-FFF2-40B4-BE49-F238E27FC236}">
                  <a16:creationId xmlns:a16="http://schemas.microsoft.com/office/drawing/2014/main" id="{0222EBB6-C2D6-4F1A-9FA1-7D0E9842B182}"/>
                </a:ext>
              </a:extLst>
            </p:cNvPr>
            <p:cNvGrpSpPr/>
            <p:nvPr/>
          </p:nvGrpSpPr>
          <p:grpSpPr>
            <a:xfrm>
              <a:off x="3605794" y="1597384"/>
              <a:ext cx="1358920" cy="725432"/>
              <a:chOff x="6534909" y="436632"/>
              <a:chExt cx="1358920" cy="725432"/>
            </a:xfrm>
          </p:grpSpPr>
          <p:sp>
            <p:nvSpPr>
              <p:cNvPr id="260" name="矩形 259">
                <a:extLst>
                  <a:ext uri="{FF2B5EF4-FFF2-40B4-BE49-F238E27FC236}">
                    <a16:creationId xmlns:a16="http://schemas.microsoft.com/office/drawing/2014/main" id="{55C33C65-1BFA-4FAB-A10C-B6726DAE1141}"/>
                  </a:ext>
                </a:extLst>
              </p:cNvPr>
              <p:cNvSpPr/>
              <p:nvPr/>
            </p:nvSpPr>
            <p:spPr>
              <a:xfrm>
                <a:off x="6534909" y="436634"/>
                <a:ext cx="1358920" cy="725430"/>
              </a:xfrm>
              <a:prstGeom prst="rect">
                <a:avLst/>
              </a:prstGeom>
              <a:no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61" name="文本框 260">
                <a:extLst>
                  <a:ext uri="{FF2B5EF4-FFF2-40B4-BE49-F238E27FC236}">
                    <a16:creationId xmlns:a16="http://schemas.microsoft.com/office/drawing/2014/main" id="{AFA24797-514D-4EE2-8CFC-7A3885B6B15F}"/>
                  </a:ext>
                </a:extLst>
              </p:cNvPr>
              <p:cNvSpPr txBox="1"/>
              <p:nvPr/>
            </p:nvSpPr>
            <p:spPr>
              <a:xfrm>
                <a:off x="6560985" y="436632"/>
                <a:ext cx="1306768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altLang="zh-CN" b="1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Cell Object</a:t>
                </a:r>
                <a:endParaRPr lang="zh-CN" altLang="en-US" b="1" dirty="0"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endParaRPr>
              </a:p>
            </p:txBody>
          </p:sp>
          <p:sp>
            <p:nvSpPr>
              <p:cNvPr id="262" name="文本框 261">
                <a:extLst>
                  <a:ext uri="{FF2B5EF4-FFF2-40B4-BE49-F238E27FC236}">
                    <a16:creationId xmlns:a16="http://schemas.microsoft.com/office/drawing/2014/main" id="{49C072DE-AA51-43BC-A24F-38385DF89135}"/>
                  </a:ext>
                </a:extLst>
              </p:cNvPr>
              <p:cNvSpPr txBox="1"/>
              <p:nvPr/>
            </p:nvSpPr>
            <p:spPr>
              <a:xfrm>
                <a:off x="6691629" y="753659"/>
                <a:ext cx="1045479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altLang="zh-CN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value=10</a:t>
                </a:r>
                <a:endParaRPr lang="zh-CN" altLang="en-US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p:grpSp>
        <p:grpSp>
          <p:nvGrpSpPr>
            <p:cNvPr id="230" name="组合 229">
              <a:extLst>
                <a:ext uri="{FF2B5EF4-FFF2-40B4-BE49-F238E27FC236}">
                  <a16:creationId xmlns:a16="http://schemas.microsoft.com/office/drawing/2014/main" id="{D731CB6F-F70E-48F0-818B-9E5EF7224A62}"/>
                </a:ext>
              </a:extLst>
            </p:cNvPr>
            <p:cNvGrpSpPr/>
            <p:nvPr/>
          </p:nvGrpSpPr>
          <p:grpSpPr>
            <a:xfrm>
              <a:off x="319146" y="341395"/>
              <a:ext cx="2555118" cy="1335006"/>
              <a:chOff x="1720805" y="417595"/>
              <a:chExt cx="2555118" cy="1335006"/>
            </a:xfrm>
          </p:grpSpPr>
          <p:grpSp>
            <p:nvGrpSpPr>
              <p:cNvPr id="248" name="组合 247">
                <a:extLst>
                  <a:ext uri="{FF2B5EF4-FFF2-40B4-BE49-F238E27FC236}">
                    <a16:creationId xmlns:a16="http://schemas.microsoft.com/office/drawing/2014/main" id="{B745BBF6-A4A6-4FDB-A5CB-766E35BA7488}"/>
                  </a:ext>
                </a:extLst>
              </p:cNvPr>
              <p:cNvGrpSpPr/>
              <p:nvPr/>
            </p:nvGrpSpPr>
            <p:grpSpPr>
              <a:xfrm>
                <a:off x="1720805" y="417595"/>
                <a:ext cx="2555118" cy="1335006"/>
                <a:chOff x="2025605" y="931945"/>
                <a:chExt cx="2555118" cy="1335006"/>
              </a:xfrm>
            </p:grpSpPr>
            <p:grpSp>
              <p:nvGrpSpPr>
                <p:cNvPr id="250" name="组合 249">
                  <a:extLst>
                    <a:ext uri="{FF2B5EF4-FFF2-40B4-BE49-F238E27FC236}">
                      <a16:creationId xmlns:a16="http://schemas.microsoft.com/office/drawing/2014/main" id="{3BC25DDE-2AA1-4125-AD97-8EE553BFC90D}"/>
                    </a:ext>
                  </a:extLst>
                </p:cNvPr>
                <p:cNvGrpSpPr/>
                <p:nvPr/>
              </p:nvGrpSpPr>
              <p:grpSpPr>
                <a:xfrm>
                  <a:off x="2025605" y="931945"/>
                  <a:ext cx="2555118" cy="1335006"/>
                  <a:chOff x="3041643" y="523621"/>
                  <a:chExt cx="2555118" cy="1335006"/>
                </a:xfrm>
              </p:grpSpPr>
              <p:cxnSp>
                <p:nvCxnSpPr>
                  <p:cNvPr id="252" name="直接连接符 251">
                    <a:extLst>
                      <a:ext uri="{FF2B5EF4-FFF2-40B4-BE49-F238E27FC236}">
                        <a16:creationId xmlns:a16="http://schemas.microsoft.com/office/drawing/2014/main" id="{1B204D9E-C3A1-44C0-8498-92160FF12064}"/>
                      </a:ext>
                    </a:extLst>
                  </p:cNvPr>
                  <p:cNvCxnSpPr/>
                  <p:nvPr/>
                </p:nvCxnSpPr>
                <p:spPr>
                  <a:xfrm>
                    <a:off x="3041643" y="1375158"/>
                    <a:ext cx="2555118" cy="0"/>
                  </a:xfrm>
                  <a:prstGeom prst="line">
                    <a:avLst/>
                  </a:prstGeom>
                  <a:ln w="28575">
                    <a:solidFill>
                      <a:schemeClr val="tx1"/>
                    </a:solidFill>
                    <a:prstDash val="sysDot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grpSp>
                <p:nvGrpSpPr>
                  <p:cNvPr id="253" name="组合 252">
                    <a:extLst>
                      <a:ext uri="{FF2B5EF4-FFF2-40B4-BE49-F238E27FC236}">
                        <a16:creationId xmlns:a16="http://schemas.microsoft.com/office/drawing/2014/main" id="{A037CA39-FCD7-487C-817F-DA3FE67F7EAA}"/>
                      </a:ext>
                    </a:extLst>
                  </p:cNvPr>
                  <p:cNvGrpSpPr/>
                  <p:nvPr/>
                </p:nvGrpSpPr>
                <p:grpSpPr>
                  <a:xfrm>
                    <a:off x="3041643" y="523621"/>
                    <a:ext cx="2555118" cy="1335006"/>
                    <a:chOff x="3041643" y="523621"/>
                    <a:chExt cx="2555118" cy="1335006"/>
                  </a:xfrm>
                </p:grpSpPr>
                <p:sp>
                  <p:nvSpPr>
                    <p:cNvPr id="254" name="矩形 253">
                      <a:extLst>
                        <a:ext uri="{FF2B5EF4-FFF2-40B4-BE49-F238E27FC236}">
                          <a16:creationId xmlns:a16="http://schemas.microsoft.com/office/drawing/2014/main" id="{F3EA9BC8-1770-4D1D-9FF6-98C672244D13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3041643" y="523621"/>
                      <a:ext cx="2555118" cy="1335006"/>
                    </a:xfrm>
                    <a:prstGeom prst="rect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prstDash val="sysDot"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zh-CN" altLang="en-US" dirty="0"/>
                    </a:p>
                  </p:txBody>
                </p:sp>
                <p:sp>
                  <p:nvSpPr>
                    <p:cNvPr id="255" name="文本框 254">
                      <a:extLst>
                        <a:ext uri="{FF2B5EF4-FFF2-40B4-BE49-F238E27FC236}">
                          <a16:creationId xmlns:a16="http://schemas.microsoft.com/office/drawing/2014/main" id="{2A7540D0-956D-4FAD-8E2D-B6EF8E297B1F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3100575" y="593470"/>
                      <a:ext cx="1576072" cy="369332"/>
                    </a:xfrm>
                    <a:prstGeom prst="rect">
                      <a:avLst/>
                    </a:prstGeom>
                    <a:noFill/>
                  </p:spPr>
                  <p:txBody>
                    <a:bodyPr wrap="none" rtlCol="0">
                      <a:spAutoFit/>
                    </a:bodyPr>
                    <a:lstStyle/>
                    <a:p>
                      <a:r>
                        <a:rPr lang="en-US" altLang="zh-CN" b="1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Frame </a:t>
                      </a:r>
                      <a:r>
                        <a:rPr lang="en-US" altLang="zh-CN" b="1" dirty="0"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outer()</a:t>
                      </a:r>
                      <a:endParaRPr lang="zh-CN" altLang="en-US" b="1" dirty="0"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p:txBody>
                </p:sp>
                <p:sp>
                  <p:nvSpPr>
                    <p:cNvPr id="256" name="文本框 255">
                      <a:extLst>
                        <a:ext uri="{FF2B5EF4-FFF2-40B4-BE49-F238E27FC236}">
                          <a16:creationId xmlns:a16="http://schemas.microsoft.com/office/drawing/2014/main" id="{2C2470D8-11F7-495F-BA27-ADA9929DC802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3100575" y="1032652"/>
                      <a:ext cx="1007912" cy="338554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r>
                        <a:rPr lang="en-US" altLang="zh-CN" sz="1600" dirty="0"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localsplus</a:t>
                      </a:r>
                      <a:endParaRPr lang="zh-CN" altLang="en-US" sz="1600" dirty="0"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p:txBody>
                </p:sp>
                <p:sp>
                  <p:nvSpPr>
                    <p:cNvPr id="257" name="文本框 256">
                      <a:extLst>
                        <a:ext uri="{FF2B5EF4-FFF2-40B4-BE49-F238E27FC236}">
                          <a16:creationId xmlns:a16="http://schemas.microsoft.com/office/drawing/2014/main" id="{1804ADA4-5B78-4097-8394-77643F19131E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3100575" y="1441056"/>
                      <a:ext cx="404664" cy="338554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r>
                        <a:rPr lang="en-US" altLang="zh-CN" sz="1600" dirty="0"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…</a:t>
                      </a:r>
                      <a:endParaRPr lang="zh-CN" altLang="en-US" sz="1600" dirty="0"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p:txBody>
                </p:sp>
                <p:cxnSp>
                  <p:nvCxnSpPr>
                    <p:cNvPr id="258" name="直接连接符 257">
                      <a:extLst>
                        <a:ext uri="{FF2B5EF4-FFF2-40B4-BE49-F238E27FC236}">
                          <a16:creationId xmlns:a16="http://schemas.microsoft.com/office/drawing/2014/main" id="{E5355410-CAE9-4972-B483-979457E65E01}"/>
                        </a:ext>
                      </a:extLst>
                    </p:cNvPr>
                    <p:cNvCxnSpPr/>
                    <p:nvPr/>
                  </p:nvCxnSpPr>
                  <p:spPr>
                    <a:xfrm>
                      <a:off x="3041643" y="962802"/>
                      <a:ext cx="2555118" cy="0"/>
                    </a:xfrm>
                    <a:prstGeom prst="line">
                      <a:avLst/>
                    </a:prstGeom>
                    <a:ln w="28575">
                      <a:solidFill>
                        <a:schemeClr val="tx1"/>
                      </a:solidFill>
                      <a:prstDash val="sysDot"/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259" name="直接连接符 258">
                      <a:extLst>
                        <a:ext uri="{FF2B5EF4-FFF2-40B4-BE49-F238E27FC236}">
                          <a16:creationId xmlns:a16="http://schemas.microsoft.com/office/drawing/2014/main" id="{99D361BE-3436-4EA9-88C3-85977D59FEFE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>
                      <a:off x="4108487" y="962802"/>
                      <a:ext cx="0" cy="895825"/>
                    </a:xfrm>
                    <a:prstGeom prst="line">
                      <a:avLst/>
                    </a:prstGeom>
                    <a:ln w="28575">
                      <a:solidFill>
                        <a:schemeClr val="tx1"/>
                      </a:solidFill>
                      <a:prstDash val="sysDot"/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</p:grpSp>
            </p:grpSp>
            <p:sp>
              <p:nvSpPr>
                <p:cNvPr id="251" name="文本框 250">
                  <a:extLst>
                    <a:ext uri="{FF2B5EF4-FFF2-40B4-BE49-F238E27FC236}">
                      <a16:creationId xmlns:a16="http://schemas.microsoft.com/office/drawing/2014/main" id="{AD675FDC-FA32-484B-9C7C-03A5F6FBF67E}"/>
                    </a:ext>
                  </a:extLst>
                </p:cNvPr>
                <p:cNvSpPr txBox="1"/>
                <p:nvPr/>
              </p:nvSpPr>
              <p:spPr>
                <a:xfrm>
                  <a:off x="3384085" y="1849380"/>
                  <a:ext cx="404664" cy="338554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altLang="zh-CN" sz="1600" dirty="0">
                      <a:latin typeface="Times New Roman" panose="02020603050405020304" pitchFamily="18" charset="0"/>
                      <a:ea typeface="宋体" panose="02010600030101010101" pitchFamily="2" charset="-122"/>
                      <a:cs typeface="Times New Roman" panose="02020603050405020304" pitchFamily="18" charset="0"/>
                    </a:rPr>
                    <a:t>…</a:t>
                  </a:r>
                  <a:endParaRPr lang="zh-CN" altLang="en-US" sz="1600" dirty="0">
                    <a:latin typeface="Times New Roman" panose="02020603050405020304" pitchFamily="18" charset="0"/>
                    <a:ea typeface="宋体" panose="02010600030101010101" pitchFamily="2" charset="-122"/>
                    <a:cs typeface="Times New Roman" panose="02020603050405020304" pitchFamily="18" charset="0"/>
                  </a:endParaRPr>
                </a:p>
              </p:txBody>
            </p:sp>
          </p:grpSp>
          <p:sp>
            <p:nvSpPr>
              <p:cNvPr id="249" name="文本框 248">
                <a:extLst>
                  <a:ext uri="{FF2B5EF4-FFF2-40B4-BE49-F238E27FC236}">
                    <a16:creationId xmlns:a16="http://schemas.microsoft.com/office/drawing/2014/main" id="{10AF41CB-98D9-4D00-BCAF-58EDA71AECB1}"/>
                  </a:ext>
                </a:extLst>
              </p:cNvPr>
              <p:cNvSpPr txBox="1"/>
              <p:nvPr/>
            </p:nvSpPr>
            <p:spPr>
              <a:xfrm>
                <a:off x="2798064" y="917459"/>
                <a:ext cx="1460217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zh-CN" altLang="en-US" sz="1600" dirty="0">
                    <a:latin typeface="Times New Roman" panose="02020603050405020304" pitchFamily="18" charset="0"/>
                    <a:ea typeface="宋体" panose="02010600030101010101" pitchFamily="2" charset="-122"/>
                    <a:cs typeface="Times New Roman" panose="02020603050405020304" pitchFamily="18" charset="0"/>
                  </a:rPr>
                  <a:t>槽位数组</a:t>
                </a:r>
                <a:r>
                  <a:rPr lang="en-US" altLang="zh-CN" sz="1600" dirty="0">
                    <a:latin typeface="Times New Roman" panose="02020603050405020304" pitchFamily="18" charset="0"/>
                    <a:ea typeface="宋体" panose="02010600030101010101" pitchFamily="2" charset="-122"/>
                    <a:cs typeface="Times New Roman" panose="02020603050405020304" pitchFamily="18" charset="0"/>
                  </a:rPr>
                  <a:t>(     )</a:t>
                </a:r>
                <a:endParaRPr lang="zh-CN" altLang="en-US" sz="1600" dirty="0"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endParaRPr>
              </a:p>
            </p:txBody>
          </p:sp>
        </p:grpSp>
        <p:grpSp>
          <p:nvGrpSpPr>
            <p:cNvPr id="231" name="组合 230">
              <a:extLst>
                <a:ext uri="{FF2B5EF4-FFF2-40B4-BE49-F238E27FC236}">
                  <a16:creationId xmlns:a16="http://schemas.microsoft.com/office/drawing/2014/main" id="{AB37D8EC-23D9-44EE-B895-54A597F2F38A}"/>
                </a:ext>
              </a:extLst>
            </p:cNvPr>
            <p:cNvGrpSpPr/>
            <p:nvPr/>
          </p:nvGrpSpPr>
          <p:grpSpPr>
            <a:xfrm>
              <a:off x="319146" y="2119335"/>
              <a:ext cx="2590394" cy="1335006"/>
              <a:chOff x="5729970" y="2678194"/>
              <a:chExt cx="2590394" cy="1335006"/>
            </a:xfrm>
          </p:grpSpPr>
          <p:grpSp>
            <p:nvGrpSpPr>
              <p:cNvPr id="236" name="组合 235">
                <a:extLst>
                  <a:ext uri="{FF2B5EF4-FFF2-40B4-BE49-F238E27FC236}">
                    <a16:creationId xmlns:a16="http://schemas.microsoft.com/office/drawing/2014/main" id="{4C4F7F3F-4C49-4763-B19C-A3D738A46ECE}"/>
                  </a:ext>
                </a:extLst>
              </p:cNvPr>
              <p:cNvGrpSpPr/>
              <p:nvPr/>
            </p:nvGrpSpPr>
            <p:grpSpPr>
              <a:xfrm>
                <a:off x="5729970" y="2678194"/>
                <a:ext cx="2590394" cy="1335006"/>
                <a:chOff x="2025605" y="931945"/>
                <a:chExt cx="2590394" cy="1335006"/>
              </a:xfrm>
            </p:grpSpPr>
            <p:grpSp>
              <p:nvGrpSpPr>
                <p:cNvPr id="238" name="组合 237">
                  <a:extLst>
                    <a:ext uri="{FF2B5EF4-FFF2-40B4-BE49-F238E27FC236}">
                      <a16:creationId xmlns:a16="http://schemas.microsoft.com/office/drawing/2014/main" id="{C51D330F-49A9-4E5D-B841-CD19ECD5D054}"/>
                    </a:ext>
                  </a:extLst>
                </p:cNvPr>
                <p:cNvGrpSpPr/>
                <p:nvPr/>
              </p:nvGrpSpPr>
              <p:grpSpPr>
                <a:xfrm>
                  <a:off x="2025605" y="931945"/>
                  <a:ext cx="2590394" cy="1335006"/>
                  <a:chOff x="3041643" y="523621"/>
                  <a:chExt cx="2590394" cy="1335006"/>
                </a:xfrm>
              </p:grpSpPr>
              <p:cxnSp>
                <p:nvCxnSpPr>
                  <p:cNvPr id="240" name="直接连接符 239">
                    <a:extLst>
                      <a:ext uri="{FF2B5EF4-FFF2-40B4-BE49-F238E27FC236}">
                        <a16:creationId xmlns:a16="http://schemas.microsoft.com/office/drawing/2014/main" id="{86B60CF2-9FA0-4621-BBBA-DD2CB6DF3630}"/>
                      </a:ext>
                    </a:extLst>
                  </p:cNvPr>
                  <p:cNvCxnSpPr/>
                  <p:nvPr/>
                </p:nvCxnSpPr>
                <p:spPr>
                  <a:xfrm>
                    <a:off x="3041643" y="1375158"/>
                    <a:ext cx="2555118" cy="0"/>
                  </a:xfrm>
                  <a:prstGeom prst="line">
                    <a:avLst/>
                  </a:prstGeom>
                  <a:ln w="28575">
                    <a:solidFill>
                      <a:schemeClr val="tx1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grpSp>
                <p:nvGrpSpPr>
                  <p:cNvPr id="241" name="组合 240">
                    <a:extLst>
                      <a:ext uri="{FF2B5EF4-FFF2-40B4-BE49-F238E27FC236}">
                        <a16:creationId xmlns:a16="http://schemas.microsoft.com/office/drawing/2014/main" id="{ACB8C81E-E125-4562-B66E-CC9EB8EAAC59}"/>
                      </a:ext>
                    </a:extLst>
                  </p:cNvPr>
                  <p:cNvGrpSpPr/>
                  <p:nvPr/>
                </p:nvGrpSpPr>
                <p:grpSpPr>
                  <a:xfrm>
                    <a:off x="3041643" y="523621"/>
                    <a:ext cx="2590394" cy="1335006"/>
                    <a:chOff x="3041643" y="523621"/>
                    <a:chExt cx="2590394" cy="1335006"/>
                  </a:xfrm>
                </p:grpSpPr>
                <p:sp>
                  <p:nvSpPr>
                    <p:cNvPr id="242" name="矩形 241">
                      <a:extLst>
                        <a:ext uri="{FF2B5EF4-FFF2-40B4-BE49-F238E27FC236}">
                          <a16:creationId xmlns:a16="http://schemas.microsoft.com/office/drawing/2014/main" id="{9211062A-EECD-481E-A2F7-24D32F8AFB16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3041643" y="523621"/>
                      <a:ext cx="2555118" cy="1335006"/>
                    </a:xfrm>
                    <a:prstGeom prst="rect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zh-CN" altLang="en-US" dirty="0"/>
                    </a:p>
                  </p:txBody>
                </p:sp>
                <p:sp>
                  <p:nvSpPr>
                    <p:cNvPr id="243" name="文本框 242">
                      <a:extLst>
                        <a:ext uri="{FF2B5EF4-FFF2-40B4-BE49-F238E27FC236}">
                          <a16:creationId xmlns:a16="http://schemas.microsoft.com/office/drawing/2014/main" id="{435BB736-3C17-45B8-AF93-4B9EE91705DE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3100575" y="593470"/>
                      <a:ext cx="2531462" cy="369332"/>
                    </a:xfrm>
                    <a:prstGeom prst="rect">
                      <a:avLst/>
                    </a:prstGeom>
                    <a:noFill/>
                  </p:spPr>
                  <p:txBody>
                    <a:bodyPr wrap="none" rtlCol="0">
                      <a:spAutoFit/>
                    </a:bodyPr>
                    <a:lstStyle/>
                    <a:p>
                      <a:r>
                        <a:rPr lang="en-US" altLang="zh-CN" b="1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Function </a:t>
                      </a:r>
                      <a:r>
                        <a:rPr lang="en-US" altLang="zh-CN" b="1" dirty="0"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Object inner()</a:t>
                      </a:r>
                      <a:endParaRPr lang="zh-CN" altLang="en-US" b="1" dirty="0"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p:txBody>
                </p:sp>
                <p:sp>
                  <p:nvSpPr>
                    <p:cNvPr id="244" name="文本框 243">
                      <a:extLst>
                        <a:ext uri="{FF2B5EF4-FFF2-40B4-BE49-F238E27FC236}">
                          <a16:creationId xmlns:a16="http://schemas.microsoft.com/office/drawing/2014/main" id="{F21B173D-26DD-4C89-9CD5-9D910819D3D4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3100575" y="1032652"/>
                      <a:ext cx="869952" cy="338554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r>
                        <a:rPr lang="en-US" altLang="zh-CN" sz="1600" dirty="0"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closures</a:t>
                      </a:r>
                      <a:endParaRPr lang="zh-CN" altLang="en-US" sz="1600" dirty="0"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p:txBody>
                </p:sp>
                <p:sp>
                  <p:nvSpPr>
                    <p:cNvPr id="245" name="文本框 244">
                      <a:extLst>
                        <a:ext uri="{FF2B5EF4-FFF2-40B4-BE49-F238E27FC236}">
                          <a16:creationId xmlns:a16="http://schemas.microsoft.com/office/drawing/2014/main" id="{6635E6FA-5D41-4519-AFB5-33933BC3E674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3100575" y="1441056"/>
                      <a:ext cx="404664" cy="338554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r>
                        <a:rPr lang="en-US" altLang="zh-CN" sz="1600" dirty="0"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…</a:t>
                      </a:r>
                      <a:endParaRPr lang="zh-CN" altLang="en-US" sz="1600" dirty="0"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p:txBody>
                </p:sp>
                <p:cxnSp>
                  <p:nvCxnSpPr>
                    <p:cNvPr id="246" name="直接连接符 245">
                      <a:extLst>
                        <a:ext uri="{FF2B5EF4-FFF2-40B4-BE49-F238E27FC236}">
                          <a16:creationId xmlns:a16="http://schemas.microsoft.com/office/drawing/2014/main" id="{D303E209-8E01-4141-BE2D-BFCBB5CBDC7E}"/>
                        </a:ext>
                      </a:extLst>
                    </p:cNvPr>
                    <p:cNvCxnSpPr/>
                    <p:nvPr/>
                  </p:nvCxnSpPr>
                  <p:spPr>
                    <a:xfrm>
                      <a:off x="3041643" y="962802"/>
                      <a:ext cx="2555118" cy="0"/>
                    </a:xfrm>
                    <a:prstGeom prst="line">
                      <a:avLst/>
                    </a:prstGeom>
                    <a:ln w="28575">
                      <a:solidFill>
                        <a:schemeClr val="tx1"/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247" name="直接连接符 246">
                      <a:extLst>
                        <a:ext uri="{FF2B5EF4-FFF2-40B4-BE49-F238E27FC236}">
                          <a16:creationId xmlns:a16="http://schemas.microsoft.com/office/drawing/2014/main" id="{561DF811-F49B-4ED1-9C24-FF851F860170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>
                      <a:off x="4122351" y="962802"/>
                      <a:ext cx="0" cy="895825"/>
                    </a:xfrm>
                    <a:prstGeom prst="line">
                      <a:avLst/>
                    </a:prstGeom>
                    <a:ln w="28575">
                      <a:solidFill>
                        <a:schemeClr val="tx1"/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</p:grpSp>
            </p:grpSp>
            <p:sp>
              <p:nvSpPr>
                <p:cNvPr id="239" name="文本框 238">
                  <a:extLst>
                    <a:ext uri="{FF2B5EF4-FFF2-40B4-BE49-F238E27FC236}">
                      <a16:creationId xmlns:a16="http://schemas.microsoft.com/office/drawing/2014/main" id="{22E17199-6AC3-4DFD-A2DE-1F9C2519434D}"/>
                    </a:ext>
                  </a:extLst>
                </p:cNvPr>
                <p:cNvSpPr txBox="1"/>
                <p:nvPr/>
              </p:nvSpPr>
              <p:spPr>
                <a:xfrm>
                  <a:off x="3384085" y="1849380"/>
                  <a:ext cx="404664" cy="338554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altLang="zh-CN" sz="1600" dirty="0">
                      <a:latin typeface="Times New Roman" panose="02020603050405020304" pitchFamily="18" charset="0"/>
                      <a:ea typeface="宋体" panose="02010600030101010101" pitchFamily="2" charset="-122"/>
                      <a:cs typeface="Times New Roman" panose="02020603050405020304" pitchFamily="18" charset="0"/>
                    </a:rPr>
                    <a:t>…</a:t>
                  </a:r>
                  <a:endParaRPr lang="zh-CN" altLang="en-US" sz="1600" dirty="0">
                    <a:latin typeface="Times New Roman" panose="02020603050405020304" pitchFamily="18" charset="0"/>
                    <a:ea typeface="宋体" panose="02010600030101010101" pitchFamily="2" charset="-122"/>
                    <a:cs typeface="Times New Roman" panose="02020603050405020304" pitchFamily="18" charset="0"/>
                  </a:endParaRPr>
                </a:p>
              </p:txBody>
            </p:sp>
          </p:grpSp>
          <p:sp>
            <p:nvSpPr>
              <p:cNvPr id="237" name="文本框 236">
                <a:extLst>
                  <a:ext uri="{FF2B5EF4-FFF2-40B4-BE49-F238E27FC236}">
                    <a16:creationId xmlns:a16="http://schemas.microsoft.com/office/drawing/2014/main" id="{B97D3EC1-18E6-43B9-8683-175E297FEC1B}"/>
                  </a:ext>
                </a:extLst>
              </p:cNvPr>
              <p:cNvSpPr txBox="1"/>
              <p:nvPr/>
            </p:nvSpPr>
            <p:spPr>
              <a:xfrm>
                <a:off x="6824867" y="3178615"/>
                <a:ext cx="1392935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sz="1600" dirty="0">
                    <a:latin typeface="Times New Roman" panose="02020603050405020304" pitchFamily="18" charset="0"/>
                    <a:ea typeface="宋体" panose="02010600030101010101" pitchFamily="2" charset="-122"/>
                    <a:cs typeface="Times New Roman" panose="02020603050405020304" pitchFamily="18" charset="0"/>
                  </a:rPr>
                  <a:t>Tuple(      )</a:t>
                </a:r>
                <a:endParaRPr lang="zh-CN" altLang="en-US" sz="1600" dirty="0"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endParaRPr>
              </a:p>
            </p:txBody>
          </p:sp>
        </p:grpSp>
        <p:cxnSp>
          <p:nvCxnSpPr>
            <p:cNvPr id="232" name="连接符: 肘形 231">
              <a:extLst>
                <a:ext uri="{FF2B5EF4-FFF2-40B4-BE49-F238E27FC236}">
                  <a16:creationId xmlns:a16="http://schemas.microsoft.com/office/drawing/2014/main" id="{8D2CEFED-6AC8-4689-9A22-265B163DCB80}"/>
                </a:ext>
              </a:extLst>
            </p:cNvPr>
            <p:cNvCxnSpPr>
              <a:cxnSpLocks/>
              <a:endCxn id="260" idx="0"/>
            </p:cNvCxnSpPr>
            <p:nvPr/>
          </p:nvCxnSpPr>
          <p:spPr>
            <a:xfrm>
              <a:off x="2482850" y="1016000"/>
              <a:ext cx="1802404" cy="581386"/>
            </a:xfrm>
            <a:prstGeom prst="bentConnector2">
              <a:avLst/>
            </a:prstGeom>
            <a:ln w="28575">
              <a:solidFill>
                <a:schemeClr val="tx1"/>
              </a:solidFill>
              <a:prstDash val="sysDot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33" name="椭圆 232">
              <a:extLst>
                <a:ext uri="{FF2B5EF4-FFF2-40B4-BE49-F238E27FC236}">
                  <a16:creationId xmlns:a16="http://schemas.microsoft.com/office/drawing/2014/main" id="{9A5D7344-B4C0-4918-B1A8-6647A6246947}"/>
                </a:ext>
              </a:extLst>
            </p:cNvPr>
            <p:cNvSpPr/>
            <p:nvPr/>
          </p:nvSpPr>
          <p:spPr>
            <a:xfrm>
              <a:off x="2420504" y="951420"/>
              <a:ext cx="136566" cy="136566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cxnSp>
          <p:nvCxnSpPr>
            <p:cNvPr id="234" name="连接符: 肘形 233">
              <a:extLst>
                <a:ext uri="{FF2B5EF4-FFF2-40B4-BE49-F238E27FC236}">
                  <a16:creationId xmlns:a16="http://schemas.microsoft.com/office/drawing/2014/main" id="{9B40A2AF-66D7-468C-9549-120E51213931}"/>
                </a:ext>
              </a:extLst>
            </p:cNvPr>
            <p:cNvCxnSpPr>
              <a:endCxn id="260" idx="2"/>
            </p:cNvCxnSpPr>
            <p:nvPr/>
          </p:nvCxnSpPr>
          <p:spPr>
            <a:xfrm flipV="1">
              <a:off x="2171700" y="2322816"/>
              <a:ext cx="2113554" cy="474827"/>
            </a:xfrm>
            <a:prstGeom prst="bentConnector2">
              <a:avLst/>
            </a:prstGeom>
            <a:ln w="285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35" name="椭圆 234">
              <a:extLst>
                <a:ext uri="{FF2B5EF4-FFF2-40B4-BE49-F238E27FC236}">
                  <a16:creationId xmlns:a16="http://schemas.microsoft.com/office/drawing/2014/main" id="{30B782E0-6688-43A0-9D65-D717EF12332D}"/>
                </a:ext>
              </a:extLst>
            </p:cNvPr>
            <p:cNvSpPr/>
            <p:nvPr/>
          </p:nvSpPr>
          <p:spPr>
            <a:xfrm>
              <a:off x="2109355" y="2729702"/>
              <a:ext cx="136566" cy="136566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</p:grpSp>
      <p:sp>
        <p:nvSpPr>
          <p:cNvPr id="7" name="乘号 6">
            <a:extLst>
              <a:ext uri="{FF2B5EF4-FFF2-40B4-BE49-F238E27FC236}">
                <a16:creationId xmlns:a16="http://schemas.microsoft.com/office/drawing/2014/main" id="{54086509-D86F-43F4-8510-421E0D4A4C8A}"/>
              </a:ext>
            </a:extLst>
          </p:cNvPr>
          <p:cNvSpPr/>
          <p:nvPr/>
        </p:nvSpPr>
        <p:spPr>
          <a:xfrm>
            <a:off x="9250127" y="997163"/>
            <a:ext cx="504701" cy="475013"/>
          </a:xfrm>
          <a:prstGeom prst="mathMultiply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21344807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0" name="组合 89">
            <a:extLst>
              <a:ext uri="{FF2B5EF4-FFF2-40B4-BE49-F238E27FC236}">
                <a16:creationId xmlns:a16="http://schemas.microsoft.com/office/drawing/2014/main" id="{180C8327-5556-4827-BC51-448EB40B6FFE}"/>
              </a:ext>
            </a:extLst>
          </p:cNvPr>
          <p:cNvGrpSpPr/>
          <p:nvPr/>
        </p:nvGrpSpPr>
        <p:grpSpPr>
          <a:xfrm>
            <a:off x="4660048" y="1664604"/>
            <a:ext cx="1358920" cy="725432"/>
            <a:chOff x="6534909" y="436632"/>
            <a:chExt cx="1358920" cy="725432"/>
          </a:xfrm>
        </p:grpSpPr>
        <p:sp>
          <p:nvSpPr>
            <p:cNvPr id="60" name="矩形 59">
              <a:extLst>
                <a:ext uri="{FF2B5EF4-FFF2-40B4-BE49-F238E27FC236}">
                  <a16:creationId xmlns:a16="http://schemas.microsoft.com/office/drawing/2014/main" id="{FFA6BFC9-12DE-47EF-A55F-C827003FA7CB}"/>
                </a:ext>
              </a:extLst>
            </p:cNvPr>
            <p:cNvSpPr/>
            <p:nvPr/>
          </p:nvSpPr>
          <p:spPr>
            <a:xfrm>
              <a:off x="6534909" y="436634"/>
              <a:ext cx="1358920" cy="725430"/>
            </a:xfrm>
            <a:prstGeom prst="rect">
              <a:avLst/>
            </a:prstGeom>
            <a:no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61" name="文本框 60">
              <a:extLst>
                <a:ext uri="{FF2B5EF4-FFF2-40B4-BE49-F238E27FC236}">
                  <a16:creationId xmlns:a16="http://schemas.microsoft.com/office/drawing/2014/main" id="{F0FE486C-28FF-4F44-A40B-4133A5036635}"/>
                </a:ext>
              </a:extLst>
            </p:cNvPr>
            <p:cNvSpPr txBox="1"/>
            <p:nvPr/>
          </p:nvSpPr>
          <p:spPr>
            <a:xfrm>
              <a:off x="6560985" y="436632"/>
              <a:ext cx="130676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b="1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Cell Object</a:t>
              </a:r>
              <a:endParaRPr lang="zh-CN" altLang="en-US" b="1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endParaRPr>
            </a:p>
          </p:txBody>
        </p:sp>
        <p:sp>
          <p:nvSpPr>
            <p:cNvPr id="62" name="文本框 61">
              <a:extLst>
                <a:ext uri="{FF2B5EF4-FFF2-40B4-BE49-F238E27FC236}">
                  <a16:creationId xmlns:a16="http://schemas.microsoft.com/office/drawing/2014/main" id="{0CEAF381-0094-4EE6-BCB2-D39081DBCCA8}"/>
                </a:ext>
              </a:extLst>
            </p:cNvPr>
            <p:cNvSpPr txBox="1"/>
            <p:nvPr/>
          </p:nvSpPr>
          <p:spPr>
            <a:xfrm>
              <a:off x="6691629" y="753659"/>
              <a:ext cx="1045479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value=10</a:t>
              </a:r>
              <a:endParaRPr lang="zh-CN" altLang="en-US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</p:grpSp>
      <p:grpSp>
        <p:nvGrpSpPr>
          <p:cNvPr id="76" name="组合 75">
            <a:extLst>
              <a:ext uri="{FF2B5EF4-FFF2-40B4-BE49-F238E27FC236}">
                <a16:creationId xmlns:a16="http://schemas.microsoft.com/office/drawing/2014/main" id="{881337DD-E1D6-479C-9DC2-D3CFF48F1098}"/>
              </a:ext>
            </a:extLst>
          </p:cNvPr>
          <p:cNvGrpSpPr/>
          <p:nvPr/>
        </p:nvGrpSpPr>
        <p:grpSpPr>
          <a:xfrm>
            <a:off x="1092266" y="3079265"/>
            <a:ext cx="2555118" cy="1335006"/>
            <a:chOff x="1720805" y="417595"/>
            <a:chExt cx="2555118" cy="1335006"/>
          </a:xfrm>
        </p:grpSpPr>
        <p:grpSp>
          <p:nvGrpSpPr>
            <p:cNvPr id="23" name="组合 22">
              <a:extLst>
                <a:ext uri="{FF2B5EF4-FFF2-40B4-BE49-F238E27FC236}">
                  <a16:creationId xmlns:a16="http://schemas.microsoft.com/office/drawing/2014/main" id="{2E4FB221-B9F8-4C31-904C-54AE54C28F0C}"/>
                </a:ext>
              </a:extLst>
            </p:cNvPr>
            <p:cNvGrpSpPr/>
            <p:nvPr/>
          </p:nvGrpSpPr>
          <p:grpSpPr>
            <a:xfrm>
              <a:off x="1720805" y="417595"/>
              <a:ext cx="2555118" cy="1335006"/>
              <a:chOff x="2025605" y="931945"/>
              <a:chExt cx="2555118" cy="1335006"/>
            </a:xfrm>
          </p:grpSpPr>
          <p:grpSp>
            <p:nvGrpSpPr>
              <p:cNvPr id="8" name="组合 7">
                <a:extLst>
                  <a:ext uri="{FF2B5EF4-FFF2-40B4-BE49-F238E27FC236}">
                    <a16:creationId xmlns:a16="http://schemas.microsoft.com/office/drawing/2014/main" id="{3DAE7417-5239-427B-A18E-277649525350}"/>
                  </a:ext>
                </a:extLst>
              </p:cNvPr>
              <p:cNvGrpSpPr/>
              <p:nvPr/>
            </p:nvGrpSpPr>
            <p:grpSpPr>
              <a:xfrm>
                <a:off x="2025605" y="931945"/>
                <a:ext cx="2555118" cy="1335006"/>
                <a:chOff x="3041643" y="523621"/>
                <a:chExt cx="2555118" cy="1335006"/>
              </a:xfrm>
            </p:grpSpPr>
            <p:cxnSp>
              <p:nvCxnSpPr>
                <p:cNvPr id="9" name="直接连接符 8">
                  <a:extLst>
                    <a:ext uri="{FF2B5EF4-FFF2-40B4-BE49-F238E27FC236}">
                      <a16:creationId xmlns:a16="http://schemas.microsoft.com/office/drawing/2014/main" id="{6D0E9870-E8F8-4FB7-A6A0-2F3403617611}"/>
                    </a:ext>
                  </a:extLst>
                </p:cNvPr>
                <p:cNvCxnSpPr/>
                <p:nvPr/>
              </p:nvCxnSpPr>
              <p:spPr>
                <a:xfrm>
                  <a:off x="3041643" y="1375158"/>
                  <a:ext cx="2555118" cy="0"/>
                </a:xfrm>
                <a:prstGeom prst="line">
                  <a:avLst/>
                </a:prstGeom>
                <a:ln w="28575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grpSp>
              <p:nvGrpSpPr>
                <p:cNvPr id="10" name="组合 9">
                  <a:extLst>
                    <a:ext uri="{FF2B5EF4-FFF2-40B4-BE49-F238E27FC236}">
                      <a16:creationId xmlns:a16="http://schemas.microsoft.com/office/drawing/2014/main" id="{F87F037B-C92F-406F-B686-D7A520DA4A19}"/>
                    </a:ext>
                  </a:extLst>
                </p:cNvPr>
                <p:cNvGrpSpPr/>
                <p:nvPr/>
              </p:nvGrpSpPr>
              <p:grpSpPr>
                <a:xfrm>
                  <a:off x="3041643" y="523621"/>
                  <a:ext cx="2555118" cy="1335006"/>
                  <a:chOff x="3041643" y="523621"/>
                  <a:chExt cx="2555118" cy="1335006"/>
                </a:xfrm>
              </p:grpSpPr>
              <p:sp>
                <p:nvSpPr>
                  <p:cNvPr id="11" name="矩形 10">
                    <a:extLst>
                      <a:ext uri="{FF2B5EF4-FFF2-40B4-BE49-F238E27FC236}">
                        <a16:creationId xmlns:a16="http://schemas.microsoft.com/office/drawing/2014/main" id="{84FA0DD5-C788-46BC-924E-F9E58E7EB76D}"/>
                      </a:ext>
                    </a:extLst>
                  </p:cNvPr>
                  <p:cNvSpPr/>
                  <p:nvPr/>
                </p:nvSpPr>
                <p:spPr>
                  <a:xfrm>
                    <a:off x="3041643" y="523621"/>
                    <a:ext cx="2555118" cy="1335006"/>
                  </a:xfrm>
                  <a:prstGeom prst="rect">
                    <a:avLst/>
                  </a:prstGeom>
                  <a:noFill/>
                  <a:ln w="28575"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 dirty="0"/>
                  </a:p>
                </p:txBody>
              </p:sp>
              <p:sp>
                <p:nvSpPr>
                  <p:cNvPr id="12" name="文本框 11">
                    <a:extLst>
                      <a:ext uri="{FF2B5EF4-FFF2-40B4-BE49-F238E27FC236}">
                        <a16:creationId xmlns:a16="http://schemas.microsoft.com/office/drawing/2014/main" id="{4C4BDEE7-0CC9-4D60-8860-E57E6A5F0035}"/>
                      </a:ext>
                    </a:extLst>
                  </p:cNvPr>
                  <p:cNvSpPr txBox="1"/>
                  <p:nvPr/>
                </p:nvSpPr>
                <p:spPr>
                  <a:xfrm>
                    <a:off x="3100575" y="593470"/>
                    <a:ext cx="1576072" cy="369332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r>
                      <a:rPr lang="en-US" altLang="zh-CN" b="1" dirty="0">
                        <a:latin typeface="Times New Roman" panose="02020603050405020304" pitchFamily="18" charset="0"/>
                        <a:cs typeface="Times New Roman" panose="02020603050405020304" pitchFamily="18" charset="0"/>
                      </a:rPr>
                      <a:t>Frame </a:t>
                    </a:r>
                    <a:r>
                      <a:rPr lang="en-US" altLang="zh-CN" b="1" dirty="0"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rPr>
                      <a:t>inner()</a:t>
                    </a:r>
                    <a:endParaRPr lang="zh-CN" altLang="en-US" b="1" dirty="0">
                      <a:latin typeface="Times New Roman" panose="02020603050405020304" pitchFamily="18" charset="0"/>
                      <a:ea typeface="宋体" panose="02010600030101010101" pitchFamily="2" charset="-122"/>
                      <a:cs typeface="Times New Roman" panose="02020603050405020304" pitchFamily="18" charset="0"/>
                    </a:endParaRPr>
                  </a:p>
                </p:txBody>
              </p:sp>
              <p:sp>
                <p:nvSpPr>
                  <p:cNvPr id="13" name="文本框 12">
                    <a:extLst>
                      <a:ext uri="{FF2B5EF4-FFF2-40B4-BE49-F238E27FC236}">
                        <a16:creationId xmlns:a16="http://schemas.microsoft.com/office/drawing/2014/main" id="{1D3A5D4B-F9B5-4F47-B146-57667EB36FB7}"/>
                      </a:ext>
                    </a:extLst>
                  </p:cNvPr>
                  <p:cNvSpPr txBox="1"/>
                  <p:nvPr/>
                </p:nvSpPr>
                <p:spPr>
                  <a:xfrm>
                    <a:off x="3100575" y="1032652"/>
                    <a:ext cx="1007912" cy="338554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r>
                      <a:rPr lang="en-US" altLang="zh-CN" sz="1600" dirty="0"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rPr>
                      <a:t>localsplus</a:t>
                    </a:r>
                    <a:endParaRPr lang="zh-CN" altLang="en-US" sz="1600" dirty="0">
                      <a:latin typeface="Times New Roman" panose="02020603050405020304" pitchFamily="18" charset="0"/>
                      <a:ea typeface="宋体" panose="02010600030101010101" pitchFamily="2" charset="-122"/>
                      <a:cs typeface="Times New Roman" panose="02020603050405020304" pitchFamily="18" charset="0"/>
                    </a:endParaRPr>
                  </a:p>
                </p:txBody>
              </p:sp>
              <p:sp>
                <p:nvSpPr>
                  <p:cNvPr id="14" name="文本框 13">
                    <a:extLst>
                      <a:ext uri="{FF2B5EF4-FFF2-40B4-BE49-F238E27FC236}">
                        <a16:creationId xmlns:a16="http://schemas.microsoft.com/office/drawing/2014/main" id="{BD29F049-DEA0-4D9C-8C88-8D16676E896D}"/>
                      </a:ext>
                    </a:extLst>
                  </p:cNvPr>
                  <p:cNvSpPr txBox="1"/>
                  <p:nvPr/>
                </p:nvSpPr>
                <p:spPr>
                  <a:xfrm>
                    <a:off x="3100575" y="1441056"/>
                    <a:ext cx="404664" cy="338554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r>
                      <a:rPr lang="en-US" altLang="zh-CN" sz="1600" dirty="0"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rPr>
                      <a:t>…</a:t>
                    </a:r>
                    <a:endParaRPr lang="zh-CN" altLang="en-US" sz="1600" dirty="0">
                      <a:latin typeface="Times New Roman" panose="02020603050405020304" pitchFamily="18" charset="0"/>
                      <a:ea typeface="宋体" panose="02010600030101010101" pitchFamily="2" charset="-122"/>
                      <a:cs typeface="Times New Roman" panose="02020603050405020304" pitchFamily="18" charset="0"/>
                    </a:endParaRPr>
                  </a:p>
                </p:txBody>
              </p:sp>
              <p:cxnSp>
                <p:nvCxnSpPr>
                  <p:cNvPr id="18" name="直接连接符 17">
                    <a:extLst>
                      <a:ext uri="{FF2B5EF4-FFF2-40B4-BE49-F238E27FC236}">
                        <a16:creationId xmlns:a16="http://schemas.microsoft.com/office/drawing/2014/main" id="{809966E5-6114-4396-BF88-E263FC642CA6}"/>
                      </a:ext>
                    </a:extLst>
                  </p:cNvPr>
                  <p:cNvCxnSpPr/>
                  <p:nvPr/>
                </p:nvCxnSpPr>
                <p:spPr>
                  <a:xfrm>
                    <a:off x="3041643" y="962802"/>
                    <a:ext cx="2555118" cy="0"/>
                  </a:xfrm>
                  <a:prstGeom prst="line">
                    <a:avLst/>
                  </a:prstGeom>
                  <a:ln w="28575">
                    <a:solidFill>
                      <a:schemeClr val="tx1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20" name="直接连接符 19">
                    <a:extLst>
                      <a:ext uri="{FF2B5EF4-FFF2-40B4-BE49-F238E27FC236}">
                        <a16:creationId xmlns:a16="http://schemas.microsoft.com/office/drawing/2014/main" id="{D140E5D7-1E6D-488B-81C0-CB008E8D98C4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4108487" y="962802"/>
                    <a:ext cx="0" cy="895825"/>
                  </a:xfrm>
                  <a:prstGeom prst="line">
                    <a:avLst/>
                  </a:prstGeom>
                  <a:ln w="28575">
                    <a:solidFill>
                      <a:schemeClr val="tx1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</p:grpSp>
          <p:sp>
            <p:nvSpPr>
              <p:cNvPr id="21" name="文本框 20">
                <a:extLst>
                  <a:ext uri="{FF2B5EF4-FFF2-40B4-BE49-F238E27FC236}">
                    <a16:creationId xmlns:a16="http://schemas.microsoft.com/office/drawing/2014/main" id="{2C1690A6-110A-43BD-B9DE-7BB86991C277}"/>
                  </a:ext>
                </a:extLst>
              </p:cNvPr>
              <p:cNvSpPr txBox="1"/>
              <p:nvPr/>
            </p:nvSpPr>
            <p:spPr>
              <a:xfrm>
                <a:off x="3384085" y="1849380"/>
                <a:ext cx="404664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sz="1600" dirty="0">
                    <a:latin typeface="Times New Roman" panose="02020603050405020304" pitchFamily="18" charset="0"/>
                    <a:ea typeface="宋体" panose="02010600030101010101" pitchFamily="2" charset="-122"/>
                    <a:cs typeface="Times New Roman" panose="02020603050405020304" pitchFamily="18" charset="0"/>
                  </a:rPr>
                  <a:t>…</a:t>
                </a:r>
                <a:endParaRPr lang="zh-CN" altLang="en-US" sz="1600" dirty="0"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endParaRPr>
              </a:p>
            </p:txBody>
          </p:sp>
        </p:grpSp>
        <p:sp>
          <p:nvSpPr>
            <p:cNvPr id="59" name="文本框 58">
              <a:extLst>
                <a:ext uri="{FF2B5EF4-FFF2-40B4-BE49-F238E27FC236}">
                  <a16:creationId xmlns:a16="http://schemas.microsoft.com/office/drawing/2014/main" id="{A5FAEA8F-A6D9-4028-BFAC-BF3D500F4682}"/>
                </a:ext>
              </a:extLst>
            </p:cNvPr>
            <p:cNvSpPr txBox="1"/>
            <p:nvPr/>
          </p:nvSpPr>
          <p:spPr>
            <a:xfrm>
              <a:off x="2798064" y="917459"/>
              <a:ext cx="1460217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zh-CN" altLang="en-US" sz="1600" dirty="0"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槽位数组</a:t>
              </a:r>
              <a:r>
                <a:rPr lang="en-US" altLang="zh-CN" sz="1600" dirty="0"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(     )</a:t>
              </a:r>
              <a:endPara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endParaRPr>
            </a:p>
          </p:txBody>
        </p:sp>
      </p:grpSp>
      <p:grpSp>
        <p:nvGrpSpPr>
          <p:cNvPr id="64" name="组合 63">
            <a:extLst>
              <a:ext uri="{FF2B5EF4-FFF2-40B4-BE49-F238E27FC236}">
                <a16:creationId xmlns:a16="http://schemas.microsoft.com/office/drawing/2014/main" id="{144A7A32-9963-48D7-9F29-C83419B70D1B}"/>
              </a:ext>
            </a:extLst>
          </p:cNvPr>
          <p:cNvGrpSpPr/>
          <p:nvPr/>
        </p:nvGrpSpPr>
        <p:grpSpPr>
          <a:xfrm>
            <a:off x="1092266" y="329598"/>
            <a:ext cx="2590394" cy="1335006"/>
            <a:chOff x="5729970" y="2678194"/>
            <a:chExt cx="2590394" cy="1335006"/>
          </a:xfrm>
        </p:grpSpPr>
        <p:grpSp>
          <p:nvGrpSpPr>
            <p:cNvPr id="33" name="组合 32">
              <a:extLst>
                <a:ext uri="{FF2B5EF4-FFF2-40B4-BE49-F238E27FC236}">
                  <a16:creationId xmlns:a16="http://schemas.microsoft.com/office/drawing/2014/main" id="{CCB9AFAD-27E2-4F49-AFC3-F121627AB55E}"/>
                </a:ext>
              </a:extLst>
            </p:cNvPr>
            <p:cNvGrpSpPr/>
            <p:nvPr/>
          </p:nvGrpSpPr>
          <p:grpSpPr>
            <a:xfrm>
              <a:off x="5729970" y="2678194"/>
              <a:ext cx="2590394" cy="1335006"/>
              <a:chOff x="2025605" y="931945"/>
              <a:chExt cx="2590394" cy="1335006"/>
            </a:xfrm>
          </p:grpSpPr>
          <p:grpSp>
            <p:nvGrpSpPr>
              <p:cNvPr id="34" name="组合 33">
                <a:extLst>
                  <a:ext uri="{FF2B5EF4-FFF2-40B4-BE49-F238E27FC236}">
                    <a16:creationId xmlns:a16="http://schemas.microsoft.com/office/drawing/2014/main" id="{3457CECA-DAFF-4D02-A5CD-10A9A3B66DBD}"/>
                  </a:ext>
                </a:extLst>
              </p:cNvPr>
              <p:cNvGrpSpPr/>
              <p:nvPr/>
            </p:nvGrpSpPr>
            <p:grpSpPr>
              <a:xfrm>
                <a:off x="2025605" y="931945"/>
                <a:ext cx="2590394" cy="1335006"/>
                <a:chOff x="3041643" y="523621"/>
                <a:chExt cx="2590394" cy="1335006"/>
              </a:xfrm>
            </p:grpSpPr>
            <p:cxnSp>
              <p:nvCxnSpPr>
                <p:cNvPr id="36" name="直接连接符 35">
                  <a:extLst>
                    <a:ext uri="{FF2B5EF4-FFF2-40B4-BE49-F238E27FC236}">
                      <a16:creationId xmlns:a16="http://schemas.microsoft.com/office/drawing/2014/main" id="{04B18D45-136B-4DFB-B963-971B119063A4}"/>
                    </a:ext>
                  </a:extLst>
                </p:cNvPr>
                <p:cNvCxnSpPr/>
                <p:nvPr/>
              </p:nvCxnSpPr>
              <p:spPr>
                <a:xfrm>
                  <a:off x="3041643" y="1375158"/>
                  <a:ext cx="2555118" cy="0"/>
                </a:xfrm>
                <a:prstGeom prst="line">
                  <a:avLst/>
                </a:prstGeom>
                <a:ln w="28575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grpSp>
              <p:nvGrpSpPr>
                <p:cNvPr id="37" name="组合 36">
                  <a:extLst>
                    <a:ext uri="{FF2B5EF4-FFF2-40B4-BE49-F238E27FC236}">
                      <a16:creationId xmlns:a16="http://schemas.microsoft.com/office/drawing/2014/main" id="{65997647-BEE7-4D77-A6AF-34DDD216743D}"/>
                    </a:ext>
                  </a:extLst>
                </p:cNvPr>
                <p:cNvGrpSpPr/>
                <p:nvPr/>
              </p:nvGrpSpPr>
              <p:grpSpPr>
                <a:xfrm>
                  <a:off x="3041643" y="523621"/>
                  <a:ext cx="2590394" cy="1335006"/>
                  <a:chOff x="3041643" y="523621"/>
                  <a:chExt cx="2590394" cy="1335006"/>
                </a:xfrm>
              </p:grpSpPr>
              <p:sp>
                <p:nvSpPr>
                  <p:cNvPr id="38" name="矩形 37">
                    <a:extLst>
                      <a:ext uri="{FF2B5EF4-FFF2-40B4-BE49-F238E27FC236}">
                        <a16:creationId xmlns:a16="http://schemas.microsoft.com/office/drawing/2014/main" id="{49787E65-B3CD-4E9A-97AA-0FE02C043D50}"/>
                      </a:ext>
                    </a:extLst>
                  </p:cNvPr>
                  <p:cNvSpPr/>
                  <p:nvPr/>
                </p:nvSpPr>
                <p:spPr>
                  <a:xfrm>
                    <a:off x="3041643" y="523621"/>
                    <a:ext cx="2555118" cy="1335006"/>
                  </a:xfrm>
                  <a:prstGeom prst="rect">
                    <a:avLst/>
                  </a:prstGeom>
                  <a:noFill/>
                  <a:ln w="28575"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 dirty="0"/>
                  </a:p>
                </p:txBody>
              </p:sp>
              <p:sp>
                <p:nvSpPr>
                  <p:cNvPr id="39" name="文本框 38">
                    <a:extLst>
                      <a:ext uri="{FF2B5EF4-FFF2-40B4-BE49-F238E27FC236}">
                        <a16:creationId xmlns:a16="http://schemas.microsoft.com/office/drawing/2014/main" id="{791303A7-A9AD-41F6-8B53-F9248487DE28}"/>
                      </a:ext>
                    </a:extLst>
                  </p:cNvPr>
                  <p:cNvSpPr txBox="1"/>
                  <p:nvPr/>
                </p:nvSpPr>
                <p:spPr>
                  <a:xfrm>
                    <a:off x="3100575" y="593470"/>
                    <a:ext cx="2531462" cy="369332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r>
                      <a:rPr lang="en-US" altLang="zh-CN" b="1" dirty="0">
                        <a:latin typeface="Times New Roman" panose="02020603050405020304" pitchFamily="18" charset="0"/>
                        <a:cs typeface="Times New Roman" panose="02020603050405020304" pitchFamily="18" charset="0"/>
                      </a:rPr>
                      <a:t>Function </a:t>
                    </a:r>
                    <a:r>
                      <a:rPr lang="en-US" altLang="zh-CN" b="1" dirty="0"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rPr>
                      <a:t>Object inner()</a:t>
                    </a:r>
                    <a:endParaRPr lang="zh-CN" altLang="en-US" b="1" dirty="0">
                      <a:latin typeface="Times New Roman" panose="02020603050405020304" pitchFamily="18" charset="0"/>
                      <a:ea typeface="宋体" panose="02010600030101010101" pitchFamily="2" charset="-122"/>
                      <a:cs typeface="Times New Roman" panose="02020603050405020304" pitchFamily="18" charset="0"/>
                    </a:endParaRPr>
                  </a:p>
                </p:txBody>
              </p:sp>
              <p:sp>
                <p:nvSpPr>
                  <p:cNvPr id="40" name="文本框 39">
                    <a:extLst>
                      <a:ext uri="{FF2B5EF4-FFF2-40B4-BE49-F238E27FC236}">
                        <a16:creationId xmlns:a16="http://schemas.microsoft.com/office/drawing/2014/main" id="{2B813025-9BC4-4550-AB28-75C1D1C331DD}"/>
                      </a:ext>
                    </a:extLst>
                  </p:cNvPr>
                  <p:cNvSpPr txBox="1"/>
                  <p:nvPr/>
                </p:nvSpPr>
                <p:spPr>
                  <a:xfrm>
                    <a:off x="3100575" y="1032652"/>
                    <a:ext cx="869952" cy="338554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r>
                      <a:rPr lang="en-US" altLang="zh-CN" sz="1600" dirty="0"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rPr>
                      <a:t>closures</a:t>
                    </a:r>
                    <a:endParaRPr lang="zh-CN" altLang="en-US" sz="1600" dirty="0">
                      <a:latin typeface="Times New Roman" panose="02020603050405020304" pitchFamily="18" charset="0"/>
                      <a:ea typeface="宋体" panose="02010600030101010101" pitchFamily="2" charset="-122"/>
                      <a:cs typeface="Times New Roman" panose="02020603050405020304" pitchFamily="18" charset="0"/>
                    </a:endParaRPr>
                  </a:p>
                </p:txBody>
              </p:sp>
              <p:sp>
                <p:nvSpPr>
                  <p:cNvPr id="41" name="文本框 40">
                    <a:extLst>
                      <a:ext uri="{FF2B5EF4-FFF2-40B4-BE49-F238E27FC236}">
                        <a16:creationId xmlns:a16="http://schemas.microsoft.com/office/drawing/2014/main" id="{3D205C62-5E1F-4ED4-8534-F6D0503C68B6}"/>
                      </a:ext>
                    </a:extLst>
                  </p:cNvPr>
                  <p:cNvSpPr txBox="1"/>
                  <p:nvPr/>
                </p:nvSpPr>
                <p:spPr>
                  <a:xfrm>
                    <a:off x="3100575" y="1441056"/>
                    <a:ext cx="404664" cy="338554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r>
                      <a:rPr lang="en-US" altLang="zh-CN" sz="1600" dirty="0"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rPr>
                      <a:t>…</a:t>
                    </a:r>
                    <a:endParaRPr lang="zh-CN" altLang="en-US" sz="1600" dirty="0">
                      <a:latin typeface="Times New Roman" panose="02020603050405020304" pitchFamily="18" charset="0"/>
                      <a:ea typeface="宋体" panose="02010600030101010101" pitchFamily="2" charset="-122"/>
                      <a:cs typeface="Times New Roman" panose="02020603050405020304" pitchFamily="18" charset="0"/>
                    </a:endParaRPr>
                  </a:p>
                </p:txBody>
              </p:sp>
              <p:cxnSp>
                <p:nvCxnSpPr>
                  <p:cNvPr id="42" name="直接连接符 41">
                    <a:extLst>
                      <a:ext uri="{FF2B5EF4-FFF2-40B4-BE49-F238E27FC236}">
                        <a16:creationId xmlns:a16="http://schemas.microsoft.com/office/drawing/2014/main" id="{17C57E02-B30B-456B-B183-27FF5525664B}"/>
                      </a:ext>
                    </a:extLst>
                  </p:cNvPr>
                  <p:cNvCxnSpPr/>
                  <p:nvPr/>
                </p:nvCxnSpPr>
                <p:spPr>
                  <a:xfrm>
                    <a:off x="3041643" y="962802"/>
                    <a:ext cx="2555118" cy="0"/>
                  </a:xfrm>
                  <a:prstGeom prst="line">
                    <a:avLst/>
                  </a:prstGeom>
                  <a:ln w="28575">
                    <a:solidFill>
                      <a:schemeClr val="tx1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43" name="直接连接符 42">
                    <a:extLst>
                      <a:ext uri="{FF2B5EF4-FFF2-40B4-BE49-F238E27FC236}">
                        <a16:creationId xmlns:a16="http://schemas.microsoft.com/office/drawing/2014/main" id="{7540B650-BA9B-4DBB-AD26-E787A838B4F8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4122351" y="962802"/>
                    <a:ext cx="0" cy="895825"/>
                  </a:xfrm>
                  <a:prstGeom prst="line">
                    <a:avLst/>
                  </a:prstGeom>
                  <a:ln w="28575">
                    <a:solidFill>
                      <a:schemeClr val="tx1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</p:grpSp>
          <p:sp>
            <p:nvSpPr>
              <p:cNvPr id="35" name="文本框 34">
                <a:extLst>
                  <a:ext uri="{FF2B5EF4-FFF2-40B4-BE49-F238E27FC236}">
                    <a16:creationId xmlns:a16="http://schemas.microsoft.com/office/drawing/2014/main" id="{929DD6A5-341F-41FE-B65D-BEF75BD175EE}"/>
                  </a:ext>
                </a:extLst>
              </p:cNvPr>
              <p:cNvSpPr txBox="1"/>
              <p:nvPr/>
            </p:nvSpPr>
            <p:spPr>
              <a:xfrm>
                <a:off x="3384085" y="1849380"/>
                <a:ext cx="404664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sz="1600" dirty="0">
                    <a:latin typeface="Times New Roman" panose="02020603050405020304" pitchFamily="18" charset="0"/>
                    <a:ea typeface="宋体" panose="02010600030101010101" pitchFamily="2" charset="-122"/>
                    <a:cs typeface="Times New Roman" panose="02020603050405020304" pitchFamily="18" charset="0"/>
                  </a:rPr>
                  <a:t>…</a:t>
                </a:r>
                <a:endParaRPr lang="zh-CN" altLang="en-US" sz="1600" dirty="0"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endParaRPr>
              </a:p>
            </p:txBody>
          </p:sp>
        </p:grpSp>
        <p:sp>
          <p:nvSpPr>
            <p:cNvPr id="44" name="文本框 43">
              <a:extLst>
                <a:ext uri="{FF2B5EF4-FFF2-40B4-BE49-F238E27FC236}">
                  <a16:creationId xmlns:a16="http://schemas.microsoft.com/office/drawing/2014/main" id="{8026012F-AEA4-41C1-BA44-8049312235FF}"/>
                </a:ext>
              </a:extLst>
            </p:cNvPr>
            <p:cNvSpPr txBox="1"/>
            <p:nvPr/>
          </p:nvSpPr>
          <p:spPr>
            <a:xfrm>
              <a:off x="6824867" y="3178615"/>
              <a:ext cx="1392935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sz="1600" dirty="0"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Tuple(      )</a:t>
              </a:r>
              <a:endPara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endParaRPr>
            </a:p>
          </p:txBody>
        </p:sp>
      </p:grpSp>
      <p:cxnSp>
        <p:nvCxnSpPr>
          <p:cNvPr id="111" name="连接符: 肘形 110">
            <a:extLst>
              <a:ext uri="{FF2B5EF4-FFF2-40B4-BE49-F238E27FC236}">
                <a16:creationId xmlns:a16="http://schemas.microsoft.com/office/drawing/2014/main" id="{192E5FCE-E107-4C0B-96E1-2FEDB8F0F53B}"/>
              </a:ext>
            </a:extLst>
          </p:cNvPr>
          <p:cNvCxnSpPr>
            <a:cxnSpLocks/>
            <a:endCxn id="60" idx="0"/>
          </p:cNvCxnSpPr>
          <p:nvPr/>
        </p:nvCxnSpPr>
        <p:spPr>
          <a:xfrm>
            <a:off x="2978150" y="1029297"/>
            <a:ext cx="2361358" cy="635309"/>
          </a:xfrm>
          <a:prstGeom prst="bentConnector2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3" name="连接符: 肘形 112">
            <a:extLst>
              <a:ext uri="{FF2B5EF4-FFF2-40B4-BE49-F238E27FC236}">
                <a16:creationId xmlns:a16="http://schemas.microsoft.com/office/drawing/2014/main" id="{0AD260BF-1192-4B69-8A76-C1958737F4D2}"/>
              </a:ext>
            </a:extLst>
          </p:cNvPr>
          <p:cNvCxnSpPr>
            <a:cxnSpLocks/>
            <a:endCxn id="60" idx="2"/>
          </p:cNvCxnSpPr>
          <p:nvPr/>
        </p:nvCxnSpPr>
        <p:spPr>
          <a:xfrm flipV="1">
            <a:off x="3225954" y="2390036"/>
            <a:ext cx="2113554" cy="1377532"/>
          </a:xfrm>
          <a:prstGeom prst="bentConnector2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箭头: 下 1">
            <a:extLst>
              <a:ext uri="{FF2B5EF4-FFF2-40B4-BE49-F238E27FC236}">
                <a16:creationId xmlns:a16="http://schemas.microsoft.com/office/drawing/2014/main" id="{3311EA72-26A1-485B-87D9-D354DE31D886}"/>
              </a:ext>
            </a:extLst>
          </p:cNvPr>
          <p:cNvSpPr/>
          <p:nvPr/>
        </p:nvSpPr>
        <p:spPr>
          <a:xfrm>
            <a:off x="1251121" y="1802452"/>
            <a:ext cx="2229070" cy="1162050"/>
          </a:xfrm>
          <a:prstGeom prst="downArrow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dirty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①</a:t>
            </a:r>
            <a:endParaRPr lang="en-US" altLang="zh-CN" dirty="0">
              <a:solidFill>
                <a:schemeClr val="tx1"/>
              </a:solidFill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  <a:p>
            <a:pPr algn="ctr"/>
            <a:r>
              <a:rPr lang="zh-CN" altLang="en-US" dirty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调用函数</a:t>
            </a:r>
            <a:endParaRPr lang="en-US" altLang="zh-CN" dirty="0">
              <a:solidFill>
                <a:schemeClr val="tx1"/>
              </a:solidFill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  <a:p>
            <a:pPr algn="ctr"/>
            <a:r>
              <a:rPr lang="zh-CN" altLang="en-US" dirty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创建栈帧</a:t>
            </a:r>
          </a:p>
        </p:txBody>
      </p:sp>
      <p:cxnSp>
        <p:nvCxnSpPr>
          <p:cNvPr id="15" name="连接符: 曲线 14">
            <a:extLst>
              <a:ext uri="{FF2B5EF4-FFF2-40B4-BE49-F238E27FC236}">
                <a16:creationId xmlns:a16="http://schemas.microsoft.com/office/drawing/2014/main" id="{36D1C2D5-6844-4FD3-AC5F-887297C7B823}"/>
              </a:ext>
            </a:extLst>
          </p:cNvPr>
          <p:cNvCxnSpPr>
            <a:cxnSpLocks/>
            <a:endCxn id="11" idx="1"/>
          </p:cNvCxnSpPr>
          <p:nvPr/>
        </p:nvCxnSpPr>
        <p:spPr>
          <a:xfrm rot="5400000" flipH="1" flipV="1">
            <a:off x="362658" y="4093125"/>
            <a:ext cx="1075965" cy="383252"/>
          </a:xfrm>
          <a:prstGeom prst="curvedConnector2">
            <a:avLst/>
          </a:prstGeom>
          <a:ln w="28575">
            <a:solidFill>
              <a:schemeClr val="tx1"/>
            </a:solidFill>
            <a:prstDash val="sys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文本框 23">
            <a:extLst>
              <a:ext uri="{FF2B5EF4-FFF2-40B4-BE49-F238E27FC236}">
                <a16:creationId xmlns:a16="http://schemas.microsoft.com/office/drawing/2014/main" id="{AC580924-B22B-4D02-B3D9-A074D9E71590}"/>
              </a:ext>
            </a:extLst>
          </p:cNvPr>
          <p:cNvSpPr txBox="1"/>
          <p:nvPr/>
        </p:nvSpPr>
        <p:spPr>
          <a:xfrm>
            <a:off x="479280" y="4822733"/>
            <a:ext cx="377275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b="1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③ </a:t>
            </a:r>
            <a:r>
              <a:rPr lang="en-US" altLang="zh-CN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LOAD_DEREF </a:t>
            </a:r>
            <a:r>
              <a:rPr lang="zh-CN" altLang="en-US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指令通过当前           </a:t>
            </a:r>
            <a:endParaRPr lang="en-US" altLang="zh-CN" dirty="0"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  <a:p>
            <a:r>
              <a:rPr lang="en-US" altLang="zh-CN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     </a:t>
            </a:r>
            <a:r>
              <a:rPr lang="zh-CN" altLang="en-US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栈帧的 </a:t>
            </a:r>
            <a:r>
              <a:rPr lang="en-US" altLang="zh-CN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localsplus </a:t>
            </a:r>
            <a:r>
              <a:rPr lang="zh-CN" altLang="en-US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访问单元对象。</a:t>
            </a:r>
          </a:p>
        </p:txBody>
      </p:sp>
      <p:sp>
        <p:nvSpPr>
          <p:cNvPr id="27" name="文本框 26">
            <a:extLst>
              <a:ext uri="{FF2B5EF4-FFF2-40B4-BE49-F238E27FC236}">
                <a16:creationId xmlns:a16="http://schemas.microsoft.com/office/drawing/2014/main" id="{8ECA5DC5-EC13-4AEA-A68B-7C016A81D1D4}"/>
              </a:ext>
            </a:extLst>
          </p:cNvPr>
          <p:cNvSpPr txBox="1"/>
          <p:nvPr/>
        </p:nvSpPr>
        <p:spPr>
          <a:xfrm>
            <a:off x="3706316" y="3890242"/>
            <a:ext cx="298658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② 通过 </a:t>
            </a:r>
            <a:r>
              <a:rPr lang="en-US" altLang="zh-CN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COPY_FREE_VARS  </a:t>
            </a:r>
          </a:p>
          <a:p>
            <a:r>
              <a:rPr lang="en-US" altLang="zh-CN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     </a:t>
            </a:r>
            <a:r>
              <a:rPr lang="zh-CN" altLang="en-US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指令持有。</a:t>
            </a:r>
          </a:p>
        </p:txBody>
      </p:sp>
      <p:sp>
        <p:nvSpPr>
          <p:cNvPr id="45" name="椭圆 44">
            <a:extLst>
              <a:ext uri="{FF2B5EF4-FFF2-40B4-BE49-F238E27FC236}">
                <a16:creationId xmlns:a16="http://schemas.microsoft.com/office/drawing/2014/main" id="{7CEEBB49-490E-4E64-B3B7-0903C2C4C24E}"/>
              </a:ext>
            </a:extLst>
          </p:cNvPr>
          <p:cNvSpPr/>
          <p:nvPr/>
        </p:nvSpPr>
        <p:spPr>
          <a:xfrm>
            <a:off x="2901617" y="964688"/>
            <a:ext cx="136566" cy="136566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7" name="椭圆 46">
            <a:extLst>
              <a:ext uri="{FF2B5EF4-FFF2-40B4-BE49-F238E27FC236}">
                <a16:creationId xmlns:a16="http://schemas.microsoft.com/office/drawing/2014/main" id="{4B0B1884-C611-44E2-88E9-EEE429895742}"/>
              </a:ext>
            </a:extLst>
          </p:cNvPr>
          <p:cNvSpPr/>
          <p:nvPr/>
        </p:nvSpPr>
        <p:spPr>
          <a:xfrm>
            <a:off x="3175484" y="3705727"/>
            <a:ext cx="136566" cy="136566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29698254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7" name="组合 56">
            <a:extLst>
              <a:ext uri="{FF2B5EF4-FFF2-40B4-BE49-F238E27FC236}">
                <a16:creationId xmlns:a16="http://schemas.microsoft.com/office/drawing/2014/main" id="{0F3A08F0-8EDF-4939-834E-87D674B6FBCC}"/>
              </a:ext>
            </a:extLst>
          </p:cNvPr>
          <p:cNvGrpSpPr/>
          <p:nvPr/>
        </p:nvGrpSpPr>
        <p:grpSpPr>
          <a:xfrm>
            <a:off x="2624436" y="703738"/>
            <a:ext cx="7684732" cy="5648675"/>
            <a:chOff x="1805039" y="1089686"/>
            <a:chExt cx="7684732" cy="5648675"/>
          </a:xfrm>
        </p:grpSpPr>
        <p:grpSp>
          <p:nvGrpSpPr>
            <p:cNvPr id="52" name="组合 51">
              <a:extLst>
                <a:ext uri="{FF2B5EF4-FFF2-40B4-BE49-F238E27FC236}">
                  <a16:creationId xmlns:a16="http://schemas.microsoft.com/office/drawing/2014/main" id="{F03AD0CD-7537-4AC3-A68B-4CAE18F4A97B}"/>
                </a:ext>
              </a:extLst>
            </p:cNvPr>
            <p:cNvGrpSpPr/>
            <p:nvPr/>
          </p:nvGrpSpPr>
          <p:grpSpPr>
            <a:xfrm>
              <a:off x="1805039" y="1089686"/>
              <a:ext cx="5907984" cy="5648675"/>
              <a:chOff x="1805039" y="1089686"/>
              <a:chExt cx="5907984" cy="5648675"/>
            </a:xfrm>
          </p:grpSpPr>
          <p:grpSp>
            <p:nvGrpSpPr>
              <p:cNvPr id="7" name="组合 6">
                <a:extLst>
                  <a:ext uri="{FF2B5EF4-FFF2-40B4-BE49-F238E27FC236}">
                    <a16:creationId xmlns:a16="http://schemas.microsoft.com/office/drawing/2014/main" id="{A107751B-7AB6-4C7B-87E1-66480F98E260}"/>
                  </a:ext>
                </a:extLst>
              </p:cNvPr>
              <p:cNvGrpSpPr/>
              <p:nvPr/>
            </p:nvGrpSpPr>
            <p:grpSpPr>
              <a:xfrm>
                <a:off x="1805048" y="6097980"/>
                <a:ext cx="5907975" cy="640381"/>
                <a:chOff x="1828798" y="5848598"/>
                <a:chExt cx="5907975" cy="640381"/>
              </a:xfrm>
            </p:grpSpPr>
            <p:sp>
              <p:nvSpPr>
                <p:cNvPr id="4" name="矩形 3">
                  <a:extLst>
                    <a:ext uri="{FF2B5EF4-FFF2-40B4-BE49-F238E27FC236}">
                      <a16:creationId xmlns:a16="http://schemas.microsoft.com/office/drawing/2014/main" id="{FD6CF64F-6E49-4714-B853-5217DB27FF22}"/>
                    </a:ext>
                  </a:extLst>
                </p:cNvPr>
                <p:cNvSpPr/>
                <p:nvPr/>
              </p:nvSpPr>
              <p:spPr>
                <a:xfrm>
                  <a:off x="1828798" y="5848598"/>
                  <a:ext cx="5907975" cy="640381"/>
                </a:xfrm>
                <a:prstGeom prst="rect">
                  <a:avLst/>
                </a:prstGeom>
                <a:noFill/>
                <a:ln w="28575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/>
                </a:p>
              </p:txBody>
            </p:sp>
            <p:sp>
              <p:nvSpPr>
                <p:cNvPr id="5" name="文本框 4">
                  <a:extLst>
                    <a:ext uri="{FF2B5EF4-FFF2-40B4-BE49-F238E27FC236}">
                      <a16:creationId xmlns:a16="http://schemas.microsoft.com/office/drawing/2014/main" id="{4823CEC3-BF6B-4843-909C-AFECE2D3FB89}"/>
                    </a:ext>
                  </a:extLst>
                </p:cNvPr>
                <p:cNvSpPr txBox="1"/>
                <p:nvPr/>
              </p:nvSpPr>
              <p:spPr>
                <a:xfrm>
                  <a:off x="3646095" y="5851567"/>
                  <a:ext cx="2273379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zh-CN" altLang="en-US" b="1" dirty="0">
                      <a:latin typeface="Times New Roman" panose="02020603050405020304" pitchFamily="18" charset="0"/>
                      <a:ea typeface="宋体" panose="02010600030101010101" pitchFamily="2" charset="-122"/>
                      <a:cs typeface="Times New Roman" panose="02020603050405020304" pitchFamily="18" charset="0"/>
                    </a:rPr>
                    <a:t>工具基础层（</a:t>
                  </a:r>
                  <a:r>
                    <a:rPr lang="en-US" altLang="zh-CN" b="1" dirty="0">
                      <a:latin typeface="Times New Roman" panose="02020603050405020304" pitchFamily="18" charset="0"/>
                      <a:ea typeface="宋体" panose="02010600030101010101" pitchFamily="2" charset="-122"/>
                      <a:cs typeface="Times New Roman" panose="02020603050405020304" pitchFamily="18" charset="0"/>
                    </a:rPr>
                    <a:t>Utils</a:t>
                  </a:r>
                  <a:r>
                    <a:rPr lang="zh-CN" altLang="en-US" b="1" dirty="0">
                      <a:latin typeface="Times New Roman" panose="02020603050405020304" pitchFamily="18" charset="0"/>
                      <a:ea typeface="宋体" panose="02010600030101010101" pitchFamily="2" charset="-122"/>
                      <a:cs typeface="Times New Roman" panose="02020603050405020304" pitchFamily="18" charset="0"/>
                    </a:rPr>
                    <a:t>）</a:t>
                  </a:r>
                </a:p>
              </p:txBody>
            </p:sp>
            <p:sp>
              <p:nvSpPr>
                <p:cNvPr id="6" name="文本框 5">
                  <a:extLst>
                    <a:ext uri="{FF2B5EF4-FFF2-40B4-BE49-F238E27FC236}">
                      <a16:creationId xmlns:a16="http://schemas.microsoft.com/office/drawing/2014/main" id="{CD04657F-8646-43AC-9EBD-92A483E7332C}"/>
                    </a:ext>
                  </a:extLst>
                </p:cNvPr>
                <p:cNvSpPr txBox="1"/>
                <p:nvPr/>
              </p:nvSpPr>
              <p:spPr>
                <a:xfrm>
                  <a:off x="3048976" y="6150425"/>
                  <a:ext cx="3467616" cy="338554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zh-CN" altLang="en-US" sz="1600" dirty="0">
                      <a:latin typeface="宋体" panose="02010600030101010101" pitchFamily="2" charset="-122"/>
                      <a:ea typeface="宋体" panose="02010600030101010101" pitchFamily="2" charset="-122"/>
                    </a:rPr>
                    <a:t>内存、容器、位操作等通用基础设施</a:t>
                  </a:r>
                </a:p>
              </p:txBody>
            </p:sp>
          </p:grpSp>
          <p:grpSp>
            <p:nvGrpSpPr>
              <p:cNvPr id="8" name="组合 7">
                <a:extLst>
                  <a:ext uri="{FF2B5EF4-FFF2-40B4-BE49-F238E27FC236}">
                    <a16:creationId xmlns:a16="http://schemas.microsoft.com/office/drawing/2014/main" id="{17743BF0-6C89-46ED-9A2A-95B2CE34D40F}"/>
                  </a:ext>
                </a:extLst>
              </p:cNvPr>
              <p:cNvGrpSpPr/>
              <p:nvPr/>
            </p:nvGrpSpPr>
            <p:grpSpPr>
              <a:xfrm>
                <a:off x="1805048" y="5274806"/>
                <a:ext cx="5907975" cy="649392"/>
                <a:chOff x="1828798" y="5848598"/>
                <a:chExt cx="5907975" cy="649392"/>
              </a:xfrm>
            </p:grpSpPr>
            <p:sp>
              <p:nvSpPr>
                <p:cNvPr id="9" name="矩形 8">
                  <a:extLst>
                    <a:ext uri="{FF2B5EF4-FFF2-40B4-BE49-F238E27FC236}">
                      <a16:creationId xmlns:a16="http://schemas.microsoft.com/office/drawing/2014/main" id="{76D3E8DB-BE94-41EC-9A90-70737011C509}"/>
                    </a:ext>
                  </a:extLst>
                </p:cNvPr>
                <p:cNvSpPr/>
                <p:nvPr/>
              </p:nvSpPr>
              <p:spPr>
                <a:xfrm>
                  <a:off x="1828798" y="5848598"/>
                  <a:ext cx="5907975" cy="640381"/>
                </a:xfrm>
                <a:prstGeom prst="rect">
                  <a:avLst/>
                </a:prstGeom>
                <a:noFill/>
                <a:ln w="28575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/>
                </a:p>
              </p:txBody>
            </p:sp>
            <p:sp>
              <p:nvSpPr>
                <p:cNvPr id="10" name="文本框 9">
                  <a:extLst>
                    <a:ext uri="{FF2B5EF4-FFF2-40B4-BE49-F238E27FC236}">
                      <a16:creationId xmlns:a16="http://schemas.microsoft.com/office/drawing/2014/main" id="{C8E1A3B9-2538-4FB4-A0BD-ACA78FB74222}"/>
                    </a:ext>
                  </a:extLst>
                </p:cNvPr>
                <p:cNvSpPr txBox="1"/>
                <p:nvPr/>
              </p:nvSpPr>
              <p:spPr>
                <a:xfrm>
                  <a:off x="3646095" y="5851567"/>
                  <a:ext cx="2105063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zh-CN" altLang="en-US" b="1" dirty="0">
                      <a:latin typeface="Times New Roman" panose="02020603050405020304" pitchFamily="18" charset="0"/>
                      <a:ea typeface="宋体" panose="02010600030101010101" pitchFamily="2" charset="-122"/>
                      <a:cs typeface="Times New Roman" panose="02020603050405020304" pitchFamily="18" charset="0"/>
                    </a:rPr>
                    <a:t>虚拟机堆（</a:t>
                  </a:r>
                  <a:r>
                    <a:rPr lang="en-US" altLang="zh-CN" b="1" dirty="0">
                      <a:latin typeface="Times New Roman" panose="02020603050405020304" pitchFamily="18" charset="0"/>
                      <a:ea typeface="宋体" panose="02010600030101010101" pitchFamily="2" charset="-122"/>
                      <a:cs typeface="Times New Roman" panose="02020603050405020304" pitchFamily="18" charset="0"/>
                    </a:rPr>
                    <a:t>Heap</a:t>
                  </a:r>
                  <a:r>
                    <a:rPr lang="zh-CN" altLang="en-US" b="1" dirty="0">
                      <a:latin typeface="Times New Roman" panose="02020603050405020304" pitchFamily="18" charset="0"/>
                      <a:ea typeface="宋体" panose="02010600030101010101" pitchFamily="2" charset="-122"/>
                      <a:cs typeface="Times New Roman" panose="02020603050405020304" pitchFamily="18" charset="0"/>
                    </a:rPr>
                    <a:t>）</a:t>
                  </a:r>
                </a:p>
              </p:txBody>
            </p:sp>
            <p:sp>
              <p:nvSpPr>
                <p:cNvPr id="11" name="文本框 10">
                  <a:extLst>
                    <a:ext uri="{FF2B5EF4-FFF2-40B4-BE49-F238E27FC236}">
                      <a16:creationId xmlns:a16="http://schemas.microsoft.com/office/drawing/2014/main" id="{858B5998-AA1E-44EB-8286-2E15B0EE75D8}"/>
                    </a:ext>
                  </a:extLst>
                </p:cNvPr>
                <p:cNvSpPr txBox="1"/>
                <p:nvPr/>
              </p:nvSpPr>
              <p:spPr>
                <a:xfrm>
                  <a:off x="2538419" y="6159436"/>
                  <a:ext cx="4488729" cy="338554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zh-CN" altLang="en-US" sz="1600" dirty="0">
                      <a:latin typeface="Times New Roman" panose="02020603050405020304" pitchFamily="18" charset="0"/>
                      <a:ea typeface="宋体" panose="02010600030101010101" pitchFamily="2" charset="-122"/>
                      <a:cs typeface="Times New Roman" panose="02020603050405020304" pitchFamily="18" charset="0"/>
                    </a:rPr>
                    <a:t>堆内存空间 </a:t>
                  </a:r>
                  <a:r>
                    <a:rPr lang="en-US" altLang="zh-CN" sz="1600" dirty="0">
                      <a:latin typeface="Times New Roman" panose="02020603050405020304" pitchFamily="18" charset="0"/>
                      <a:ea typeface="宋体" panose="02010600030101010101" pitchFamily="2" charset="-122"/>
                      <a:cs typeface="Times New Roman" panose="02020603050405020304" pitchFamily="18" charset="0"/>
                    </a:rPr>
                    <a:t>/ </a:t>
                  </a:r>
                  <a:r>
                    <a:rPr lang="zh-CN" altLang="en-US" sz="1600" dirty="0">
                      <a:latin typeface="Times New Roman" panose="02020603050405020304" pitchFamily="18" charset="0"/>
                      <a:ea typeface="宋体" panose="02010600030101010101" pitchFamily="2" charset="-122"/>
                      <a:cs typeface="Times New Roman" panose="02020603050405020304" pitchFamily="18" charset="0"/>
                    </a:rPr>
                    <a:t>堆内存分配</a:t>
                  </a:r>
                  <a:r>
                    <a:rPr lang="en-US" altLang="zh-CN" sz="1600" dirty="0">
                      <a:latin typeface="Times New Roman" panose="02020603050405020304" pitchFamily="18" charset="0"/>
                      <a:ea typeface="宋体" panose="02010600030101010101" pitchFamily="2" charset="-122"/>
                      <a:cs typeface="Times New Roman" panose="02020603050405020304" pitchFamily="18" charset="0"/>
                    </a:rPr>
                    <a:t> / </a:t>
                  </a:r>
                  <a:r>
                    <a:rPr lang="zh-CN" altLang="en-US" sz="1600" dirty="0">
                      <a:latin typeface="Times New Roman" panose="02020603050405020304" pitchFamily="18" charset="0"/>
                      <a:ea typeface="宋体" panose="02010600030101010101" pitchFamily="2" charset="-122"/>
                      <a:cs typeface="Times New Roman" panose="02020603050405020304" pitchFamily="18" charset="0"/>
                    </a:rPr>
                    <a:t>根集合扫描</a:t>
                  </a:r>
                  <a:r>
                    <a:rPr lang="en-US" altLang="zh-CN" sz="1600" dirty="0">
                      <a:latin typeface="Times New Roman" panose="02020603050405020304" pitchFamily="18" charset="0"/>
                      <a:ea typeface="宋体" panose="02010600030101010101" pitchFamily="2" charset="-122"/>
                      <a:cs typeface="Times New Roman" panose="02020603050405020304" pitchFamily="18" charset="0"/>
                    </a:rPr>
                    <a:t> / GC </a:t>
                  </a:r>
                  <a:r>
                    <a:rPr lang="zh-CN" altLang="en-US" sz="1600" dirty="0">
                      <a:latin typeface="Times New Roman" panose="02020603050405020304" pitchFamily="18" charset="0"/>
                      <a:ea typeface="宋体" panose="02010600030101010101" pitchFamily="2" charset="-122"/>
                      <a:cs typeface="Times New Roman" panose="02020603050405020304" pitchFamily="18" charset="0"/>
                    </a:rPr>
                    <a:t>机制</a:t>
                  </a:r>
                </a:p>
              </p:txBody>
            </p:sp>
          </p:grpSp>
          <p:grpSp>
            <p:nvGrpSpPr>
              <p:cNvPr id="12" name="组合 11">
                <a:extLst>
                  <a:ext uri="{FF2B5EF4-FFF2-40B4-BE49-F238E27FC236}">
                    <a16:creationId xmlns:a16="http://schemas.microsoft.com/office/drawing/2014/main" id="{467D0545-0E55-439B-AC25-B28BBB86B1F0}"/>
                  </a:ext>
                </a:extLst>
              </p:cNvPr>
              <p:cNvGrpSpPr/>
              <p:nvPr/>
            </p:nvGrpSpPr>
            <p:grpSpPr>
              <a:xfrm>
                <a:off x="1805045" y="4442621"/>
                <a:ext cx="5907975" cy="649392"/>
                <a:chOff x="1828798" y="5848598"/>
                <a:chExt cx="5907975" cy="649392"/>
              </a:xfrm>
            </p:grpSpPr>
            <p:sp>
              <p:nvSpPr>
                <p:cNvPr id="13" name="矩形 12">
                  <a:extLst>
                    <a:ext uri="{FF2B5EF4-FFF2-40B4-BE49-F238E27FC236}">
                      <a16:creationId xmlns:a16="http://schemas.microsoft.com/office/drawing/2014/main" id="{BC84C3F5-EEA8-4942-AB9D-122E1B9EEC1D}"/>
                    </a:ext>
                  </a:extLst>
                </p:cNvPr>
                <p:cNvSpPr/>
                <p:nvPr/>
              </p:nvSpPr>
              <p:spPr>
                <a:xfrm>
                  <a:off x="1828798" y="5848598"/>
                  <a:ext cx="5907975" cy="640381"/>
                </a:xfrm>
                <a:prstGeom prst="rect">
                  <a:avLst/>
                </a:prstGeom>
                <a:noFill/>
                <a:ln w="28575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/>
                </a:p>
              </p:txBody>
            </p:sp>
            <p:sp>
              <p:nvSpPr>
                <p:cNvPr id="14" name="文本框 13">
                  <a:extLst>
                    <a:ext uri="{FF2B5EF4-FFF2-40B4-BE49-F238E27FC236}">
                      <a16:creationId xmlns:a16="http://schemas.microsoft.com/office/drawing/2014/main" id="{557A7A9B-2414-4E87-BBA8-2184ED98D4D5}"/>
                    </a:ext>
                  </a:extLst>
                </p:cNvPr>
                <p:cNvSpPr txBox="1"/>
                <p:nvPr/>
              </p:nvSpPr>
              <p:spPr>
                <a:xfrm>
                  <a:off x="3472969" y="5863095"/>
                  <a:ext cx="2619628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zh-CN" altLang="en-US" b="1" dirty="0">
                      <a:latin typeface="Times New Roman" panose="02020603050405020304" pitchFamily="18" charset="0"/>
                      <a:ea typeface="宋体" panose="02010600030101010101" pitchFamily="2" charset="-122"/>
                      <a:cs typeface="Times New Roman" panose="02020603050405020304" pitchFamily="18" charset="0"/>
                    </a:rPr>
                    <a:t>句柄机制层（</a:t>
                  </a:r>
                  <a:r>
                    <a:rPr lang="en-US" altLang="zh-CN" b="1" dirty="0">
                      <a:latin typeface="Times New Roman" panose="02020603050405020304" pitchFamily="18" charset="0"/>
                      <a:ea typeface="宋体" panose="02010600030101010101" pitchFamily="2" charset="-122"/>
                      <a:cs typeface="Times New Roman" panose="02020603050405020304" pitchFamily="18" charset="0"/>
                    </a:rPr>
                    <a:t>Handles</a:t>
                  </a:r>
                  <a:r>
                    <a:rPr lang="zh-CN" altLang="en-US" b="1" dirty="0">
                      <a:latin typeface="Times New Roman" panose="02020603050405020304" pitchFamily="18" charset="0"/>
                      <a:ea typeface="宋体" panose="02010600030101010101" pitchFamily="2" charset="-122"/>
                      <a:cs typeface="Times New Roman" panose="02020603050405020304" pitchFamily="18" charset="0"/>
                    </a:rPr>
                    <a:t>）</a:t>
                  </a:r>
                </a:p>
              </p:txBody>
            </p:sp>
            <p:sp>
              <p:nvSpPr>
                <p:cNvPr id="15" name="文本框 14">
                  <a:extLst>
                    <a:ext uri="{FF2B5EF4-FFF2-40B4-BE49-F238E27FC236}">
                      <a16:creationId xmlns:a16="http://schemas.microsoft.com/office/drawing/2014/main" id="{FF1537E3-B8C2-496B-9DAC-1A018D8A758A}"/>
                    </a:ext>
                  </a:extLst>
                </p:cNvPr>
                <p:cNvSpPr txBox="1"/>
                <p:nvPr/>
              </p:nvSpPr>
              <p:spPr>
                <a:xfrm>
                  <a:off x="2313196" y="6159436"/>
                  <a:ext cx="4939173" cy="338554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zh-CN" altLang="en-US" sz="1600" dirty="0">
                      <a:latin typeface="Times New Roman" panose="02020603050405020304" pitchFamily="18" charset="0"/>
                      <a:ea typeface="宋体" panose="02010600030101010101" pitchFamily="2" charset="-122"/>
                      <a:cs typeface="Times New Roman" panose="02020603050405020304" pitchFamily="18" charset="0"/>
                    </a:rPr>
                    <a:t>为本地 </a:t>
                  </a:r>
                  <a:r>
                    <a:rPr lang="en-US" altLang="zh-CN" sz="1600" dirty="0">
                      <a:latin typeface="Times New Roman" panose="02020603050405020304" pitchFamily="18" charset="0"/>
                      <a:ea typeface="宋体" panose="02010600030101010101" pitchFamily="2" charset="-122"/>
                      <a:cs typeface="Times New Roman" panose="02020603050405020304" pitchFamily="18" charset="0"/>
                    </a:rPr>
                    <a:t>C++ </a:t>
                  </a:r>
                  <a:r>
                    <a:rPr lang="zh-CN" altLang="en-US" sz="1600" dirty="0">
                      <a:latin typeface="Times New Roman" panose="02020603050405020304" pitchFamily="18" charset="0"/>
                      <a:ea typeface="宋体" panose="02010600030101010101" pitchFamily="2" charset="-122"/>
                      <a:cs typeface="Times New Roman" panose="02020603050405020304" pitchFamily="18" charset="0"/>
                    </a:rPr>
                    <a:t>代码持有对象引用提供 </a:t>
                  </a:r>
                  <a:r>
                    <a:rPr lang="en-US" altLang="zh-CN" sz="1600" dirty="0">
                      <a:latin typeface="Times New Roman" panose="02020603050405020304" pitchFamily="18" charset="0"/>
                      <a:ea typeface="宋体" panose="02010600030101010101" pitchFamily="2" charset="-122"/>
                      <a:cs typeface="Times New Roman" panose="02020603050405020304" pitchFamily="18" charset="0"/>
                    </a:rPr>
                    <a:t>GC </a:t>
                  </a:r>
                  <a:r>
                    <a:rPr lang="zh-CN" altLang="en-US" sz="1600" dirty="0">
                      <a:latin typeface="Times New Roman" panose="02020603050405020304" pitchFamily="18" charset="0"/>
                      <a:ea typeface="宋体" panose="02010600030101010101" pitchFamily="2" charset="-122"/>
                      <a:cs typeface="Times New Roman" panose="02020603050405020304" pitchFamily="18" charset="0"/>
                    </a:rPr>
                    <a:t>安全的中间层</a:t>
                  </a:r>
                </a:p>
              </p:txBody>
            </p:sp>
          </p:grpSp>
          <p:grpSp>
            <p:nvGrpSpPr>
              <p:cNvPr id="16" name="组合 15">
                <a:extLst>
                  <a:ext uri="{FF2B5EF4-FFF2-40B4-BE49-F238E27FC236}">
                    <a16:creationId xmlns:a16="http://schemas.microsoft.com/office/drawing/2014/main" id="{99E3DA58-1EA5-45EF-AFEA-7965431DBA21}"/>
                  </a:ext>
                </a:extLst>
              </p:cNvPr>
              <p:cNvGrpSpPr/>
              <p:nvPr/>
            </p:nvGrpSpPr>
            <p:grpSpPr>
              <a:xfrm>
                <a:off x="1805041" y="3600466"/>
                <a:ext cx="5907975" cy="644887"/>
                <a:chOff x="1828798" y="5848598"/>
                <a:chExt cx="5907975" cy="644887"/>
              </a:xfrm>
            </p:grpSpPr>
            <p:sp>
              <p:nvSpPr>
                <p:cNvPr id="17" name="矩形 16">
                  <a:extLst>
                    <a:ext uri="{FF2B5EF4-FFF2-40B4-BE49-F238E27FC236}">
                      <a16:creationId xmlns:a16="http://schemas.microsoft.com/office/drawing/2014/main" id="{2D2EC834-6DE8-445A-94F4-6ACE67CF73F6}"/>
                    </a:ext>
                  </a:extLst>
                </p:cNvPr>
                <p:cNvSpPr/>
                <p:nvPr/>
              </p:nvSpPr>
              <p:spPr>
                <a:xfrm>
                  <a:off x="1828798" y="5848598"/>
                  <a:ext cx="5907975" cy="640381"/>
                </a:xfrm>
                <a:prstGeom prst="rect">
                  <a:avLst/>
                </a:prstGeom>
                <a:noFill/>
                <a:ln w="28575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/>
                </a:p>
              </p:txBody>
            </p:sp>
            <p:sp>
              <p:nvSpPr>
                <p:cNvPr id="18" name="文本框 17">
                  <a:extLst>
                    <a:ext uri="{FF2B5EF4-FFF2-40B4-BE49-F238E27FC236}">
                      <a16:creationId xmlns:a16="http://schemas.microsoft.com/office/drawing/2014/main" id="{1E41F107-F545-4FFE-BF1A-DEB054FFF2DF}"/>
                    </a:ext>
                  </a:extLst>
                </p:cNvPr>
                <p:cNvSpPr txBox="1"/>
                <p:nvPr/>
              </p:nvSpPr>
              <p:spPr>
                <a:xfrm>
                  <a:off x="3530685" y="5861722"/>
                  <a:ext cx="2335896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zh-CN" altLang="en-US" b="1" dirty="0">
                      <a:latin typeface="Times New Roman" panose="02020603050405020304" pitchFamily="18" charset="0"/>
                      <a:ea typeface="宋体" panose="02010600030101010101" pitchFamily="2" charset="-122"/>
                      <a:cs typeface="Times New Roman" panose="02020603050405020304" pitchFamily="18" charset="0"/>
                    </a:rPr>
                    <a:t>对象系统（</a:t>
                  </a:r>
                  <a:r>
                    <a:rPr lang="en-US" altLang="zh-CN" b="1" dirty="0">
                      <a:latin typeface="Times New Roman" panose="02020603050405020304" pitchFamily="18" charset="0"/>
                      <a:ea typeface="宋体" panose="02010600030101010101" pitchFamily="2" charset="-122"/>
                      <a:cs typeface="Times New Roman" panose="02020603050405020304" pitchFamily="18" charset="0"/>
                    </a:rPr>
                    <a:t>Objects</a:t>
                  </a:r>
                  <a:r>
                    <a:rPr lang="zh-CN" altLang="en-US" b="1" dirty="0">
                      <a:latin typeface="Times New Roman" panose="02020603050405020304" pitchFamily="18" charset="0"/>
                      <a:ea typeface="宋体" panose="02010600030101010101" pitchFamily="2" charset="-122"/>
                      <a:cs typeface="Times New Roman" panose="02020603050405020304" pitchFamily="18" charset="0"/>
                    </a:rPr>
                    <a:t>）</a:t>
                  </a:r>
                </a:p>
              </p:txBody>
            </p:sp>
            <p:sp>
              <p:nvSpPr>
                <p:cNvPr id="19" name="文本框 18">
                  <a:extLst>
                    <a:ext uri="{FF2B5EF4-FFF2-40B4-BE49-F238E27FC236}">
                      <a16:creationId xmlns:a16="http://schemas.microsoft.com/office/drawing/2014/main" id="{72AAFE40-177C-4941-9507-E8FC9B5DBFB2}"/>
                    </a:ext>
                  </a:extLst>
                </p:cNvPr>
                <p:cNvSpPr txBox="1"/>
                <p:nvPr/>
              </p:nvSpPr>
              <p:spPr>
                <a:xfrm>
                  <a:off x="2131263" y="6154931"/>
                  <a:ext cx="5134739" cy="338554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zh-CN" altLang="en-US" sz="1600" dirty="0">
                      <a:latin typeface="Times New Roman" panose="02020603050405020304" pitchFamily="18" charset="0"/>
                      <a:ea typeface="宋体" panose="02010600030101010101" pitchFamily="2" charset="-122"/>
                      <a:cs typeface="Times New Roman" panose="02020603050405020304" pitchFamily="18" charset="0"/>
                    </a:rPr>
                    <a:t>对象表示 </a:t>
                  </a:r>
                  <a:r>
                    <a:rPr lang="en-US" altLang="zh-CN" sz="1600" dirty="0">
                      <a:latin typeface="Times New Roman" panose="02020603050405020304" pitchFamily="18" charset="0"/>
                      <a:ea typeface="宋体" panose="02010600030101010101" pitchFamily="2" charset="-122"/>
                      <a:cs typeface="Times New Roman" panose="02020603050405020304" pitchFamily="18" charset="0"/>
                    </a:rPr>
                    <a:t>/ </a:t>
                  </a:r>
                  <a:r>
                    <a:rPr lang="zh-CN" altLang="en-US" sz="1600" dirty="0">
                      <a:latin typeface="Times New Roman" panose="02020603050405020304" pitchFamily="18" charset="0"/>
                      <a:ea typeface="宋体" panose="02010600030101010101" pitchFamily="2" charset="-122"/>
                      <a:cs typeface="Times New Roman" panose="02020603050405020304" pitchFamily="18" charset="0"/>
                    </a:rPr>
                    <a:t>类型元信息 </a:t>
                  </a:r>
                  <a:r>
                    <a:rPr lang="en-US" altLang="zh-CN" sz="1600" dirty="0">
                      <a:latin typeface="Times New Roman" panose="02020603050405020304" pitchFamily="18" charset="0"/>
                      <a:ea typeface="宋体" panose="02010600030101010101" pitchFamily="2" charset="-122"/>
                      <a:cs typeface="Times New Roman" panose="02020603050405020304" pitchFamily="18" charset="0"/>
                    </a:rPr>
                    <a:t>/ </a:t>
                  </a:r>
                  <a:r>
                    <a:rPr lang="zh-CN" altLang="en-US" sz="1600" dirty="0">
                      <a:latin typeface="Times New Roman" panose="02020603050405020304" pitchFamily="18" charset="0"/>
                      <a:ea typeface="宋体" panose="02010600030101010101" pitchFamily="2" charset="-122"/>
                      <a:cs typeface="Times New Roman" panose="02020603050405020304" pitchFamily="18" charset="0"/>
                    </a:rPr>
                    <a:t>属性查找 </a:t>
                  </a:r>
                  <a:r>
                    <a:rPr lang="en-US" altLang="zh-CN" sz="1600" dirty="0">
                      <a:latin typeface="Times New Roman" panose="02020603050405020304" pitchFamily="18" charset="0"/>
                      <a:ea typeface="宋体" panose="02010600030101010101" pitchFamily="2" charset="-122"/>
                      <a:cs typeface="Times New Roman" panose="02020603050405020304" pitchFamily="18" charset="0"/>
                    </a:rPr>
                    <a:t>/ </a:t>
                  </a:r>
                  <a:r>
                    <a:rPr lang="zh-CN" altLang="en-US" sz="1600" dirty="0">
                      <a:latin typeface="Times New Roman" panose="02020603050405020304" pitchFamily="18" charset="0"/>
                      <a:ea typeface="宋体" panose="02010600030101010101" pitchFamily="2" charset="-122"/>
                      <a:cs typeface="Times New Roman" panose="02020603050405020304" pitchFamily="18" charset="0"/>
                    </a:rPr>
                    <a:t>方法绑定 </a:t>
                  </a:r>
                  <a:r>
                    <a:rPr lang="en-US" altLang="zh-CN" sz="1600" dirty="0">
                      <a:latin typeface="Times New Roman" panose="02020603050405020304" pitchFamily="18" charset="0"/>
                      <a:ea typeface="宋体" panose="02010600030101010101" pitchFamily="2" charset="-122"/>
                      <a:cs typeface="Times New Roman" panose="02020603050405020304" pitchFamily="18" charset="0"/>
                    </a:rPr>
                    <a:t>/ </a:t>
                  </a:r>
                  <a:r>
                    <a:rPr lang="zh-CN" altLang="en-US" sz="1600" dirty="0">
                      <a:latin typeface="Times New Roman" panose="02020603050405020304" pitchFamily="18" charset="0"/>
                      <a:ea typeface="宋体" panose="02010600030101010101" pitchFamily="2" charset="-122"/>
                      <a:cs typeface="Times New Roman" panose="02020603050405020304" pitchFamily="18" charset="0"/>
                    </a:rPr>
                    <a:t>多态分派</a:t>
                  </a:r>
                </a:p>
              </p:txBody>
            </p:sp>
          </p:grpSp>
          <p:grpSp>
            <p:nvGrpSpPr>
              <p:cNvPr id="43" name="组合 42">
                <a:extLst>
                  <a:ext uri="{FF2B5EF4-FFF2-40B4-BE49-F238E27FC236}">
                    <a16:creationId xmlns:a16="http://schemas.microsoft.com/office/drawing/2014/main" id="{A7F742D4-89C3-41BC-B36B-4BD6C9A6DA60}"/>
                  </a:ext>
                </a:extLst>
              </p:cNvPr>
              <p:cNvGrpSpPr/>
              <p:nvPr/>
            </p:nvGrpSpPr>
            <p:grpSpPr>
              <a:xfrm>
                <a:off x="1805041" y="2750567"/>
                <a:ext cx="5907975" cy="659194"/>
                <a:chOff x="1805040" y="2678841"/>
                <a:chExt cx="5907975" cy="659194"/>
              </a:xfrm>
            </p:grpSpPr>
            <p:sp>
              <p:nvSpPr>
                <p:cNvPr id="21" name="矩形 20">
                  <a:extLst>
                    <a:ext uri="{FF2B5EF4-FFF2-40B4-BE49-F238E27FC236}">
                      <a16:creationId xmlns:a16="http://schemas.microsoft.com/office/drawing/2014/main" id="{9D0FE972-ACB5-47E4-9CF7-4473755617B5}"/>
                    </a:ext>
                  </a:extLst>
                </p:cNvPr>
                <p:cNvSpPr/>
                <p:nvPr/>
              </p:nvSpPr>
              <p:spPr>
                <a:xfrm>
                  <a:off x="1805040" y="2697654"/>
                  <a:ext cx="5907975" cy="640381"/>
                </a:xfrm>
                <a:prstGeom prst="rect">
                  <a:avLst/>
                </a:prstGeom>
                <a:noFill/>
                <a:ln w="28575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/>
                </a:p>
              </p:txBody>
            </p:sp>
            <p:cxnSp>
              <p:nvCxnSpPr>
                <p:cNvPr id="25" name="直接连接符 24">
                  <a:extLst>
                    <a:ext uri="{FF2B5EF4-FFF2-40B4-BE49-F238E27FC236}">
                      <a16:creationId xmlns:a16="http://schemas.microsoft.com/office/drawing/2014/main" id="{12BB2464-A78B-4103-AB0B-2569F9F11AF6}"/>
                    </a:ext>
                  </a:extLst>
                </p:cNvPr>
                <p:cNvCxnSpPr>
                  <a:stCxn id="21" idx="0"/>
                  <a:endCxn id="21" idx="2"/>
                </p:cNvCxnSpPr>
                <p:nvPr/>
              </p:nvCxnSpPr>
              <p:spPr>
                <a:xfrm>
                  <a:off x="4759028" y="2697654"/>
                  <a:ext cx="0" cy="640381"/>
                </a:xfrm>
                <a:prstGeom prst="line">
                  <a:avLst/>
                </a:prstGeom>
                <a:ln w="28575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30" name="直接连接符 29">
                  <a:extLst>
                    <a:ext uri="{FF2B5EF4-FFF2-40B4-BE49-F238E27FC236}">
                      <a16:creationId xmlns:a16="http://schemas.microsoft.com/office/drawing/2014/main" id="{9BEDB8E8-44F1-41C8-9290-10AAAD9AECE4}"/>
                    </a:ext>
                  </a:extLst>
                </p:cNvPr>
                <p:cNvCxnSpPr/>
                <p:nvPr/>
              </p:nvCxnSpPr>
              <p:spPr>
                <a:xfrm>
                  <a:off x="3282035" y="2697654"/>
                  <a:ext cx="0" cy="640381"/>
                </a:xfrm>
                <a:prstGeom prst="line">
                  <a:avLst/>
                </a:prstGeom>
                <a:ln w="28575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31" name="文本框 30">
                  <a:extLst>
                    <a:ext uri="{FF2B5EF4-FFF2-40B4-BE49-F238E27FC236}">
                      <a16:creationId xmlns:a16="http://schemas.microsoft.com/office/drawing/2014/main" id="{25615C3B-8858-45CA-9303-0444335E5846}"/>
                    </a:ext>
                  </a:extLst>
                </p:cNvPr>
                <p:cNvSpPr txBox="1"/>
                <p:nvPr/>
              </p:nvSpPr>
              <p:spPr>
                <a:xfrm>
                  <a:off x="1998557" y="2703145"/>
                  <a:ext cx="1043876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altLang="zh-CN" b="1" dirty="0">
                      <a:latin typeface="Times New Roman" panose="02020603050405020304" pitchFamily="18" charset="0"/>
                      <a:ea typeface="宋体" panose="02010600030101010101" pitchFamily="2" charset="-122"/>
                      <a:cs typeface="Times New Roman" panose="02020603050405020304" pitchFamily="18" charset="0"/>
                    </a:rPr>
                    <a:t>Runtime</a:t>
                  </a:r>
                  <a:endParaRPr lang="zh-CN" altLang="en-US" b="1" dirty="0">
                    <a:latin typeface="Times New Roman" panose="02020603050405020304" pitchFamily="18" charset="0"/>
                    <a:ea typeface="宋体" panose="02010600030101010101" pitchFamily="2" charset="-122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32" name="文本框 31">
                  <a:extLst>
                    <a:ext uri="{FF2B5EF4-FFF2-40B4-BE49-F238E27FC236}">
                      <a16:creationId xmlns:a16="http://schemas.microsoft.com/office/drawing/2014/main" id="{005B4467-AA2E-4CE5-9A5A-CC3B4DF350A1}"/>
                    </a:ext>
                  </a:extLst>
                </p:cNvPr>
                <p:cNvSpPr txBox="1"/>
                <p:nvPr/>
              </p:nvSpPr>
              <p:spPr>
                <a:xfrm>
                  <a:off x="1942251" y="2980556"/>
                  <a:ext cx="1202573" cy="338554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zh-CN" altLang="en-US" sz="1600" dirty="0">
                      <a:latin typeface="Times New Roman" panose="02020603050405020304" pitchFamily="18" charset="0"/>
                      <a:ea typeface="宋体" panose="02010600030101010101" pitchFamily="2" charset="-122"/>
                      <a:cs typeface="Times New Roman" panose="02020603050405020304" pitchFamily="18" charset="0"/>
                    </a:rPr>
                    <a:t>运行时语义</a:t>
                  </a:r>
                </a:p>
              </p:txBody>
            </p:sp>
            <p:sp>
              <p:nvSpPr>
                <p:cNvPr id="33" name="文本框 32">
                  <a:extLst>
                    <a:ext uri="{FF2B5EF4-FFF2-40B4-BE49-F238E27FC236}">
                      <a16:creationId xmlns:a16="http://schemas.microsoft.com/office/drawing/2014/main" id="{3A35A509-39B2-4DD6-888A-A2948CC0DDFB}"/>
                    </a:ext>
                  </a:extLst>
                </p:cNvPr>
                <p:cNvSpPr txBox="1"/>
                <p:nvPr/>
              </p:nvSpPr>
              <p:spPr>
                <a:xfrm>
                  <a:off x="3543478" y="2697654"/>
                  <a:ext cx="954107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altLang="zh-CN" b="1" dirty="0">
                      <a:latin typeface="Times New Roman" panose="02020603050405020304" pitchFamily="18" charset="0"/>
                      <a:ea typeface="宋体" panose="02010600030101010101" pitchFamily="2" charset="-122"/>
                      <a:cs typeface="Times New Roman" panose="02020603050405020304" pitchFamily="18" charset="0"/>
                    </a:rPr>
                    <a:t>Builtins</a:t>
                  </a:r>
                  <a:endParaRPr lang="zh-CN" altLang="en-US" b="1" dirty="0">
                    <a:latin typeface="Times New Roman" panose="02020603050405020304" pitchFamily="18" charset="0"/>
                    <a:ea typeface="宋体" panose="02010600030101010101" pitchFamily="2" charset="-122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34" name="文本框 33">
                  <a:extLst>
                    <a:ext uri="{FF2B5EF4-FFF2-40B4-BE49-F238E27FC236}">
                      <a16:creationId xmlns:a16="http://schemas.microsoft.com/office/drawing/2014/main" id="{A7F499B5-12A3-4956-8122-3B8F89748721}"/>
                    </a:ext>
                  </a:extLst>
                </p:cNvPr>
                <p:cNvSpPr txBox="1"/>
                <p:nvPr/>
              </p:nvSpPr>
              <p:spPr>
                <a:xfrm>
                  <a:off x="3517829" y="2980556"/>
                  <a:ext cx="1005403" cy="338554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zh-CN" altLang="en-US" sz="1600" dirty="0">
                      <a:latin typeface="Times New Roman" panose="02020603050405020304" pitchFamily="18" charset="0"/>
                      <a:ea typeface="宋体" panose="02010600030101010101" pitchFamily="2" charset="-122"/>
                      <a:cs typeface="Times New Roman" panose="02020603050405020304" pitchFamily="18" charset="0"/>
                    </a:rPr>
                    <a:t>内建能力</a:t>
                  </a:r>
                </a:p>
              </p:txBody>
            </p:sp>
            <p:cxnSp>
              <p:nvCxnSpPr>
                <p:cNvPr id="36" name="直接连接符 35">
                  <a:extLst>
                    <a:ext uri="{FF2B5EF4-FFF2-40B4-BE49-F238E27FC236}">
                      <a16:creationId xmlns:a16="http://schemas.microsoft.com/office/drawing/2014/main" id="{0B5C0000-34B3-4D50-84CD-94F503B5A107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6236021" y="2678841"/>
                  <a:ext cx="0" cy="659194"/>
                </a:xfrm>
                <a:prstGeom prst="line">
                  <a:avLst/>
                </a:prstGeom>
                <a:ln w="28575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38" name="文本框 37">
                  <a:extLst>
                    <a:ext uri="{FF2B5EF4-FFF2-40B4-BE49-F238E27FC236}">
                      <a16:creationId xmlns:a16="http://schemas.microsoft.com/office/drawing/2014/main" id="{63DAF521-DA27-4C2D-A9B1-5FA6102E6603}"/>
                    </a:ext>
                  </a:extLst>
                </p:cNvPr>
                <p:cNvSpPr txBox="1"/>
                <p:nvPr/>
              </p:nvSpPr>
              <p:spPr>
                <a:xfrm>
                  <a:off x="4981999" y="2688643"/>
                  <a:ext cx="1031051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altLang="zh-CN" b="1" dirty="0">
                      <a:latin typeface="Times New Roman" panose="02020603050405020304" pitchFamily="18" charset="0"/>
                      <a:ea typeface="宋体" panose="02010600030101010101" pitchFamily="2" charset="-122"/>
                      <a:cs typeface="Times New Roman" panose="02020603050405020304" pitchFamily="18" charset="0"/>
                    </a:rPr>
                    <a:t>Modules</a:t>
                  </a:r>
                  <a:endParaRPr lang="zh-CN" altLang="en-US" b="1" dirty="0">
                    <a:latin typeface="Times New Roman" panose="02020603050405020304" pitchFamily="18" charset="0"/>
                    <a:ea typeface="宋体" panose="02010600030101010101" pitchFamily="2" charset="-122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39" name="文本框 38">
                  <a:extLst>
                    <a:ext uri="{FF2B5EF4-FFF2-40B4-BE49-F238E27FC236}">
                      <a16:creationId xmlns:a16="http://schemas.microsoft.com/office/drawing/2014/main" id="{D9604607-243D-4593-8101-332CA9663CE8}"/>
                    </a:ext>
                  </a:extLst>
                </p:cNvPr>
                <p:cNvSpPr txBox="1"/>
                <p:nvPr/>
              </p:nvSpPr>
              <p:spPr>
                <a:xfrm>
                  <a:off x="4892231" y="2984600"/>
                  <a:ext cx="1210588" cy="338554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zh-CN" altLang="en-US" sz="1600" dirty="0">
                      <a:latin typeface="Times New Roman" panose="02020603050405020304" pitchFamily="18" charset="0"/>
                      <a:ea typeface="宋体" panose="02010600030101010101" pitchFamily="2" charset="-122"/>
                      <a:cs typeface="Times New Roman" panose="02020603050405020304" pitchFamily="18" charset="0"/>
                    </a:rPr>
                    <a:t>模块子系统</a:t>
                  </a:r>
                </a:p>
              </p:txBody>
            </p:sp>
            <p:sp>
              <p:nvSpPr>
                <p:cNvPr id="40" name="文本框 39">
                  <a:extLst>
                    <a:ext uri="{FF2B5EF4-FFF2-40B4-BE49-F238E27FC236}">
                      <a16:creationId xmlns:a16="http://schemas.microsoft.com/office/drawing/2014/main" id="{04D4355F-F497-478F-8A1A-2A53510086D3}"/>
                    </a:ext>
                  </a:extLst>
                </p:cNvPr>
                <p:cNvSpPr txBox="1"/>
                <p:nvPr/>
              </p:nvSpPr>
              <p:spPr>
                <a:xfrm>
                  <a:off x="6625704" y="2685935"/>
                  <a:ext cx="697627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altLang="zh-CN" b="1" dirty="0">
                      <a:latin typeface="Times New Roman" panose="02020603050405020304" pitchFamily="18" charset="0"/>
                      <a:ea typeface="宋体" panose="02010600030101010101" pitchFamily="2" charset="-122"/>
                      <a:cs typeface="Times New Roman" panose="02020603050405020304" pitchFamily="18" charset="0"/>
                    </a:rPr>
                    <a:t>Code</a:t>
                  </a:r>
                  <a:endParaRPr lang="zh-CN" altLang="en-US" b="1" dirty="0">
                    <a:latin typeface="Times New Roman" panose="02020603050405020304" pitchFamily="18" charset="0"/>
                    <a:ea typeface="宋体" panose="02010600030101010101" pitchFamily="2" charset="-122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41" name="文本框 40">
                  <a:extLst>
                    <a:ext uri="{FF2B5EF4-FFF2-40B4-BE49-F238E27FC236}">
                      <a16:creationId xmlns:a16="http://schemas.microsoft.com/office/drawing/2014/main" id="{2971FE4E-11B1-4DE7-8793-3D85D246F2F4}"/>
                    </a:ext>
                  </a:extLst>
                </p:cNvPr>
                <p:cNvSpPr txBox="1"/>
                <p:nvPr/>
              </p:nvSpPr>
              <p:spPr>
                <a:xfrm>
                  <a:off x="6266632" y="2984717"/>
                  <a:ext cx="1415772" cy="338554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zh-CN" altLang="en-US" sz="1600" dirty="0">
                      <a:latin typeface="Times New Roman" panose="02020603050405020304" pitchFamily="18" charset="0"/>
                      <a:ea typeface="宋体" panose="02010600030101010101" pitchFamily="2" charset="-122"/>
                      <a:cs typeface="Times New Roman" panose="02020603050405020304" pitchFamily="18" charset="0"/>
                    </a:rPr>
                    <a:t>代码装载前端</a:t>
                  </a:r>
                </a:p>
              </p:txBody>
            </p:sp>
          </p:grpSp>
          <p:grpSp>
            <p:nvGrpSpPr>
              <p:cNvPr id="44" name="组合 43">
                <a:extLst>
                  <a:ext uri="{FF2B5EF4-FFF2-40B4-BE49-F238E27FC236}">
                    <a16:creationId xmlns:a16="http://schemas.microsoft.com/office/drawing/2014/main" id="{505BA67D-F27B-49A8-B5FC-DE409298DAFE}"/>
                  </a:ext>
                </a:extLst>
              </p:cNvPr>
              <p:cNvGrpSpPr/>
              <p:nvPr/>
            </p:nvGrpSpPr>
            <p:grpSpPr>
              <a:xfrm>
                <a:off x="1805041" y="1929533"/>
                <a:ext cx="5907975" cy="645335"/>
                <a:chOff x="1828798" y="5848598"/>
                <a:chExt cx="5907975" cy="645335"/>
              </a:xfrm>
            </p:grpSpPr>
            <p:sp>
              <p:nvSpPr>
                <p:cNvPr id="45" name="矩形 44">
                  <a:extLst>
                    <a:ext uri="{FF2B5EF4-FFF2-40B4-BE49-F238E27FC236}">
                      <a16:creationId xmlns:a16="http://schemas.microsoft.com/office/drawing/2014/main" id="{EEE11833-D992-4BAA-ACFE-38C52B5A4FAD}"/>
                    </a:ext>
                  </a:extLst>
                </p:cNvPr>
                <p:cNvSpPr/>
                <p:nvPr/>
              </p:nvSpPr>
              <p:spPr>
                <a:xfrm>
                  <a:off x="1828798" y="5848598"/>
                  <a:ext cx="5907975" cy="640381"/>
                </a:xfrm>
                <a:prstGeom prst="rect">
                  <a:avLst/>
                </a:prstGeom>
                <a:noFill/>
                <a:ln w="28575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/>
                </a:p>
              </p:txBody>
            </p:sp>
            <p:sp>
              <p:nvSpPr>
                <p:cNvPr id="46" name="文本框 45">
                  <a:extLst>
                    <a:ext uri="{FF2B5EF4-FFF2-40B4-BE49-F238E27FC236}">
                      <a16:creationId xmlns:a16="http://schemas.microsoft.com/office/drawing/2014/main" id="{D97CC7B9-C80E-4926-8B8D-118561C288A3}"/>
                    </a:ext>
                  </a:extLst>
                </p:cNvPr>
                <p:cNvSpPr txBox="1"/>
                <p:nvPr/>
              </p:nvSpPr>
              <p:spPr>
                <a:xfrm>
                  <a:off x="3427921" y="5858203"/>
                  <a:ext cx="3155672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zh-CN" altLang="en-US" b="1" dirty="0">
                      <a:latin typeface="Times New Roman" panose="02020603050405020304" pitchFamily="18" charset="0"/>
                      <a:ea typeface="宋体" panose="02010600030101010101" pitchFamily="2" charset="-122"/>
                      <a:cs typeface="Times New Roman" panose="02020603050405020304" pitchFamily="18" charset="0"/>
                    </a:rPr>
                    <a:t>字节码解释器（</a:t>
                  </a:r>
                  <a:r>
                    <a:rPr lang="en-US" altLang="zh-CN" b="1" dirty="0">
                      <a:latin typeface="Times New Roman" panose="02020603050405020304" pitchFamily="18" charset="0"/>
                      <a:ea typeface="宋体" panose="02010600030101010101" pitchFamily="2" charset="-122"/>
                      <a:cs typeface="Times New Roman" panose="02020603050405020304" pitchFamily="18" charset="0"/>
                    </a:rPr>
                    <a:t>Interpreter</a:t>
                  </a:r>
                  <a:r>
                    <a:rPr lang="zh-CN" altLang="en-US" b="1" dirty="0">
                      <a:latin typeface="Times New Roman" panose="02020603050405020304" pitchFamily="18" charset="0"/>
                      <a:ea typeface="宋体" panose="02010600030101010101" pitchFamily="2" charset="-122"/>
                      <a:cs typeface="Times New Roman" panose="02020603050405020304" pitchFamily="18" charset="0"/>
                    </a:rPr>
                    <a:t>）</a:t>
                  </a:r>
                </a:p>
              </p:txBody>
            </p:sp>
            <p:sp>
              <p:nvSpPr>
                <p:cNvPr id="47" name="文本框 46">
                  <a:extLst>
                    <a:ext uri="{FF2B5EF4-FFF2-40B4-BE49-F238E27FC236}">
                      <a16:creationId xmlns:a16="http://schemas.microsoft.com/office/drawing/2014/main" id="{003E4A99-75E6-401A-873E-579985A485D4}"/>
                    </a:ext>
                  </a:extLst>
                </p:cNvPr>
                <p:cNvSpPr txBox="1"/>
                <p:nvPr/>
              </p:nvSpPr>
              <p:spPr>
                <a:xfrm>
                  <a:off x="2215415" y="6155379"/>
                  <a:ext cx="5134739" cy="338554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zh-CN" altLang="en-US" sz="1600" dirty="0">
                      <a:latin typeface="Times New Roman" panose="02020603050405020304" pitchFamily="18" charset="0"/>
                      <a:ea typeface="宋体" panose="02010600030101010101" pitchFamily="2" charset="-122"/>
                      <a:cs typeface="Times New Roman" panose="02020603050405020304" pitchFamily="18" charset="0"/>
                    </a:rPr>
                    <a:t>字节码指令分派 </a:t>
                  </a:r>
                  <a:r>
                    <a:rPr lang="en-US" altLang="zh-CN" sz="1600" dirty="0">
                      <a:latin typeface="Times New Roman" panose="02020603050405020304" pitchFamily="18" charset="0"/>
                      <a:ea typeface="宋体" panose="02010600030101010101" pitchFamily="2" charset="-122"/>
                      <a:cs typeface="Times New Roman" panose="02020603050405020304" pitchFamily="18" charset="0"/>
                    </a:rPr>
                    <a:t>/ </a:t>
                  </a:r>
                  <a:r>
                    <a:rPr lang="zh-CN" altLang="en-US" sz="1600" dirty="0">
                      <a:latin typeface="Times New Roman" panose="02020603050405020304" pitchFamily="18" charset="0"/>
                      <a:ea typeface="宋体" panose="02010600030101010101" pitchFamily="2" charset="-122"/>
                      <a:cs typeface="Times New Roman" panose="02020603050405020304" pitchFamily="18" charset="0"/>
                    </a:rPr>
                    <a:t>栈帧管理 </a:t>
                  </a:r>
                  <a:r>
                    <a:rPr lang="en-US" altLang="zh-CN" sz="1600" dirty="0">
                      <a:latin typeface="Times New Roman" panose="02020603050405020304" pitchFamily="18" charset="0"/>
                      <a:ea typeface="宋体" panose="02010600030101010101" pitchFamily="2" charset="-122"/>
                      <a:cs typeface="Times New Roman" panose="02020603050405020304" pitchFamily="18" charset="0"/>
                    </a:rPr>
                    <a:t>/ </a:t>
                  </a:r>
                  <a:r>
                    <a:rPr lang="zh-CN" altLang="en-US" sz="1600" dirty="0">
                      <a:latin typeface="Times New Roman" panose="02020603050405020304" pitchFamily="18" charset="0"/>
                      <a:ea typeface="宋体" panose="02010600030101010101" pitchFamily="2" charset="-122"/>
                      <a:cs typeface="Times New Roman" panose="02020603050405020304" pitchFamily="18" charset="0"/>
                    </a:rPr>
                    <a:t>函数调用 </a:t>
                  </a:r>
                  <a:r>
                    <a:rPr lang="en-US" altLang="zh-CN" sz="1600" dirty="0">
                      <a:latin typeface="Times New Roman" panose="02020603050405020304" pitchFamily="18" charset="0"/>
                      <a:ea typeface="宋体" panose="02010600030101010101" pitchFamily="2" charset="-122"/>
                      <a:cs typeface="Times New Roman" panose="02020603050405020304" pitchFamily="18" charset="0"/>
                    </a:rPr>
                    <a:t>/ </a:t>
                  </a:r>
                  <a:r>
                    <a:rPr lang="zh-CN" altLang="en-US" sz="1600" dirty="0">
                      <a:latin typeface="Times New Roman" panose="02020603050405020304" pitchFamily="18" charset="0"/>
                      <a:ea typeface="宋体" panose="02010600030101010101" pitchFamily="2" charset="-122"/>
                      <a:cs typeface="Times New Roman" panose="02020603050405020304" pitchFamily="18" charset="0"/>
                    </a:rPr>
                    <a:t>闭包 </a:t>
                  </a:r>
                  <a:r>
                    <a:rPr lang="en-US" altLang="zh-CN" sz="1600" dirty="0">
                      <a:latin typeface="Times New Roman" panose="02020603050405020304" pitchFamily="18" charset="0"/>
                      <a:ea typeface="宋体" panose="02010600030101010101" pitchFamily="2" charset="-122"/>
                      <a:cs typeface="Times New Roman" panose="02020603050405020304" pitchFamily="18" charset="0"/>
                    </a:rPr>
                    <a:t>/ </a:t>
                  </a:r>
                  <a:r>
                    <a:rPr lang="zh-CN" altLang="en-US" sz="1600" dirty="0">
                      <a:latin typeface="Times New Roman" panose="02020603050405020304" pitchFamily="18" charset="0"/>
                      <a:ea typeface="宋体" panose="02010600030101010101" pitchFamily="2" charset="-122"/>
                      <a:cs typeface="Times New Roman" panose="02020603050405020304" pitchFamily="18" charset="0"/>
                    </a:rPr>
                    <a:t>异常处理</a:t>
                  </a:r>
                </a:p>
              </p:txBody>
            </p:sp>
          </p:grpSp>
          <p:grpSp>
            <p:nvGrpSpPr>
              <p:cNvPr id="48" name="组合 47">
                <a:extLst>
                  <a:ext uri="{FF2B5EF4-FFF2-40B4-BE49-F238E27FC236}">
                    <a16:creationId xmlns:a16="http://schemas.microsoft.com/office/drawing/2014/main" id="{BC3F984C-1732-463E-A075-8FF865D65165}"/>
                  </a:ext>
                </a:extLst>
              </p:cNvPr>
              <p:cNvGrpSpPr/>
              <p:nvPr/>
            </p:nvGrpSpPr>
            <p:grpSpPr>
              <a:xfrm>
                <a:off x="1805039" y="1089686"/>
                <a:ext cx="5907975" cy="640381"/>
                <a:chOff x="1828798" y="5848598"/>
                <a:chExt cx="5907975" cy="640381"/>
              </a:xfrm>
            </p:grpSpPr>
            <p:sp>
              <p:nvSpPr>
                <p:cNvPr id="49" name="矩形 48">
                  <a:extLst>
                    <a:ext uri="{FF2B5EF4-FFF2-40B4-BE49-F238E27FC236}">
                      <a16:creationId xmlns:a16="http://schemas.microsoft.com/office/drawing/2014/main" id="{0672FDB1-EA50-4EFC-AD25-1CF5A3BABDB6}"/>
                    </a:ext>
                  </a:extLst>
                </p:cNvPr>
                <p:cNvSpPr/>
                <p:nvPr/>
              </p:nvSpPr>
              <p:spPr>
                <a:xfrm>
                  <a:off x="1828798" y="5848598"/>
                  <a:ext cx="5907975" cy="640381"/>
                </a:xfrm>
                <a:prstGeom prst="rect">
                  <a:avLst/>
                </a:prstGeom>
                <a:noFill/>
                <a:ln w="28575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/>
                </a:p>
              </p:txBody>
            </p:sp>
            <p:sp>
              <p:nvSpPr>
                <p:cNvPr id="50" name="文本框 49">
                  <a:extLst>
                    <a:ext uri="{FF2B5EF4-FFF2-40B4-BE49-F238E27FC236}">
                      <a16:creationId xmlns:a16="http://schemas.microsoft.com/office/drawing/2014/main" id="{A621F50F-33E4-45BD-AA0E-EF5A3712B869}"/>
                    </a:ext>
                  </a:extLst>
                </p:cNvPr>
                <p:cNvSpPr txBox="1"/>
                <p:nvPr/>
              </p:nvSpPr>
              <p:spPr>
                <a:xfrm>
                  <a:off x="3361366" y="5855044"/>
                  <a:ext cx="3288785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zh-CN" altLang="en-US" b="1" dirty="0">
                      <a:latin typeface="Times New Roman" panose="02020603050405020304" pitchFamily="18" charset="0"/>
                      <a:ea typeface="宋体" panose="02010600030101010101" pitchFamily="2" charset="-122"/>
                      <a:cs typeface="Times New Roman" panose="02020603050405020304" pitchFamily="18" charset="0"/>
                    </a:rPr>
                    <a:t>嵌入接口层（</a:t>
                  </a:r>
                  <a:r>
                    <a:rPr lang="en-US" altLang="zh-CN" b="1" dirty="0">
                      <a:latin typeface="Times New Roman" panose="02020603050405020304" pitchFamily="18" charset="0"/>
                      <a:ea typeface="宋体" panose="02010600030101010101" pitchFamily="2" charset="-122"/>
                      <a:cs typeface="Times New Roman" panose="02020603050405020304" pitchFamily="18" charset="0"/>
                    </a:rPr>
                    <a:t>Embedder API</a:t>
                  </a:r>
                  <a:r>
                    <a:rPr lang="zh-CN" altLang="en-US" b="1" dirty="0">
                      <a:latin typeface="Times New Roman" panose="02020603050405020304" pitchFamily="18" charset="0"/>
                      <a:ea typeface="宋体" panose="02010600030101010101" pitchFamily="2" charset="-122"/>
                      <a:cs typeface="Times New Roman" panose="02020603050405020304" pitchFamily="18" charset="0"/>
                    </a:rPr>
                    <a:t>）</a:t>
                  </a:r>
                </a:p>
              </p:txBody>
            </p:sp>
            <p:sp>
              <p:nvSpPr>
                <p:cNvPr id="51" name="文本框 50">
                  <a:extLst>
                    <a:ext uri="{FF2B5EF4-FFF2-40B4-BE49-F238E27FC236}">
                      <a16:creationId xmlns:a16="http://schemas.microsoft.com/office/drawing/2014/main" id="{658077C4-FE9F-4F58-8AA9-A2B2A16ABCEE}"/>
                    </a:ext>
                  </a:extLst>
                </p:cNvPr>
                <p:cNvSpPr txBox="1"/>
                <p:nvPr/>
              </p:nvSpPr>
              <p:spPr>
                <a:xfrm>
                  <a:off x="2464037" y="6136966"/>
                  <a:ext cx="4903907" cy="338554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zh-CN" altLang="en-US" sz="1600" dirty="0">
                      <a:latin typeface="Times New Roman" panose="02020603050405020304" pitchFamily="18" charset="0"/>
                      <a:ea typeface="宋体" panose="02010600030101010101" pitchFamily="2" charset="-122"/>
                      <a:cs typeface="Times New Roman" panose="02020603050405020304" pitchFamily="18" charset="0"/>
                    </a:rPr>
                    <a:t>为宿主程序提供清晰且便于接入的脚本引擎抽象接口</a:t>
                  </a:r>
                </a:p>
              </p:txBody>
            </p:sp>
          </p:grpSp>
        </p:grpSp>
        <p:grpSp>
          <p:nvGrpSpPr>
            <p:cNvPr id="56" name="组合 55">
              <a:extLst>
                <a:ext uri="{FF2B5EF4-FFF2-40B4-BE49-F238E27FC236}">
                  <a16:creationId xmlns:a16="http://schemas.microsoft.com/office/drawing/2014/main" id="{A2BC2419-E877-4602-9AA0-EC9C78C36F48}"/>
                </a:ext>
              </a:extLst>
            </p:cNvPr>
            <p:cNvGrpSpPr/>
            <p:nvPr/>
          </p:nvGrpSpPr>
          <p:grpSpPr>
            <a:xfrm>
              <a:off x="7852784" y="1929533"/>
              <a:ext cx="1636987" cy="1499467"/>
              <a:chOff x="7852784" y="1929533"/>
              <a:chExt cx="1636987" cy="1499467"/>
            </a:xfrm>
          </p:grpSpPr>
          <p:sp>
            <p:nvSpPr>
              <p:cNvPr id="54" name="右中括号 53">
                <a:extLst>
                  <a:ext uri="{FF2B5EF4-FFF2-40B4-BE49-F238E27FC236}">
                    <a16:creationId xmlns:a16="http://schemas.microsoft.com/office/drawing/2014/main" id="{ADDBD5AD-637A-4CF2-B3AF-FA84AF95ED8C}"/>
                  </a:ext>
                </a:extLst>
              </p:cNvPr>
              <p:cNvSpPr/>
              <p:nvPr/>
            </p:nvSpPr>
            <p:spPr>
              <a:xfrm>
                <a:off x="7891152" y="1929533"/>
                <a:ext cx="79347" cy="1499467"/>
              </a:xfrm>
              <a:prstGeom prst="rightBracket">
                <a:avLst/>
              </a:prstGeom>
              <a:noFill/>
              <a:ln w="28575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55" name="文本框 54">
                <a:extLst>
                  <a:ext uri="{FF2B5EF4-FFF2-40B4-BE49-F238E27FC236}">
                    <a16:creationId xmlns:a16="http://schemas.microsoft.com/office/drawing/2014/main" id="{5DD1CB37-D19E-42F7-A30B-528C89B9913C}"/>
                  </a:ext>
                </a:extLst>
              </p:cNvPr>
              <p:cNvSpPr txBox="1"/>
              <p:nvPr/>
            </p:nvSpPr>
            <p:spPr>
              <a:xfrm>
                <a:off x="7852784" y="2405591"/>
                <a:ext cx="1636987" cy="64633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zh-CN" altLang="en-US" b="1" dirty="0">
                    <a:latin typeface="Times New Roman" panose="02020603050405020304" pitchFamily="18" charset="0"/>
                    <a:ea typeface="宋体" panose="02010600030101010101" pitchFamily="2" charset="-122"/>
                    <a:cs typeface="Times New Roman" panose="02020603050405020304" pitchFamily="18" charset="0"/>
                  </a:rPr>
                  <a:t>执行层</a:t>
                </a:r>
                <a:endParaRPr lang="en-US" altLang="zh-CN" b="1" dirty="0"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endParaRPr>
              </a:p>
              <a:p>
                <a:pPr algn="ctr"/>
                <a:r>
                  <a:rPr lang="zh-CN" altLang="en-US" b="1" dirty="0">
                    <a:latin typeface="Times New Roman" panose="02020603050405020304" pitchFamily="18" charset="0"/>
                    <a:ea typeface="宋体" panose="02010600030101010101" pitchFamily="2" charset="-122"/>
                    <a:cs typeface="Times New Roman" panose="02020603050405020304" pitchFamily="18" charset="0"/>
                  </a:rPr>
                  <a:t>（</a:t>
                </a:r>
                <a:r>
                  <a:rPr lang="en-US" altLang="zh-CN" b="1" dirty="0">
                    <a:latin typeface="Times New Roman" panose="02020603050405020304" pitchFamily="18" charset="0"/>
                    <a:ea typeface="宋体" panose="02010600030101010101" pitchFamily="2" charset="-122"/>
                    <a:cs typeface="Times New Roman" panose="02020603050405020304" pitchFamily="18" charset="0"/>
                  </a:rPr>
                  <a:t>Execution</a:t>
                </a:r>
                <a:r>
                  <a:rPr lang="zh-CN" altLang="en-US" b="1" dirty="0">
                    <a:latin typeface="Times New Roman" panose="02020603050405020304" pitchFamily="18" charset="0"/>
                    <a:ea typeface="宋体" panose="02010600030101010101" pitchFamily="2" charset="-122"/>
                    <a:cs typeface="Times New Roman" panose="02020603050405020304" pitchFamily="18" charset="0"/>
                  </a:rPr>
                  <a:t>）</a:t>
                </a:r>
              </a:p>
            </p:txBody>
          </p:sp>
        </p:grpSp>
      </p:grpSp>
      <p:sp>
        <p:nvSpPr>
          <p:cNvPr id="58" name="右中括号 57">
            <a:extLst>
              <a:ext uri="{FF2B5EF4-FFF2-40B4-BE49-F238E27FC236}">
                <a16:creationId xmlns:a16="http://schemas.microsoft.com/office/drawing/2014/main" id="{D2066D2A-04D8-46C2-9E7C-BBD4CC255A01}"/>
              </a:ext>
            </a:extLst>
          </p:cNvPr>
          <p:cNvSpPr/>
          <p:nvPr/>
        </p:nvSpPr>
        <p:spPr>
          <a:xfrm rot="10800000">
            <a:off x="2366954" y="1553189"/>
            <a:ext cx="84359" cy="4799223"/>
          </a:xfrm>
          <a:prstGeom prst="rightBracket">
            <a:avLst/>
          </a:prstGeom>
          <a:noFill/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9" name="文本框 58">
            <a:extLst>
              <a:ext uri="{FF2B5EF4-FFF2-40B4-BE49-F238E27FC236}">
                <a16:creationId xmlns:a16="http://schemas.microsoft.com/office/drawing/2014/main" id="{00C01BBE-632B-4217-9A68-E4E92301ED5F}"/>
              </a:ext>
            </a:extLst>
          </p:cNvPr>
          <p:cNvSpPr txBox="1"/>
          <p:nvPr/>
        </p:nvSpPr>
        <p:spPr>
          <a:xfrm>
            <a:off x="867157" y="3366962"/>
            <a:ext cx="1575111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zh-CN" b="1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VM </a:t>
            </a:r>
            <a:r>
              <a:rPr lang="zh-CN" altLang="en-US" b="1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内核</a:t>
            </a:r>
            <a:endParaRPr lang="en-US" altLang="zh-CN" b="1" dirty="0"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  <a:p>
            <a:pPr algn="ctr"/>
            <a:r>
              <a:rPr lang="zh-CN" altLang="en-US" b="1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（</a:t>
            </a:r>
            <a:r>
              <a:rPr lang="en-US" altLang="zh-CN" b="1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VM Core</a:t>
            </a:r>
            <a:r>
              <a:rPr lang="zh-CN" altLang="en-US" b="1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）</a:t>
            </a:r>
          </a:p>
        </p:txBody>
      </p:sp>
    </p:spTree>
    <p:extLst>
      <p:ext uri="{BB962C8B-B14F-4D97-AF65-F5344CB8AC3E}">
        <p14:creationId xmlns:p14="http://schemas.microsoft.com/office/powerpoint/2010/main" val="380918410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组合 6">
            <a:extLst>
              <a:ext uri="{FF2B5EF4-FFF2-40B4-BE49-F238E27FC236}">
                <a16:creationId xmlns:a16="http://schemas.microsoft.com/office/drawing/2014/main" id="{8A3F086D-34F5-49A7-95B0-F906D30549B8}"/>
              </a:ext>
            </a:extLst>
          </p:cNvPr>
          <p:cNvGrpSpPr/>
          <p:nvPr/>
        </p:nvGrpSpPr>
        <p:grpSpPr>
          <a:xfrm>
            <a:off x="4580457" y="166254"/>
            <a:ext cx="3031086" cy="667519"/>
            <a:chOff x="4580456" y="112816"/>
            <a:chExt cx="3031086" cy="667519"/>
          </a:xfrm>
        </p:grpSpPr>
        <p:sp>
          <p:nvSpPr>
            <p:cNvPr id="4" name="矩形 3">
              <a:extLst>
                <a:ext uri="{FF2B5EF4-FFF2-40B4-BE49-F238E27FC236}">
                  <a16:creationId xmlns:a16="http://schemas.microsoft.com/office/drawing/2014/main" id="{95DA7EF6-A193-41D9-AFF1-E3CB063A00B1}"/>
                </a:ext>
              </a:extLst>
            </p:cNvPr>
            <p:cNvSpPr/>
            <p:nvPr/>
          </p:nvSpPr>
          <p:spPr>
            <a:xfrm>
              <a:off x="4580456" y="112816"/>
              <a:ext cx="3031086" cy="667519"/>
            </a:xfrm>
            <a:prstGeom prst="rect">
              <a:avLst/>
            </a:prstGeom>
            <a:no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5" name="文本框 4">
              <a:extLst>
                <a:ext uri="{FF2B5EF4-FFF2-40B4-BE49-F238E27FC236}">
                  <a16:creationId xmlns:a16="http://schemas.microsoft.com/office/drawing/2014/main" id="{06BE1F87-E6ED-42CE-ACB7-2623BDE2E8F0}"/>
                </a:ext>
              </a:extLst>
            </p:cNvPr>
            <p:cNvSpPr txBox="1"/>
            <p:nvPr/>
          </p:nvSpPr>
          <p:spPr>
            <a:xfrm>
              <a:off x="5676653" y="134222"/>
              <a:ext cx="83869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b="1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Isolate</a:t>
              </a:r>
              <a:endParaRPr lang="zh-CN" altLang="en-US" b="1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6" name="文本框 5">
              <a:extLst>
                <a:ext uri="{FF2B5EF4-FFF2-40B4-BE49-F238E27FC236}">
                  <a16:creationId xmlns:a16="http://schemas.microsoft.com/office/drawing/2014/main" id="{3562EA8C-D70D-4D67-B4C9-CBBBA4CC1B39}"/>
                </a:ext>
              </a:extLst>
            </p:cNvPr>
            <p:cNvSpPr txBox="1"/>
            <p:nvPr/>
          </p:nvSpPr>
          <p:spPr>
            <a:xfrm>
              <a:off x="4580456" y="441781"/>
              <a:ext cx="3031086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zh-CN" altLang="en-US" sz="1600" dirty="0"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一个独立 </a:t>
              </a:r>
              <a:r>
                <a:rPr lang="en-US" altLang="zh-CN" sz="1600" dirty="0"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VM </a:t>
              </a:r>
              <a:r>
                <a:rPr lang="zh-CN" altLang="en-US" sz="1600" dirty="0"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实例 </a:t>
              </a:r>
              <a:r>
                <a:rPr lang="en-US" altLang="zh-CN" sz="1600" dirty="0"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/ </a:t>
              </a:r>
              <a:r>
                <a:rPr lang="zh-CN" altLang="en-US" sz="1600" dirty="0"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运行时容器</a:t>
              </a:r>
            </a:p>
          </p:txBody>
        </p:sp>
      </p:grpSp>
      <p:grpSp>
        <p:nvGrpSpPr>
          <p:cNvPr id="16" name="组合 15">
            <a:extLst>
              <a:ext uri="{FF2B5EF4-FFF2-40B4-BE49-F238E27FC236}">
                <a16:creationId xmlns:a16="http://schemas.microsoft.com/office/drawing/2014/main" id="{7921AD62-5191-4AA4-A11F-347DBBFD4334}"/>
              </a:ext>
            </a:extLst>
          </p:cNvPr>
          <p:cNvGrpSpPr/>
          <p:nvPr/>
        </p:nvGrpSpPr>
        <p:grpSpPr>
          <a:xfrm>
            <a:off x="5067983" y="1820882"/>
            <a:ext cx="2050090" cy="1474521"/>
            <a:chOff x="4574514" y="1904009"/>
            <a:chExt cx="2050090" cy="1997035"/>
          </a:xfrm>
        </p:grpSpPr>
        <p:sp>
          <p:nvSpPr>
            <p:cNvPr id="13" name="矩形 12">
              <a:extLst>
                <a:ext uri="{FF2B5EF4-FFF2-40B4-BE49-F238E27FC236}">
                  <a16:creationId xmlns:a16="http://schemas.microsoft.com/office/drawing/2014/main" id="{D4A47773-B8F4-4067-B02D-56355E28222A}"/>
                </a:ext>
              </a:extLst>
            </p:cNvPr>
            <p:cNvSpPr/>
            <p:nvPr/>
          </p:nvSpPr>
          <p:spPr>
            <a:xfrm>
              <a:off x="4580456" y="1904009"/>
              <a:ext cx="2044148" cy="1997035"/>
            </a:xfrm>
            <a:prstGeom prst="rect">
              <a:avLst/>
            </a:prstGeom>
            <a:no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4" name="文本框 13">
              <a:extLst>
                <a:ext uri="{FF2B5EF4-FFF2-40B4-BE49-F238E27FC236}">
                  <a16:creationId xmlns:a16="http://schemas.microsoft.com/office/drawing/2014/main" id="{D6263276-6C5F-4702-BA47-9A427CD21EC2}"/>
                </a:ext>
              </a:extLst>
            </p:cNvPr>
            <p:cNvSpPr txBox="1"/>
            <p:nvPr/>
          </p:nvSpPr>
          <p:spPr>
            <a:xfrm>
              <a:off x="4580455" y="1959549"/>
              <a:ext cx="2044149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zh-CN" altLang="en-US" b="1" dirty="0">
                  <a:latin typeface="宋体" panose="02010600030101010101" pitchFamily="2" charset="-122"/>
                  <a:ea typeface="宋体" panose="02010600030101010101" pitchFamily="2" charset="-122"/>
                  <a:cs typeface="Times New Roman" panose="02020603050405020304" pitchFamily="18" charset="0"/>
                </a:rPr>
                <a:t>模块系统相关状态</a:t>
              </a:r>
            </a:p>
          </p:txBody>
        </p:sp>
        <p:sp>
          <p:nvSpPr>
            <p:cNvPr id="15" name="文本框 14">
              <a:extLst>
                <a:ext uri="{FF2B5EF4-FFF2-40B4-BE49-F238E27FC236}">
                  <a16:creationId xmlns:a16="http://schemas.microsoft.com/office/drawing/2014/main" id="{CE472213-96C2-4558-914D-6756FD01C8B7}"/>
                </a:ext>
              </a:extLst>
            </p:cNvPr>
            <p:cNvSpPr txBox="1"/>
            <p:nvPr/>
          </p:nvSpPr>
          <p:spPr>
            <a:xfrm>
              <a:off x="4574514" y="2366230"/>
              <a:ext cx="1704313" cy="7842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marL="285750" indent="-285750">
                <a:lnSpc>
                  <a:spcPct val="150000"/>
                </a:lnSpc>
                <a:buFont typeface="Wingdings" panose="05000000000000000000" pitchFamily="2" charset="2"/>
                <a:buChar char="l"/>
              </a:pPr>
              <a:r>
                <a:rPr lang="zh-CN" altLang="en-US" sz="1600" dirty="0"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模块导入状态</a:t>
              </a:r>
              <a:endPara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endParaRPr>
            </a:p>
            <a:p>
              <a:pPr marL="285750" indent="-285750">
                <a:lnSpc>
                  <a:spcPct val="150000"/>
                </a:lnSpc>
                <a:buFont typeface="Wingdings" panose="05000000000000000000" pitchFamily="2" charset="2"/>
                <a:buChar char="l"/>
              </a:pPr>
              <a:r>
                <a:rPr lang="zh-CN" altLang="en-US" sz="1600" dirty="0"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模块缓存</a:t>
              </a:r>
            </a:p>
          </p:txBody>
        </p:sp>
      </p:grpSp>
      <p:grpSp>
        <p:nvGrpSpPr>
          <p:cNvPr id="17" name="组合 16">
            <a:extLst>
              <a:ext uri="{FF2B5EF4-FFF2-40B4-BE49-F238E27FC236}">
                <a16:creationId xmlns:a16="http://schemas.microsoft.com/office/drawing/2014/main" id="{A5CC690A-E40A-4EF8-BB8C-4EEC01770E04}"/>
              </a:ext>
            </a:extLst>
          </p:cNvPr>
          <p:cNvGrpSpPr/>
          <p:nvPr/>
        </p:nvGrpSpPr>
        <p:grpSpPr>
          <a:xfrm>
            <a:off x="2705738" y="1820882"/>
            <a:ext cx="2069913" cy="1474521"/>
            <a:chOff x="4554691" y="1904009"/>
            <a:chExt cx="2069913" cy="1997035"/>
          </a:xfrm>
        </p:grpSpPr>
        <p:sp>
          <p:nvSpPr>
            <p:cNvPr id="18" name="矩形 17">
              <a:extLst>
                <a:ext uri="{FF2B5EF4-FFF2-40B4-BE49-F238E27FC236}">
                  <a16:creationId xmlns:a16="http://schemas.microsoft.com/office/drawing/2014/main" id="{B3E79D41-0486-4F8C-AEF3-CC86BB2DDA1C}"/>
                </a:ext>
              </a:extLst>
            </p:cNvPr>
            <p:cNvSpPr/>
            <p:nvPr/>
          </p:nvSpPr>
          <p:spPr>
            <a:xfrm>
              <a:off x="4580456" y="1904009"/>
              <a:ext cx="2044148" cy="1997035"/>
            </a:xfrm>
            <a:prstGeom prst="rect">
              <a:avLst/>
            </a:prstGeom>
            <a:no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9" name="文本框 18">
              <a:extLst>
                <a:ext uri="{FF2B5EF4-FFF2-40B4-BE49-F238E27FC236}">
                  <a16:creationId xmlns:a16="http://schemas.microsoft.com/office/drawing/2014/main" id="{15B48B81-FA9D-4788-B86F-DF67BA7B9F85}"/>
                </a:ext>
              </a:extLst>
            </p:cNvPr>
            <p:cNvSpPr txBox="1"/>
            <p:nvPr/>
          </p:nvSpPr>
          <p:spPr>
            <a:xfrm>
              <a:off x="4554691" y="1959549"/>
              <a:ext cx="2044149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zh-CN" altLang="en-US" b="1" dirty="0">
                  <a:latin typeface="宋体" panose="02010600030101010101" pitchFamily="2" charset="-122"/>
                  <a:ea typeface="宋体" panose="02010600030101010101" pitchFamily="2" charset="-122"/>
                  <a:cs typeface="Times New Roman" panose="02020603050405020304" pitchFamily="18" charset="0"/>
                </a:rPr>
                <a:t>脚本执行相关状态</a:t>
              </a:r>
            </a:p>
          </p:txBody>
        </p:sp>
        <p:sp>
          <p:nvSpPr>
            <p:cNvPr id="20" name="文本框 19">
              <a:extLst>
                <a:ext uri="{FF2B5EF4-FFF2-40B4-BE49-F238E27FC236}">
                  <a16:creationId xmlns:a16="http://schemas.microsoft.com/office/drawing/2014/main" id="{293F1E25-CE68-4933-A05A-F2B0DDAF6B95}"/>
                </a:ext>
              </a:extLst>
            </p:cNvPr>
            <p:cNvSpPr txBox="1"/>
            <p:nvPr/>
          </p:nvSpPr>
          <p:spPr>
            <a:xfrm>
              <a:off x="4574514" y="2370822"/>
              <a:ext cx="1909497" cy="115608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marL="285750" indent="-285750">
                <a:lnSpc>
                  <a:spcPct val="150000"/>
                </a:lnSpc>
                <a:buFont typeface="Wingdings" panose="05000000000000000000" pitchFamily="2" charset="2"/>
                <a:buChar char="l"/>
              </a:pPr>
              <a:r>
                <a:rPr lang="zh-CN" altLang="en-US" sz="1600" dirty="0"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字节码执行状态</a:t>
              </a:r>
              <a:endPara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endParaRPr>
            </a:p>
            <a:p>
              <a:pPr marL="285750" indent="-285750">
                <a:lnSpc>
                  <a:spcPct val="150000"/>
                </a:lnSpc>
                <a:buFont typeface="Wingdings" panose="05000000000000000000" pitchFamily="2" charset="2"/>
                <a:buChar char="l"/>
              </a:pPr>
              <a:r>
                <a:rPr lang="zh-CN" altLang="en-US" sz="1600" dirty="0"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函数调用堆栈</a:t>
              </a:r>
              <a:endPara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endParaRPr>
            </a:p>
            <a:p>
              <a:pPr marL="285750" indent="-285750">
                <a:lnSpc>
                  <a:spcPct val="150000"/>
                </a:lnSpc>
                <a:buFont typeface="Wingdings" panose="05000000000000000000" pitchFamily="2" charset="2"/>
                <a:buChar char="l"/>
              </a:pPr>
              <a:r>
                <a:rPr lang="zh-CN" altLang="en-US" sz="1600" dirty="0"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其他执行上下文</a:t>
              </a:r>
            </a:p>
          </p:txBody>
        </p:sp>
      </p:grpSp>
      <p:grpSp>
        <p:nvGrpSpPr>
          <p:cNvPr id="21" name="组合 20">
            <a:extLst>
              <a:ext uri="{FF2B5EF4-FFF2-40B4-BE49-F238E27FC236}">
                <a16:creationId xmlns:a16="http://schemas.microsoft.com/office/drawing/2014/main" id="{7DF886E5-433A-46C4-B71A-6E26CA6D1262}"/>
              </a:ext>
            </a:extLst>
          </p:cNvPr>
          <p:cNvGrpSpPr/>
          <p:nvPr/>
        </p:nvGrpSpPr>
        <p:grpSpPr>
          <a:xfrm>
            <a:off x="7404472" y="1820881"/>
            <a:ext cx="2056025" cy="1474522"/>
            <a:chOff x="4568579" y="1904009"/>
            <a:chExt cx="2056025" cy="1997035"/>
          </a:xfrm>
        </p:grpSpPr>
        <p:sp>
          <p:nvSpPr>
            <p:cNvPr id="22" name="矩形 21">
              <a:extLst>
                <a:ext uri="{FF2B5EF4-FFF2-40B4-BE49-F238E27FC236}">
                  <a16:creationId xmlns:a16="http://schemas.microsoft.com/office/drawing/2014/main" id="{8E0B7292-5923-4CD6-9BB8-DB331207BB34}"/>
                </a:ext>
              </a:extLst>
            </p:cNvPr>
            <p:cNvSpPr/>
            <p:nvPr/>
          </p:nvSpPr>
          <p:spPr>
            <a:xfrm>
              <a:off x="4580456" y="1904009"/>
              <a:ext cx="2044148" cy="1997035"/>
            </a:xfrm>
            <a:prstGeom prst="rect">
              <a:avLst/>
            </a:prstGeom>
            <a:no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23" name="文本框 22">
              <a:extLst>
                <a:ext uri="{FF2B5EF4-FFF2-40B4-BE49-F238E27FC236}">
                  <a16:creationId xmlns:a16="http://schemas.microsoft.com/office/drawing/2014/main" id="{F19999C6-59D9-4618-AC3E-E3173C81A370}"/>
                </a:ext>
              </a:extLst>
            </p:cNvPr>
            <p:cNvSpPr txBox="1"/>
            <p:nvPr/>
          </p:nvSpPr>
          <p:spPr>
            <a:xfrm>
              <a:off x="4929108" y="1959550"/>
              <a:ext cx="1346844" cy="50020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zh-CN" altLang="en-US" b="1" dirty="0">
                  <a:latin typeface="宋体" panose="02010600030101010101" pitchFamily="2" charset="-122"/>
                  <a:ea typeface="宋体" panose="02010600030101010101" pitchFamily="2" charset="-122"/>
                  <a:cs typeface="Times New Roman" panose="02020603050405020304" pitchFamily="18" charset="0"/>
                </a:rPr>
                <a:t>运行时环境</a:t>
              </a:r>
            </a:p>
          </p:txBody>
        </p:sp>
        <p:sp>
          <p:nvSpPr>
            <p:cNvPr id="24" name="文本框 23">
              <a:extLst>
                <a:ext uri="{FF2B5EF4-FFF2-40B4-BE49-F238E27FC236}">
                  <a16:creationId xmlns:a16="http://schemas.microsoft.com/office/drawing/2014/main" id="{D8AE67E4-46EE-48C0-AEA0-8ECBD4A5BA1D}"/>
                </a:ext>
              </a:extLst>
            </p:cNvPr>
            <p:cNvSpPr txBox="1"/>
            <p:nvPr/>
          </p:nvSpPr>
          <p:spPr>
            <a:xfrm>
              <a:off x="4568579" y="2366231"/>
              <a:ext cx="1909497" cy="1062163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marL="285750" indent="-285750">
                <a:lnSpc>
                  <a:spcPct val="150000"/>
                </a:lnSpc>
                <a:buFont typeface="Wingdings" panose="05000000000000000000" pitchFamily="2" charset="2"/>
                <a:buChar char="l"/>
              </a:pPr>
              <a:r>
                <a:rPr lang="zh-CN" altLang="en-US" sz="1600" dirty="0"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内建环境</a:t>
              </a:r>
              <a:endPara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endParaRPr>
            </a:p>
            <a:p>
              <a:pPr marL="285750" indent="-285750">
                <a:lnSpc>
                  <a:spcPct val="150000"/>
                </a:lnSpc>
                <a:buFont typeface="Wingdings" panose="05000000000000000000" pitchFamily="2" charset="2"/>
                <a:buChar char="l"/>
              </a:pPr>
              <a:r>
                <a:rPr lang="zh-CN" altLang="en-US" sz="1600" dirty="0"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运行时共享资源</a:t>
              </a:r>
            </a:p>
          </p:txBody>
        </p:sp>
      </p:grpSp>
      <p:grpSp>
        <p:nvGrpSpPr>
          <p:cNvPr id="25" name="组合 24">
            <a:extLst>
              <a:ext uri="{FF2B5EF4-FFF2-40B4-BE49-F238E27FC236}">
                <a16:creationId xmlns:a16="http://schemas.microsoft.com/office/drawing/2014/main" id="{3F84F941-9053-4450-8D19-E680CC8B08F4}"/>
              </a:ext>
            </a:extLst>
          </p:cNvPr>
          <p:cNvGrpSpPr/>
          <p:nvPr/>
        </p:nvGrpSpPr>
        <p:grpSpPr>
          <a:xfrm>
            <a:off x="363313" y="1820882"/>
            <a:ext cx="2069915" cy="1498260"/>
            <a:chOff x="4554689" y="1904009"/>
            <a:chExt cx="2069915" cy="2029186"/>
          </a:xfrm>
        </p:grpSpPr>
        <p:sp>
          <p:nvSpPr>
            <p:cNvPr id="26" name="矩形 25">
              <a:extLst>
                <a:ext uri="{FF2B5EF4-FFF2-40B4-BE49-F238E27FC236}">
                  <a16:creationId xmlns:a16="http://schemas.microsoft.com/office/drawing/2014/main" id="{04FCC2CB-B5B4-4860-B775-1C8E43E6CE5E}"/>
                </a:ext>
              </a:extLst>
            </p:cNvPr>
            <p:cNvSpPr/>
            <p:nvPr/>
          </p:nvSpPr>
          <p:spPr>
            <a:xfrm>
              <a:off x="4580456" y="1904009"/>
              <a:ext cx="2044148" cy="1997035"/>
            </a:xfrm>
            <a:prstGeom prst="rect">
              <a:avLst/>
            </a:prstGeom>
            <a:no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27" name="文本框 26">
              <a:extLst>
                <a:ext uri="{FF2B5EF4-FFF2-40B4-BE49-F238E27FC236}">
                  <a16:creationId xmlns:a16="http://schemas.microsoft.com/office/drawing/2014/main" id="{EA3C9880-EB67-4D4D-A079-54F53379E755}"/>
                </a:ext>
              </a:extLst>
            </p:cNvPr>
            <p:cNvSpPr txBox="1"/>
            <p:nvPr/>
          </p:nvSpPr>
          <p:spPr>
            <a:xfrm>
              <a:off x="4554689" y="1959549"/>
              <a:ext cx="2044149" cy="50020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zh-CN" altLang="en-US" b="1" dirty="0">
                  <a:latin typeface="宋体" panose="02010600030101010101" pitchFamily="2" charset="-122"/>
                  <a:ea typeface="宋体" panose="02010600030101010101" pitchFamily="2" charset="-122"/>
                  <a:cs typeface="Times New Roman" panose="02020603050405020304" pitchFamily="18" charset="0"/>
                </a:rPr>
                <a:t>虚拟机堆相关状态</a:t>
              </a:r>
            </a:p>
          </p:txBody>
        </p:sp>
        <p:sp>
          <p:nvSpPr>
            <p:cNvPr id="28" name="文本框 27">
              <a:extLst>
                <a:ext uri="{FF2B5EF4-FFF2-40B4-BE49-F238E27FC236}">
                  <a16:creationId xmlns:a16="http://schemas.microsoft.com/office/drawing/2014/main" id="{3A7FEC38-6726-4371-A261-B9B210DD9DCE}"/>
                </a:ext>
              </a:extLst>
            </p:cNvPr>
            <p:cNvSpPr txBox="1"/>
            <p:nvPr/>
          </p:nvSpPr>
          <p:spPr>
            <a:xfrm>
              <a:off x="4574514" y="2370822"/>
              <a:ext cx="1909497" cy="1562373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marL="285750" indent="-285750">
                <a:lnSpc>
                  <a:spcPct val="150000"/>
                </a:lnSpc>
                <a:buFont typeface="Wingdings" panose="05000000000000000000" pitchFamily="2" charset="2"/>
                <a:buChar char="l"/>
              </a:pPr>
              <a:r>
                <a:rPr lang="zh-CN" altLang="en-US" sz="1600" dirty="0"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堆空间内存资源</a:t>
              </a:r>
              <a:endPara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endParaRPr>
            </a:p>
            <a:p>
              <a:pPr marL="285750" indent="-285750">
                <a:lnSpc>
                  <a:spcPct val="150000"/>
                </a:lnSpc>
                <a:buFont typeface="Wingdings" panose="05000000000000000000" pitchFamily="2" charset="2"/>
                <a:buChar char="l"/>
              </a:pPr>
              <a:r>
                <a:rPr lang="zh-CN" altLang="en-US" sz="1600" dirty="0"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堆内存分配情况</a:t>
              </a:r>
              <a:endPara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endParaRPr>
            </a:p>
            <a:p>
              <a:pPr marL="285750" indent="-285750">
                <a:lnSpc>
                  <a:spcPct val="150000"/>
                </a:lnSpc>
                <a:buFont typeface="Wingdings" panose="05000000000000000000" pitchFamily="2" charset="2"/>
                <a:buChar char="l"/>
              </a:pPr>
              <a:r>
                <a:rPr lang="zh-CN" altLang="en-US" sz="1600" dirty="0"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垃圾回收状态</a:t>
              </a:r>
            </a:p>
          </p:txBody>
        </p:sp>
      </p:grpSp>
      <p:grpSp>
        <p:nvGrpSpPr>
          <p:cNvPr id="29" name="组合 28">
            <a:extLst>
              <a:ext uri="{FF2B5EF4-FFF2-40B4-BE49-F238E27FC236}">
                <a16:creationId xmlns:a16="http://schemas.microsoft.com/office/drawing/2014/main" id="{47CF0A27-90DC-46FA-8343-A278CBF93558}"/>
              </a:ext>
            </a:extLst>
          </p:cNvPr>
          <p:cNvGrpSpPr/>
          <p:nvPr/>
        </p:nvGrpSpPr>
        <p:grpSpPr>
          <a:xfrm>
            <a:off x="9752828" y="1817901"/>
            <a:ext cx="2114681" cy="1474522"/>
            <a:chOff x="4574512" y="1904009"/>
            <a:chExt cx="2114681" cy="1997035"/>
          </a:xfrm>
        </p:grpSpPr>
        <p:sp>
          <p:nvSpPr>
            <p:cNvPr id="30" name="矩形 29">
              <a:extLst>
                <a:ext uri="{FF2B5EF4-FFF2-40B4-BE49-F238E27FC236}">
                  <a16:creationId xmlns:a16="http://schemas.microsoft.com/office/drawing/2014/main" id="{FA37E2C5-3632-4A44-A16B-6592B38DFDFF}"/>
                </a:ext>
              </a:extLst>
            </p:cNvPr>
            <p:cNvSpPr/>
            <p:nvPr/>
          </p:nvSpPr>
          <p:spPr>
            <a:xfrm>
              <a:off x="4580456" y="1904009"/>
              <a:ext cx="2044148" cy="1997035"/>
            </a:xfrm>
            <a:prstGeom prst="rect">
              <a:avLst/>
            </a:prstGeom>
            <a:no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31" name="文本框 30">
              <a:extLst>
                <a:ext uri="{FF2B5EF4-FFF2-40B4-BE49-F238E27FC236}">
                  <a16:creationId xmlns:a16="http://schemas.microsoft.com/office/drawing/2014/main" id="{392659A9-CBE7-4338-A119-79BDA6A7CB84}"/>
                </a:ext>
              </a:extLst>
            </p:cNvPr>
            <p:cNvSpPr txBox="1"/>
            <p:nvPr/>
          </p:nvSpPr>
          <p:spPr>
            <a:xfrm>
              <a:off x="4812891" y="1971628"/>
              <a:ext cx="1579278" cy="50020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zh-CN" altLang="en-US" b="1" dirty="0">
                  <a:latin typeface="宋体" panose="02010600030101010101" pitchFamily="2" charset="-122"/>
                  <a:ea typeface="宋体" panose="02010600030101010101" pitchFamily="2" charset="-122"/>
                  <a:cs typeface="Times New Roman" panose="02020603050405020304" pitchFamily="18" charset="0"/>
                </a:rPr>
                <a:t>异常相关状态</a:t>
              </a:r>
            </a:p>
          </p:txBody>
        </p:sp>
        <p:sp>
          <p:nvSpPr>
            <p:cNvPr id="32" name="文本框 31">
              <a:extLst>
                <a:ext uri="{FF2B5EF4-FFF2-40B4-BE49-F238E27FC236}">
                  <a16:creationId xmlns:a16="http://schemas.microsoft.com/office/drawing/2014/main" id="{C5E8CA4D-EE1A-43DA-99DD-F41E2EF8EB9D}"/>
                </a:ext>
              </a:extLst>
            </p:cNvPr>
            <p:cNvSpPr txBox="1"/>
            <p:nvPr/>
          </p:nvSpPr>
          <p:spPr>
            <a:xfrm>
              <a:off x="4574512" y="2366231"/>
              <a:ext cx="2114681" cy="1062163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marL="285750" indent="-285750">
                <a:lnSpc>
                  <a:spcPct val="150000"/>
                </a:lnSpc>
                <a:buFont typeface="Wingdings" panose="05000000000000000000" pitchFamily="2" charset="2"/>
                <a:buChar char="l"/>
              </a:pPr>
              <a:r>
                <a:rPr lang="zh-CN" altLang="en-US" sz="1600" dirty="0"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待处理异常对象</a:t>
              </a:r>
              <a:endPara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endParaRPr>
            </a:p>
            <a:p>
              <a:pPr marL="285750" indent="-285750">
                <a:lnSpc>
                  <a:spcPct val="150000"/>
                </a:lnSpc>
                <a:buFont typeface="Wingdings" panose="05000000000000000000" pitchFamily="2" charset="2"/>
                <a:buChar char="l"/>
              </a:pPr>
              <a:r>
                <a:rPr lang="zh-CN" altLang="en-US" sz="1600" dirty="0"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待处理异常上下文</a:t>
              </a:r>
            </a:p>
          </p:txBody>
        </p:sp>
      </p:grpSp>
      <p:cxnSp>
        <p:nvCxnSpPr>
          <p:cNvPr id="34" name="直接连接符 33">
            <a:extLst>
              <a:ext uri="{FF2B5EF4-FFF2-40B4-BE49-F238E27FC236}">
                <a16:creationId xmlns:a16="http://schemas.microsoft.com/office/drawing/2014/main" id="{9DAF8ADC-4053-4EF6-8DB1-1E4D057E13A8}"/>
              </a:ext>
            </a:extLst>
          </p:cNvPr>
          <p:cNvCxnSpPr>
            <a:cxnSpLocks/>
          </p:cNvCxnSpPr>
          <p:nvPr/>
        </p:nvCxnSpPr>
        <p:spPr>
          <a:xfrm>
            <a:off x="1385387" y="1191882"/>
            <a:ext cx="9395459" cy="0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直接箭头连接符 36">
            <a:extLst>
              <a:ext uri="{FF2B5EF4-FFF2-40B4-BE49-F238E27FC236}">
                <a16:creationId xmlns:a16="http://schemas.microsoft.com/office/drawing/2014/main" id="{211D6D35-1619-4612-A48B-3DD896801074}"/>
              </a:ext>
            </a:extLst>
          </p:cNvPr>
          <p:cNvCxnSpPr>
            <a:cxnSpLocks/>
          </p:cNvCxnSpPr>
          <p:nvPr/>
        </p:nvCxnSpPr>
        <p:spPr>
          <a:xfrm flipH="1">
            <a:off x="6095999" y="829540"/>
            <a:ext cx="1" cy="987109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直接箭头连接符 38">
            <a:extLst>
              <a:ext uri="{FF2B5EF4-FFF2-40B4-BE49-F238E27FC236}">
                <a16:creationId xmlns:a16="http://schemas.microsoft.com/office/drawing/2014/main" id="{53265B45-7F25-4112-A50B-0A76F4473BFF}"/>
              </a:ext>
            </a:extLst>
          </p:cNvPr>
          <p:cNvCxnSpPr>
            <a:cxnSpLocks/>
          </p:cNvCxnSpPr>
          <p:nvPr/>
        </p:nvCxnSpPr>
        <p:spPr>
          <a:xfrm>
            <a:off x="1385388" y="1177853"/>
            <a:ext cx="0" cy="639062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" name="直接箭头连接符 47">
            <a:extLst>
              <a:ext uri="{FF2B5EF4-FFF2-40B4-BE49-F238E27FC236}">
                <a16:creationId xmlns:a16="http://schemas.microsoft.com/office/drawing/2014/main" id="{F49CEABC-2FAA-43ED-AD29-E7FA280D1BEC}"/>
              </a:ext>
            </a:extLst>
          </p:cNvPr>
          <p:cNvCxnSpPr>
            <a:cxnSpLocks/>
          </p:cNvCxnSpPr>
          <p:nvPr/>
        </p:nvCxnSpPr>
        <p:spPr>
          <a:xfrm>
            <a:off x="10780846" y="1177853"/>
            <a:ext cx="0" cy="629877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4" name="直接箭头连接符 53">
            <a:extLst>
              <a:ext uri="{FF2B5EF4-FFF2-40B4-BE49-F238E27FC236}">
                <a16:creationId xmlns:a16="http://schemas.microsoft.com/office/drawing/2014/main" id="{2BAF1BCF-8208-49F3-9BF6-06574ABE2CDB}"/>
              </a:ext>
            </a:extLst>
          </p:cNvPr>
          <p:cNvCxnSpPr>
            <a:cxnSpLocks/>
          </p:cNvCxnSpPr>
          <p:nvPr/>
        </p:nvCxnSpPr>
        <p:spPr>
          <a:xfrm>
            <a:off x="3752603" y="1176795"/>
            <a:ext cx="0" cy="639062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0" name="直接箭头连接符 59">
            <a:extLst>
              <a:ext uri="{FF2B5EF4-FFF2-40B4-BE49-F238E27FC236}">
                <a16:creationId xmlns:a16="http://schemas.microsoft.com/office/drawing/2014/main" id="{7524B7F8-DB89-4AC2-863D-3BBA2A41D5E1}"/>
              </a:ext>
            </a:extLst>
          </p:cNvPr>
          <p:cNvCxnSpPr>
            <a:cxnSpLocks/>
          </p:cNvCxnSpPr>
          <p:nvPr/>
        </p:nvCxnSpPr>
        <p:spPr>
          <a:xfrm>
            <a:off x="8439244" y="1174678"/>
            <a:ext cx="0" cy="639062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1" name="左中括号 60">
            <a:extLst>
              <a:ext uri="{FF2B5EF4-FFF2-40B4-BE49-F238E27FC236}">
                <a16:creationId xmlns:a16="http://schemas.microsoft.com/office/drawing/2014/main" id="{669755A7-89DE-475A-9214-0BF00E61F7C6}"/>
              </a:ext>
            </a:extLst>
          </p:cNvPr>
          <p:cNvSpPr/>
          <p:nvPr/>
        </p:nvSpPr>
        <p:spPr>
          <a:xfrm rot="16200000">
            <a:off x="6005214" y="-1260525"/>
            <a:ext cx="108303" cy="9442960"/>
          </a:xfrm>
          <a:prstGeom prst="leftBracket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62" name="直接箭头连接符 61">
            <a:extLst>
              <a:ext uri="{FF2B5EF4-FFF2-40B4-BE49-F238E27FC236}">
                <a16:creationId xmlns:a16="http://schemas.microsoft.com/office/drawing/2014/main" id="{A149FECD-0F9E-4DD7-A969-598AF93CE7D3}"/>
              </a:ext>
            </a:extLst>
          </p:cNvPr>
          <p:cNvCxnSpPr>
            <a:cxnSpLocks/>
          </p:cNvCxnSpPr>
          <p:nvPr/>
        </p:nvCxnSpPr>
        <p:spPr>
          <a:xfrm>
            <a:off x="6111833" y="3515107"/>
            <a:ext cx="0" cy="368124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4" name="文本框 63">
            <a:extLst>
              <a:ext uri="{FF2B5EF4-FFF2-40B4-BE49-F238E27FC236}">
                <a16:creationId xmlns:a16="http://schemas.microsoft.com/office/drawing/2014/main" id="{E6604CEA-ACDF-463B-8F55-AC6FC3CB20FB}"/>
              </a:ext>
            </a:extLst>
          </p:cNvPr>
          <p:cNvSpPr txBox="1"/>
          <p:nvPr/>
        </p:nvSpPr>
        <p:spPr>
          <a:xfrm>
            <a:off x="3685528" y="3872910"/>
            <a:ext cx="485261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zh-CN" altLang="en-US" b="1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系统中的关键操作都围绕 </a:t>
            </a:r>
            <a:r>
              <a:rPr lang="en-US" altLang="zh-CN" b="1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Isolate </a:t>
            </a:r>
            <a:r>
              <a:rPr lang="zh-CN" altLang="en-US" b="1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展开</a:t>
            </a:r>
            <a:endParaRPr lang="en-US" altLang="zh-CN" b="1" dirty="0"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  <a:p>
            <a:pPr algn="ctr"/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（对象分配、脚本执行、模块导入、异常传播、宿主嵌入）</a:t>
            </a:r>
          </a:p>
        </p:txBody>
      </p:sp>
    </p:spTree>
    <p:extLst>
      <p:ext uri="{BB962C8B-B14F-4D97-AF65-F5344CB8AC3E}">
        <p14:creationId xmlns:p14="http://schemas.microsoft.com/office/powerpoint/2010/main" val="65257254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文本框 9">
            <a:extLst>
              <a:ext uri="{FF2B5EF4-FFF2-40B4-BE49-F238E27FC236}">
                <a16:creationId xmlns:a16="http://schemas.microsoft.com/office/drawing/2014/main" id="{7642DB36-EB4D-4D1D-BC4A-2AC5CBAFF3AE}"/>
              </a:ext>
            </a:extLst>
          </p:cNvPr>
          <p:cNvSpPr txBox="1"/>
          <p:nvPr/>
        </p:nvSpPr>
        <p:spPr>
          <a:xfrm>
            <a:off x="984994" y="1661287"/>
            <a:ext cx="1081963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MarkWord</a:t>
            </a:r>
            <a:endParaRPr lang="zh-CN" altLang="en-US" sz="1600" dirty="0"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grpSp>
        <p:nvGrpSpPr>
          <p:cNvPr id="22" name="组合 21">
            <a:extLst>
              <a:ext uri="{FF2B5EF4-FFF2-40B4-BE49-F238E27FC236}">
                <a16:creationId xmlns:a16="http://schemas.microsoft.com/office/drawing/2014/main" id="{E80CFF09-9F2D-45ED-BEF4-1AE61FEFAE6C}"/>
              </a:ext>
            </a:extLst>
          </p:cNvPr>
          <p:cNvGrpSpPr/>
          <p:nvPr/>
        </p:nvGrpSpPr>
        <p:grpSpPr>
          <a:xfrm>
            <a:off x="333243" y="896498"/>
            <a:ext cx="2385461" cy="1834823"/>
            <a:chOff x="333243" y="896498"/>
            <a:chExt cx="2385461" cy="1834823"/>
          </a:xfrm>
        </p:grpSpPr>
        <p:grpSp>
          <p:nvGrpSpPr>
            <p:cNvPr id="20" name="组合 19">
              <a:extLst>
                <a:ext uri="{FF2B5EF4-FFF2-40B4-BE49-F238E27FC236}">
                  <a16:creationId xmlns:a16="http://schemas.microsoft.com/office/drawing/2014/main" id="{D55C9007-A18E-41A0-A7B1-D82DB88353AE}"/>
                </a:ext>
              </a:extLst>
            </p:cNvPr>
            <p:cNvGrpSpPr/>
            <p:nvPr/>
          </p:nvGrpSpPr>
          <p:grpSpPr>
            <a:xfrm>
              <a:off x="665016" y="1248105"/>
              <a:ext cx="1721924" cy="1483216"/>
              <a:chOff x="665016" y="1248105"/>
              <a:chExt cx="1721924" cy="1483216"/>
            </a:xfrm>
          </p:grpSpPr>
          <p:sp>
            <p:nvSpPr>
              <p:cNvPr id="4" name="矩形 3">
                <a:extLst>
                  <a:ext uri="{FF2B5EF4-FFF2-40B4-BE49-F238E27FC236}">
                    <a16:creationId xmlns:a16="http://schemas.microsoft.com/office/drawing/2014/main" id="{18155401-0C96-454C-9AEA-A088FC5CB8C0}"/>
                  </a:ext>
                </a:extLst>
              </p:cNvPr>
              <p:cNvSpPr/>
              <p:nvPr/>
            </p:nvSpPr>
            <p:spPr>
              <a:xfrm>
                <a:off x="665017" y="1252846"/>
                <a:ext cx="1721923" cy="1478475"/>
              </a:xfrm>
              <a:prstGeom prst="rect">
                <a:avLst/>
              </a:prstGeom>
              <a:no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cxnSp>
            <p:nvCxnSpPr>
              <p:cNvPr id="6" name="直接连接符 5">
                <a:extLst>
                  <a:ext uri="{FF2B5EF4-FFF2-40B4-BE49-F238E27FC236}">
                    <a16:creationId xmlns:a16="http://schemas.microsoft.com/office/drawing/2014/main" id="{41764BC2-243A-40DA-AA69-B1952A1D15FB}"/>
                  </a:ext>
                </a:extLst>
              </p:cNvPr>
              <p:cNvCxnSpPr/>
              <p:nvPr/>
            </p:nvCxnSpPr>
            <p:spPr>
              <a:xfrm>
                <a:off x="665017" y="1632856"/>
                <a:ext cx="1721923" cy="0"/>
              </a:xfrm>
              <a:prstGeom prst="line">
                <a:avLst/>
              </a:prstGeom>
              <a:ln w="28575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7" name="文本框 6">
                <a:extLst>
                  <a:ext uri="{FF2B5EF4-FFF2-40B4-BE49-F238E27FC236}">
                    <a16:creationId xmlns:a16="http://schemas.microsoft.com/office/drawing/2014/main" id="{8BE98485-E981-48A7-A966-66BC5E5A3B14}"/>
                  </a:ext>
                </a:extLst>
              </p:cNvPr>
              <p:cNvSpPr txBox="1"/>
              <p:nvPr/>
            </p:nvSpPr>
            <p:spPr>
              <a:xfrm>
                <a:off x="971980" y="1248105"/>
                <a:ext cx="1107996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altLang="zh-CN" b="1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PyObject</a:t>
                </a:r>
                <a:endParaRPr lang="zh-CN" altLang="en-US" b="1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cxnSp>
            <p:nvCxnSpPr>
              <p:cNvPr id="8" name="直接连接符 7">
                <a:extLst>
                  <a:ext uri="{FF2B5EF4-FFF2-40B4-BE49-F238E27FC236}">
                    <a16:creationId xmlns:a16="http://schemas.microsoft.com/office/drawing/2014/main" id="{E9F9E636-7336-4602-86E4-92D84E3CD2BA}"/>
                  </a:ext>
                </a:extLst>
              </p:cNvPr>
              <p:cNvCxnSpPr/>
              <p:nvPr/>
            </p:nvCxnSpPr>
            <p:spPr>
              <a:xfrm>
                <a:off x="665016" y="2016825"/>
                <a:ext cx="1721923" cy="0"/>
              </a:xfrm>
              <a:prstGeom prst="line">
                <a:avLst/>
              </a:prstGeom>
              <a:ln w="28575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9" name="文本框 8">
                <a:extLst>
                  <a:ext uri="{FF2B5EF4-FFF2-40B4-BE49-F238E27FC236}">
                    <a16:creationId xmlns:a16="http://schemas.microsoft.com/office/drawing/2014/main" id="{079EB471-30B9-4BC5-B8A6-D860B8938EB5}"/>
                  </a:ext>
                </a:extLst>
              </p:cNvPr>
              <p:cNvSpPr txBox="1"/>
              <p:nvPr/>
            </p:nvSpPr>
            <p:spPr>
              <a:xfrm>
                <a:off x="1023275" y="2212139"/>
                <a:ext cx="1005403" cy="33855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zh-CN" altLang="en-US" sz="1600" dirty="0">
                    <a:latin typeface="宋体" panose="02010600030101010101" pitchFamily="2" charset="-122"/>
                    <a:ea typeface="宋体" panose="02010600030101010101" pitchFamily="2" charset="-122"/>
                  </a:rPr>
                  <a:t>实例字段</a:t>
                </a:r>
              </a:p>
            </p:txBody>
          </p:sp>
        </p:grpSp>
        <p:sp>
          <p:nvSpPr>
            <p:cNvPr id="17" name="文本框 16">
              <a:extLst>
                <a:ext uri="{FF2B5EF4-FFF2-40B4-BE49-F238E27FC236}">
                  <a16:creationId xmlns:a16="http://schemas.microsoft.com/office/drawing/2014/main" id="{4DE32F67-734D-4578-AA21-F4FE468CC57E}"/>
                </a:ext>
              </a:extLst>
            </p:cNvPr>
            <p:cNvSpPr txBox="1"/>
            <p:nvPr/>
          </p:nvSpPr>
          <p:spPr>
            <a:xfrm>
              <a:off x="333243" y="896498"/>
              <a:ext cx="2385461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sz="1600" dirty="0"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Example </a:t>
              </a:r>
              <a:r>
                <a:rPr lang="zh-CN" altLang="en-US" sz="1600" dirty="0"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类型实例对象</a:t>
              </a:r>
              <a:r>
                <a:rPr lang="en-US" altLang="zh-CN" sz="1600" dirty="0"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 A</a:t>
              </a:r>
              <a:endPara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endParaRPr>
            </a:p>
          </p:txBody>
        </p:sp>
      </p:grpSp>
      <p:grpSp>
        <p:nvGrpSpPr>
          <p:cNvPr id="23" name="组合 22">
            <a:extLst>
              <a:ext uri="{FF2B5EF4-FFF2-40B4-BE49-F238E27FC236}">
                <a16:creationId xmlns:a16="http://schemas.microsoft.com/office/drawing/2014/main" id="{5EF956D7-9C3F-49B2-95B1-F567B7E7A38D}"/>
              </a:ext>
            </a:extLst>
          </p:cNvPr>
          <p:cNvGrpSpPr/>
          <p:nvPr/>
        </p:nvGrpSpPr>
        <p:grpSpPr>
          <a:xfrm>
            <a:off x="331168" y="3063045"/>
            <a:ext cx="2385461" cy="1815731"/>
            <a:chOff x="331168" y="3063045"/>
            <a:chExt cx="2385461" cy="1815731"/>
          </a:xfrm>
        </p:grpSpPr>
        <p:grpSp>
          <p:nvGrpSpPr>
            <p:cNvPr id="21" name="组合 20">
              <a:extLst>
                <a:ext uri="{FF2B5EF4-FFF2-40B4-BE49-F238E27FC236}">
                  <a16:creationId xmlns:a16="http://schemas.microsoft.com/office/drawing/2014/main" id="{679FC618-D7D5-4306-B308-AAF27F7D129E}"/>
                </a:ext>
              </a:extLst>
            </p:cNvPr>
            <p:cNvGrpSpPr/>
            <p:nvPr/>
          </p:nvGrpSpPr>
          <p:grpSpPr>
            <a:xfrm>
              <a:off x="665015" y="3395560"/>
              <a:ext cx="1721924" cy="1483216"/>
              <a:chOff x="665015" y="3395560"/>
              <a:chExt cx="1721924" cy="1483216"/>
            </a:xfrm>
          </p:grpSpPr>
          <p:sp>
            <p:nvSpPr>
              <p:cNvPr id="11" name="矩形 10">
                <a:extLst>
                  <a:ext uri="{FF2B5EF4-FFF2-40B4-BE49-F238E27FC236}">
                    <a16:creationId xmlns:a16="http://schemas.microsoft.com/office/drawing/2014/main" id="{B96BFF5F-8BDD-418E-BF55-65005FAE3135}"/>
                  </a:ext>
                </a:extLst>
              </p:cNvPr>
              <p:cNvSpPr/>
              <p:nvPr/>
            </p:nvSpPr>
            <p:spPr>
              <a:xfrm>
                <a:off x="665016" y="3400301"/>
                <a:ext cx="1721923" cy="1478475"/>
              </a:xfrm>
              <a:prstGeom prst="rect">
                <a:avLst/>
              </a:prstGeom>
              <a:no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cxnSp>
            <p:nvCxnSpPr>
              <p:cNvPr id="12" name="直接连接符 11">
                <a:extLst>
                  <a:ext uri="{FF2B5EF4-FFF2-40B4-BE49-F238E27FC236}">
                    <a16:creationId xmlns:a16="http://schemas.microsoft.com/office/drawing/2014/main" id="{1AACCD5A-1046-46A3-A6E4-F0D8A985FD4A}"/>
                  </a:ext>
                </a:extLst>
              </p:cNvPr>
              <p:cNvCxnSpPr/>
              <p:nvPr/>
            </p:nvCxnSpPr>
            <p:spPr>
              <a:xfrm>
                <a:off x="665016" y="3780311"/>
                <a:ext cx="1721923" cy="0"/>
              </a:xfrm>
              <a:prstGeom prst="line">
                <a:avLst/>
              </a:prstGeom>
              <a:ln w="28575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13" name="文本框 12">
                <a:extLst>
                  <a:ext uri="{FF2B5EF4-FFF2-40B4-BE49-F238E27FC236}">
                    <a16:creationId xmlns:a16="http://schemas.microsoft.com/office/drawing/2014/main" id="{A386E7A3-E86F-4112-9594-172009AC92AA}"/>
                  </a:ext>
                </a:extLst>
              </p:cNvPr>
              <p:cNvSpPr txBox="1"/>
              <p:nvPr/>
            </p:nvSpPr>
            <p:spPr>
              <a:xfrm>
                <a:off x="971979" y="3395560"/>
                <a:ext cx="1107996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altLang="zh-CN" b="1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PyObject</a:t>
                </a:r>
                <a:endParaRPr lang="zh-CN" altLang="en-US" b="1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cxnSp>
            <p:nvCxnSpPr>
              <p:cNvPr id="14" name="直接连接符 13">
                <a:extLst>
                  <a:ext uri="{FF2B5EF4-FFF2-40B4-BE49-F238E27FC236}">
                    <a16:creationId xmlns:a16="http://schemas.microsoft.com/office/drawing/2014/main" id="{BC20699C-2EC0-4338-9142-5464EABCC1F5}"/>
                  </a:ext>
                </a:extLst>
              </p:cNvPr>
              <p:cNvCxnSpPr/>
              <p:nvPr/>
            </p:nvCxnSpPr>
            <p:spPr>
              <a:xfrm>
                <a:off x="665015" y="4164280"/>
                <a:ext cx="1721923" cy="0"/>
              </a:xfrm>
              <a:prstGeom prst="line">
                <a:avLst/>
              </a:prstGeom>
              <a:ln w="28575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15" name="文本框 14">
                <a:extLst>
                  <a:ext uri="{FF2B5EF4-FFF2-40B4-BE49-F238E27FC236}">
                    <a16:creationId xmlns:a16="http://schemas.microsoft.com/office/drawing/2014/main" id="{020B849B-10FB-4E0C-B170-C63437470024}"/>
                  </a:ext>
                </a:extLst>
              </p:cNvPr>
              <p:cNvSpPr txBox="1"/>
              <p:nvPr/>
            </p:nvSpPr>
            <p:spPr>
              <a:xfrm>
                <a:off x="1023274" y="4359594"/>
                <a:ext cx="1005403" cy="33855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zh-CN" altLang="en-US" sz="1600" dirty="0">
                    <a:latin typeface="宋体" panose="02010600030101010101" pitchFamily="2" charset="-122"/>
                    <a:ea typeface="宋体" panose="02010600030101010101" pitchFamily="2" charset="-122"/>
                  </a:rPr>
                  <a:t>实例字段</a:t>
                </a:r>
              </a:p>
            </p:txBody>
          </p:sp>
          <p:sp>
            <p:nvSpPr>
              <p:cNvPr id="16" name="文本框 15">
                <a:extLst>
                  <a:ext uri="{FF2B5EF4-FFF2-40B4-BE49-F238E27FC236}">
                    <a16:creationId xmlns:a16="http://schemas.microsoft.com/office/drawing/2014/main" id="{3E91DB49-6CAC-4D10-A3EC-44954C708ED5}"/>
                  </a:ext>
                </a:extLst>
              </p:cNvPr>
              <p:cNvSpPr txBox="1"/>
              <p:nvPr/>
            </p:nvSpPr>
            <p:spPr>
              <a:xfrm>
                <a:off x="984993" y="3808742"/>
                <a:ext cx="1081963" cy="33855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altLang="zh-CN" sz="1600" dirty="0">
                    <a:latin typeface="Times New Roman" panose="02020603050405020304" pitchFamily="18" charset="0"/>
                    <a:ea typeface="宋体" panose="02010600030101010101" pitchFamily="2" charset="-122"/>
                    <a:cs typeface="Times New Roman" panose="02020603050405020304" pitchFamily="18" charset="0"/>
                  </a:rPr>
                  <a:t>MarkWord</a:t>
                </a:r>
                <a:endParaRPr lang="zh-CN" altLang="en-US" sz="1600" dirty="0"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endParaRPr>
              </a:p>
            </p:txBody>
          </p:sp>
        </p:grpSp>
        <p:sp>
          <p:nvSpPr>
            <p:cNvPr id="19" name="文本框 18">
              <a:extLst>
                <a:ext uri="{FF2B5EF4-FFF2-40B4-BE49-F238E27FC236}">
                  <a16:creationId xmlns:a16="http://schemas.microsoft.com/office/drawing/2014/main" id="{16F98883-49D7-4963-A5E6-A5677C710272}"/>
                </a:ext>
              </a:extLst>
            </p:cNvPr>
            <p:cNvSpPr txBox="1"/>
            <p:nvPr/>
          </p:nvSpPr>
          <p:spPr>
            <a:xfrm>
              <a:off x="331168" y="3063045"/>
              <a:ext cx="2385461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sz="1600" dirty="0"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Example </a:t>
              </a:r>
              <a:r>
                <a:rPr lang="zh-CN" altLang="en-US" sz="1600" dirty="0"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类型实例对象</a:t>
              </a:r>
              <a:r>
                <a:rPr lang="en-US" altLang="zh-CN" sz="1600" dirty="0"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 B</a:t>
              </a:r>
              <a:endPara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endParaRPr>
            </a:p>
          </p:txBody>
        </p:sp>
      </p:grpSp>
      <p:grpSp>
        <p:nvGrpSpPr>
          <p:cNvPr id="53" name="组合 52">
            <a:extLst>
              <a:ext uri="{FF2B5EF4-FFF2-40B4-BE49-F238E27FC236}">
                <a16:creationId xmlns:a16="http://schemas.microsoft.com/office/drawing/2014/main" id="{1866AA9A-B0FE-4A81-AADB-105A7B057B1C}"/>
              </a:ext>
            </a:extLst>
          </p:cNvPr>
          <p:cNvGrpSpPr/>
          <p:nvPr/>
        </p:nvGrpSpPr>
        <p:grpSpPr>
          <a:xfrm>
            <a:off x="3873548" y="2361541"/>
            <a:ext cx="1907895" cy="1838399"/>
            <a:chOff x="4388955" y="2170107"/>
            <a:chExt cx="1907895" cy="1838399"/>
          </a:xfrm>
        </p:grpSpPr>
        <p:sp>
          <p:nvSpPr>
            <p:cNvPr id="42" name="文本框 41">
              <a:extLst>
                <a:ext uri="{FF2B5EF4-FFF2-40B4-BE49-F238E27FC236}">
                  <a16:creationId xmlns:a16="http://schemas.microsoft.com/office/drawing/2014/main" id="{9FD5F8C3-4CC1-4579-9A8F-87037B7A7004}"/>
                </a:ext>
              </a:extLst>
            </p:cNvPr>
            <p:cNvSpPr txBox="1"/>
            <p:nvPr/>
          </p:nvSpPr>
          <p:spPr>
            <a:xfrm>
              <a:off x="4698227" y="2573759"/>
              <a:ext cx="1144865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sz="1600" dirty="0"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type_object</a:t>
              </a:r>
              <a:endPara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endParaRPr>
            </a:p>
          </p:txBody>
        </p:sp>
        <p:grpSp>
          <p:nvGrpSpPr>
            <p:cNvPr id="44" name="组合 43">
              <a:extLst>
                <a:ext uri="{FF2B5EF4-FFF2-40B4-BE49-F238E27FC236}">
                  <a16:creationId xmlns:a16="http://schemas.microsoft.com/office/drawing/2014/main" id="{6ED47EC5-F638-4DF3-8447-4A78598990E0}"/>
                </a:ext>
              </a:extLst>
            </p:cNvPr>
            <p:cNvGrpSpPr/>
            <p:nvPr/>
          </p:nvGrpSpPr>
          <p:grpSpPr>
            <a:xfrm>
              <a:off x="4388955" y="2170107"/>
              <a:ext cx="1907895" cy="1838399"/>
              <a:chOff x="644269" y="1252846"/>
              <a:chExt cx="1907895" cy="1136578"/>
            </a:xfrm>
          </p:grpSpPr>
          <p:sp>
            <p:nvSpPr>
              <p:cNvPr id="46" name="矩形 45">
                <a:extLst>
                  <a:ext uri="{FF2B5EF4-FFF2-40B4-BE49-F238E27FC236}">
                    <a16:creationId xmlns:a16="http://schemas.microsoft.com/office/drawing/2014/main" id="{88B0AD57-3F49-43EC-93FF-5BBF2740FF08}"/>
                  </a:ext>
                </a:extLst>
              </p:cNvPr>
              <p:cNvSpPr/>
              <p:nvPr/>
            </p:nvSpPr>
            <p:spPr>
              <a:xfrm>
                <a:off x="665017" y="1252846"/>
                <a:ext cx="1866406" cy="1136577"/>
              </a:xfrm>
              <a:prstGeom prst="rect">
                <a:avLst/>
              </a:prstGeom>
              <a:no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dirty="0"/>
              </a:p>
            </p:txBody>
          </p:sp>
          <p:cxnSp>
            <p:nvCxnSpPr>
              <p:cNvPr id="47" name="直接连接符 46">
                <a:extLst>
                  <a:ext uri="{FF2B5EF4-FFF2-40B4-BE49-F238E27FC236}">
                    <a16:creationId xmlns:a16="http://schemas.microsoft.com/office/drawing/2014/main" id="{689AF57C-5E6B-49C2-89FD-E672EA96EB0B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65011" y="1488143"/>
                <a:ext cx="1866412" cy="0"/>
              </a:xfrm>
              <a:prstGeom prst="line">
                <a:avLst/>
              </a:prstGeom>
              <a:ln w="28575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48" name="文本框 47">
                <a:extLst>
                  <a:ext uri="{FF2B5EF4-FFF2-40B4-BE49-F238E27FC236}">
                    <a16:creationId xmlns:a16="http://schemas.microsoft.com/office/drawing/2014/main" id="{2429EAAD-D07F-405C-A9D0-B7CCB236E76C}"/>
                  </a:ext>
                </a:extLst>
              </p:cNvPr>
              <p:cNvSpPr txBox="1"/>
              <p:nvPr/>
            </p:nvSpPr>
            <p:spPr>
              <a:xfrm>
                <a:off x="1164337" y="1260171"/>
                <a:ext cx="723275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altLang="zh-CN" b="1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Klass</a:t>
                </a:r>
                <a:endParaRPr lang="zh-CN" altLang="en-US" b="1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cxnSp>
            <p:nvCxnSpPr>
              <p:cNvPr id="49" name="直接连接符 48">
                <a:extLst>
                  <a:ext uri="{FF2B5EF4-FFF2-40B4-BE49-F238E27FC236}">
                    <a16:creationId xmlns:a16="http://schemas.microsoft.com/office/drawing/2014/main" id="{67D9BA3D-5F7A-4367-8EC0-D84F3DDF2EA4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65011" y="1706466"/>
                <a:ext cx="1866412" cy="0"/>
              </a:xfrm>
              <a:prstGeom prst="line">
                <a:avLst/>
              </a:prstGeom>
              <a:ln w="28575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50" name="文本框 49">
                <a:extLst>
                  <a:ext uri="{FF2B5EF4-FFF2-40B4-BE49-F238E27FC236}">
                    <a16:creationId xmlns:a16="http://schemas.microsoft.com/office/drawing/2014/main" id="{2D20532A-72DF-4A32-A872-749B3F25FD4B}"/>
                  </a:ext>
                </a:extLst>
              </p:cNvPr>
              <p:cNvSpPr txBox="1"/>
              <p:nvPr/>
            </p:nvSpPr>
            <p:spPr>
              <a:xfrm>
                <a:off x="644269" y="1723441"/>
                <a:ext cx="1907895" cy="665983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zh-CN" altLang="en-US" sz="1600" dirty="0">
                    <a:latin typeface="Times New Roman" panose="02020603050405020304" pitchFamily="18" charset="0"/>
                    <a:ea typeface="宋体" panose="02010600030101010101" pitchFamily="2" charset="-122"/>
                    <a:cs typeface="Times New Roman" panose="02020603050405020304" pitchFamily="18" charset="0"/>
                  </a:rPr>
                  <a:t>类型名称：</a:t>
                </a:r>
                <a:r>
                  <a:rPr lang="en-US" altLang="zh-CN" sz="1600" dirty="0">
                    <a:latin typeface="Times New Roman" panose="02020603050405020304" pitchFamily="18" charset="0"/>
                    <a:ea typeface="宋体" panose="02010600030101010101" pitchFamily="2" charset="-122"/>
                    <a:cs typeface="Times New Roman" panose="02020603050405020304" pitchFamily="18" charset="0"/>
                  </a:rPr>
                  <a:t>example</a:t>
                </a:r>
              </a:p>
              <a:p>
                <a:r>
                  <a:rPr lang="zh-CN" altLang="en-US" sz="1600" dirty="0">
                    <a:latin typeface="Times New Roman" panose="02020603050405020304" pitchFamily="18" charset="0"/>
                    <a:ea typeface="宋体" panose="02010600030101010101" pitchFamily="2" charset="-122"/>
                    <a:cs typeface="Times New Roman" panose="02020603050405020304" pitchFamily="18" charset="0"/>
                  </a:rPr>
                  <a:t>行为分派：</a:t>
                </a:r>
                <a:r>
                  <a:rPr lang="en-US" altLang="zh-CN" sz="1600" dirty="0">
                    <a:latin typeface="Times New Roman" panose="02020603050405020304" pitchFamily="18" charset="0"/>
                    <a:ea typeface="宋体" panose="02010600030101010101" pitchFamily="2" charset="-122"/>
                    <a:cs typeface="Times New Roman" panose="02020603050405020304" pitchFamily="18" charset="0"/>
                  </a:rPr>
                  <a:t>…</a:t>
                </a:r>
              </a:p>
              <a:p>
                <a:r>
                  <a:rPr lang="zh-CN" altLang="en-US" sz="1600" dirty="0">
                    <a:latin typeface="Times New Roman" panose="02020603050405020304" pitchFamily="18" charset="0"/>
                    <a:ea typeface="宋体" panose="02010600030101010101" pitchFamily="2" charset="-122"/>
                    <a:cs typeface="Times New Roman" panose="02020603050405020304" pitchFamily="18" charset="0"/>
                  </a:rPr>
                  <a:t>父类关系：</a:t>
                </a:r>
                <a:r>
                  <a:rPr lang="en-US" altLang="zh-CN" sz="1600" dirty="0">
                    <a:latin typeface="Times New Roman" panose="02020603050405020304" pitchFamily="18" charset="0"/>
                    <a:ea typeface="宋体" panose="02010600030101010101" pitchFamily="2" charset="-122"/>
                    <a:cs typeface="Times New Roman" panose="02020603050405020304" pitchFamily="18" charset="0"/>
                  </a:rPr>
                  <a:t>…</a:t>
                </a:r>
              </a:p>
              <a:p>
                <a:r>
                  <a:rPr lang="zh-CN" altLang="en-US" sz="1600" dirty="0">
                    <a:latin typeface="Times New Roman" panose="02020603050405020304" pitchFamily="18" charset="0"/>
                    <a:ea typeface="宋体" panose="02010600030101010101" pitchFamily="2" charset="-122"/>
                    <a:cs typeface="Times New Roman" panose="02020603050405020304" pitchFamily="18" charset="0"/>
                  </a:rPr>
                  <a:t>类型特征：</a:t>
                </a:r>
                <a:r>
                  <a:rPr lang="en-US" altLang="zh-CN" sz="1600" dirty="0">
                    <a:latin typeface="Times New Roman" panose="02020603050405020304" pitchFamily="18" charset="0"/>
                    <a:ea typeface="宋体" panose="02010600030101010101" pitchFamily="2" charset="-122"/>
                    <a:cs typeface="Times New Roman" panose="02020603050405020304" pitchFamily="18" charset="0"/>
                  </a:rPr>
                  <a:t>…</a:t>
                </a:r>
              </a:p>
            </p:txBody>
          </p:sp>
        </p:grpSp>
      </p:grpSp>
      <p:sp>
        <p:nvSpPr>
          <p:cNvPr id="45" name="文本框 44">
            <a:extLst>
              <a:ext uri="{FF2B5EF4-FFF2-40B4-BE49-F238E27FC236}">
                <a16:creationId xmlns:a16="http://schemas.microsoft.com/office/drawing/2014/main" id="{7441FFBA-6700-49C8-90F2-E2873D703B0C}"/>
              </a:ext>
            </a:extLst>
          </p:cNvPr>
          <p:cNvSpPr txBox="1"/>
          <p:nvPr/>
        </p:nvSpPr>
        <p:spPr>
          <a:xfrm>
            <a:off x="3662753" y="2011097"/>
            <a:ext cx="2329484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Example 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类型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 Klass 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实体</a:t>
            </a:r>
          </a:p>
        </p:txBody>
      </p:sp>
      <p:cxnSp>
        <p:nvCxnSpPr>
          <p:cNvPr id="57" name="连接符: 曲线 56">
            <a:extLst>
              <a:ext uri="{FF2B5EF4-FFF2-40B4-BE49-F238E27FC236}">
                <a16:creationId xmlns:a16="http://schemas.microsoft.com/office/drawing/2014/main" id="{407D7055-9EF9-4580-8AA9-A11F9B825731}"/>
              </a:ext>
            </a:extLst>
          </p:cNvPr>
          <p:cNvCxnSpPr>
            <a:cxnSpLocks/>
          </p:cNvCxnSpPr>
          <p:nvPr/>
        </p:nvCxnSpPr>
        <p:spPr>
          <a:xfrm>
            <a:off x="2397316" y="1830564"/>
            <a:ext cx="1501748" cy="1347844"/>
          </a:xfrm>
          <a:prstGeom prst="curvedConnector3">
            <a:avLst>
              <a:gd name="adj1" fmla="val 50000"/>
            </a:avLst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2" name="连接符: 曲线 61">
            <a:extLst>
              <a:ext uri="{FF2B5EF4-FFF2-40B4-BE49-F238E27FC236}">
                <a16:creationId xmlns:a16="http://schemas.microsoft.com/office/drawing/2014/main" id="{AAC1EC3B-1867-411A-9BE3-880EE5D043DA}"/>
              </a:ext>
            </a:extLst>
          </p:cNvPr>
          <p:cNvCxnSpPr>
            <a:cxnSpLocks/>
          </p:cNvCxnSpPr>
          <p:nvPr/>
        </p:nvCxnSpPr>
        <p:spPr>
          <a:xfrm flipV="1">
            <a:off x="2397098" y="3420203"/>
            <a:ext cx="1491384" cy="557817"/>
          </a:xfrm>
          <a:prstGeom prst="curvedConnector3">
            <a:avLst>
              <a:gd name="adj1" fmla="val 50000"/>
            </a:avLst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7" name="椭圆 66">
            <a:extLst>
              <a:ext uri="{FF2B5EF4-FFF2-40B4-BE49-F238E27FC236}">
                <a16:creationId xmlns:a16="http://schemas.microsoft.com/office/drawing/2014/main" id="{375CDB7E-5B84-44E5-A534-E42BDBA9D8F0}"/>
              </a:ext>
            </a:extLst>
          </p:cNvPr>
          <p:cNvSpPr/>
          <p:nvPr/>
        </p:nvSpPr>
        <p:spPr>
          <a:xfrm>
            <a:off x="2318651" y="1768488"/>
            <a:ext cx="136566" cy="136566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8" name="椭圆 67">
            <a:extLst>
              <a:ext uri="{FF2B5EF4-FFF2-40B4-BE49-F238E27FC236}">
                <a16:creationId xmlns:a16="http://schemas.microsoft.com/office/drawing/2014/main" id="{FF4DF6AA-9DED-48E3-9451-156B158EBD08}"/>
              </a:ext>
            </a:extLst>
          </p:cNvPr>
          <p:cNvSpPr/>
          <p:nvPr/>
        </p:nvSpPr>
        <p:spPr>
          <a:xfrm>
            <a:off x="2318227" y="3901302"/>
            <a:ext cx="136566" cy="136566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1" name="文本框 70">
            <a:extLst>
              <a:ext uri="{FF2B5EF4-FFF2-40B4-BE49-F238E27FC236}">
                <a16:creationId xmlns:a16="http://schemas.microsoft.com/office/drawing/2014/main" id="{2F880B74-7B97-4E14-A17D-A2331D29CC14}"/>
              </a:ext>
            </a:extLst>
          </p:cNvPr>
          <p:cNvSpPr txBox="1"/>
          <p:nvPr/>
        </p:nvSpPr>
        <p:spPr>
          <a:xfrm>
            <a:off x="6293522" y="2080939"/>
            <a:ext cx="1838965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Example 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类型对象</a:t>
            </a:r>
          </a:p>
        </p:txBody>
      </p:sp>
      <p:grpSp>
        <p:nvGrpSpPr>
          <p:cNvPr id="80" name="组合 79">
            <a:extLst>
              <a:ext uri="{FF2B5EF4-FFF2-40B4-BE49-F238E27FC236}">
                <a16:creationId xmlns:a16="http://schemas.microsoft.com/office/drawing/2014/main" id="{A521F215-E110-4BAE-9DDD-8B84AA3D6B0E}"/>
              </a:ext>
            </a:extLst>
          </p:cNvPr>
          <p:cNvGrpSpPr/>
          <p:nvPr/>
        </p:nvGrpSpPr>
        <p:grpSpPr>
          <a:xfrm>
            <a:off x="6340028" y="2437191"/>
            <a:ext cx="1733945" cy="1482433"/>
            <a:chOff x="6760691" y="751185"/>
            <a:chExt cx="1733945" cy="1482433"/>
          </a:xfrm>
        </p:grpSpPr>
        <p:grpSp>
          <p:nvGrpSpPr>
            <p:cNvPr id="70" name="组合 69">
              <a:extLst>
                <a:ext uri="{FF2B5EF4-FFF2-40B4-BE49-F238E27FC236}">
                  <a16:creationId xmlns:a16="http://schemas.microsoft.com/office/drawing/2014/main" id="{198D16BC-FB79-4B26-904D-3EB28BAEFF0A}"/>
                </a:ext>
              </a:extLst>
            </p:cNvPr>
            <p:cNvGrpSpPr/>
            <p:nvPr/>
          </p:nvGrpSpPr>
          <p:grpSpPr>
            <a:xfrm>
              <a:off x="6772712" y="751185"/>
              <a:ext cx="1721924" cy="1482433"/>
              <a:chOff x="665015" y="3396343"/>
              <a:chExt cx="1721924" cy="1482433"/>
            </a:xfrm>
          </p:grpSpPr>
          <p:sp>
            <p:nvSpPr>
              <p:cNvPr id="72" name="矩形 71">
                <a:extLst>
                  <a:ext uri="{FF2B5EF4-FFF2-40B4-BE49-F238E27FC236}">
                    <a16:creationId xmlns:a16="http://schemas.microsoft.com/office/drawing/2014/main" id="{FEE1DCA2-1D42-4BD4-B917-58709B92DAC7}"/>
                  </a:ext>
                </a:extLst>
              </p:cNvPr>
              <p:cNvSpPr/>
              <p:nvPr/>
            </p:nvSpPr>
            <p:spPr>
              <a:xfrm>
                <a:off x="665016" y="3400301"/>
                <a:ext cx="1721923" cy="1478475"/>
              </a:xfrm>
              <a:prstGeom prst="rect">
                <a:avLst/>
              </a:prstGeom>
              <a:no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cxnSp>
            <p:nvCxnSpPr>
              <p:cNvPr id="73" name="直接连接符 72">
                <a:extLst>
                  <a:ext uri="{FF2B5EF4-FFF2-40B4-BE49-F238E27FC236}">
                    <a16:creationId xmlns:a16="http://schemas.microsoft.com/office/drawing/2014/main" id="{F931DCDD-E607-441A-B2AD-E477AA13356F}"/>
                  </a:ext>
                </a:extLst>
              </p:cNvPr>
              <p:cNvCxnSpPr/>
              <p:nvPr/>
            </p:nvCxnSpPr>
            <p:spPr>
              <a:xfrm>
                <a:off x="665016" y="3780311"/>
                <a:ext cx="1721923" cy="0"/>
              </a:xfrm>
              <a:prstGeom prst="line">
                <a:avLst/>
              </a:prstGeom>
              <a:ln w="28575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74" name="文本框 73">
                <a:extLst>
                  <a:ext uri="{FF2B5EF4-FFF2-40B4-BE49-F238E27FC236}">
                    <a16:creationId xmlns:a16="http://schemas.microsoft.com/office/drawing/2014/main" id="{71ECDDBD-0BCE-4B8F-86FF-4B27547910AD}"/>
                  </a:ext>
                </a:extLst>
              </p:cNvPr>
              <p:cNvSpPr txBox="1"/>
              <p:nvPr/>
            </p:nvSpPr>
            <p:spPr>
              <a:xfrm>
                <a:off x="730466" y="3396343"/>
                <a:ext cx="1591013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altLang="zh-CN" b="1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PyTypeObject</a:t>
                </a:r>
                <a:endParaRPr lang="zh-CN" altLang="en-US" b="1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cxnSp>
            <p:nvCxnSpPr>
              <p:cNvPr id="75" name="直接连接符 74">
                <a:extLst>
                  <a:ext uri="{FF2B5EF4-FFF2-40B4-BE49-F238E27FC236}">
                    <a16:creationId xmlns:a16="http://schemas.microsoft.com/office/drawing/2014/main" id="{328F4662-6D88-4A32-A2B1-F4B042D40B90}"/>
                  </a:ext>
                </a:extLst>
              </p:cNvPr>
              <p:cNvCxnSpPr/>
              <p:nvPr/>
            </p:nvCxnSpPr>
            <p:spPr>
              <a:xfrm>
                <a:off x="665015" y="4164280"/>
                <a:ext cx="1721923" cy="0"/>
              </a:xfrm>
              <a:prstGeom prst="line">
                <a:avLst/>
              </a:prstGeom>
              <a:ln w="28575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76" name="文本框 75">
                <a:extLst>
                  <a:ext uri="{FF2B5EF4-FFF2-40B4-BE49-F238E27FC236}">
                    <a16:creationId xmlns:a16="http://schemas.microsoft.com/office/drawing/2014/main" id="{60EF75A5-FE9E-4AE6-A4D8-A0BD37EB69F8}"/>
                  </a:ext>
                </a:extLst>
              </p:cNvPr>
              <p:cNvSpPr txBox="1"/>
              <p:nvPr/>
            </p:nvSpPr>
            <p:spPr>
              <a:xfrm>
                <a:off x="1000026" y="4159265"/>
                <a:ext cx="1051891" cy="33855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altLang="zh-CN" sz="1600" dirty="0">
                    <a:latin typeface="Times New Roman" panose="02020603050405020304" pitchFamily="18" charset="0"/>
                    <a:ea typeface="宋体" panose="02010600030101010101" pitchFamily="2" charset="-122"/>
                    <a:cs typeface="Times New Roman" panose="02020603050405020304" pitchFamily="18" charset="0"/>
                  </a:rPr>
                  <a:t>own_klass</a:t>
                </a:r>
                <a:endParaRPr lang="zh-CN" altLang="en-US" sz="1600" dirty="0"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endParaRPr>
              </a:p>
            </p:txBody>
          </p:sp>
          <p:sp>
            <p:nvSpPr>
              <p:cNvPr id="77" name="文本框 76">
                <a:extLst>
                  <a:ext uri="{FF2B5EF4-FFF2-40B4-BE49-F238E27FC236}">
                    <a16:creationId xmlns:a16="http://schemas.microsoft.com/office/drawing/2014/main" id="{7474F95E-C8AC-40FA-A4D5-2FB511CA00A7}"/>
                  </a:ext>
                </a:extLst>
              </p:cNvPr>
              <p:cNvSpPr txBox="1"/>
              <p:nvPr/>
            </p:nvSpPr>
            <p:spPr>
              <a:xfrm>
                <a:off x="984993" y="3808742"/>
                <a:ext cx="1081963" cy="33855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altLang="zh-CN" sz="1600" dirty="0">
                    <a:latin typeface="Times New Roman" panose="02020603050405020304" pitchFamily="18" charset="0"/>
                    <a:ea typeface="宋体" panose="02010600030101010101" pitchFamily="2" charset="-122"/>
                    <a:cs typeface="Times New Roman" panose="02020603050405020304" pitchFamily="18" charset="0"/>
                  </a:rPr>
                  <a:t>MarkWord</a:t>
                </a:r>
                <a:endParaRPr lang="zh-CN" altLang="en-US" sz="1600" dirty="0"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endParaRPr>
              </a:p>
            </p:txBody>
          </p:sp>
        </p:grpSp>
        <p:cxnSp>
          <p:nvCxnSpPr>
            <p:cNvPr id="78" name="直接连接符 77">
              <a:extLst>
                <a:ext uri="{FF2B5EF4-FFF2-40B4-BE49-F238E27FC236}">
                  <a16:creationId xmlns:a16="http://schemas.microsoft.com/office/drawing/2014/main" id="{245A7461-E8A3-46D4-9D45-8C2DC35D1063}"/>
                </a:ext>
              </a:extLst>
            </p:cNvPr>
            <p:cNvCxnSpPr/>
            <p:nvPr/>
          </p:nvCxnSpPr>
          <p:spPr>
            <a:xfrm>
              <a:off x="6760691" y="1852661"/>
              <a:ext cx="1721923" cy="0"/>
            </a:xfrm>
            <a:prstGeom prst="line">
              <a:avLst/>
            </a:prstGeom>
            <a:ln w="28575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79" name="文本框 78">
              <a:extLst>
                <a:ext uri="{FF2B5EF4-FFF2-40B4-BE49-F238E27FC236}">
                  <a16:creationId xmlns:a16="http://schemas.microsoft.com/office/drawing/2014/main" id="{2825FBA2-9367-47C0-B56A-F658706A97A0}"/>
                </a:ext>
              </a:extLst>
            </p:cNvPr>
            <p:cNvSpPr txBox="1"/>
            <p:nvPr/>
          </p:nvSpPr>
          <p:spPr>
            <a:xfrm>
              <a:off x="7426727" y="1850153"/>
              <a:ext cx="389850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sz="1600" dirty="0"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…</a:t>
              </a:r>
              <a:endPara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endParaRPr>
            </a:p>
          </p:txBody>
        </p:sp>
      </p:grpSp>
      <p:grpSp>
        <p:nvGrpSpPr>
          <p:cNvPr id="81" name="组合 80">
            <a:extLst>
              <a:ext uri="{FF2B5EF4-FFF2-40B4-BE49-F238E27FC236}">
                <a16:creationId xmlns:a16="http://schemas.microsoft.com/office/drawing/2014/main" id="{05F18BB9-1674-4749-B625-8B3DDD4658D7}"/>
              </a:ext>
            </a:extLst>
          </p:cNvPr>
          <p:cNvGrpSpPr/>
          <p:nvPr/>
        </p:nvGrpSpPr>
        <p:grpSpPr>
          <a:xfrm>
            <a:off x="8644579" y="2563367"/>
            <a:ext cx="2129625" cy="742206"/>
            <a:chOff x="4409697" y="2170109"/>
            <a:chExt cx="2129625" cy="742206"/>
          </a:xfrm>
        </p:grpSpPr>
        <p:sp>
          <p:nvSpPr>
            <p:cNvPr id="82" name="文本框 81">
              <a:extLst>
                <a:ext uri="{FF2B5EF4-FFF2-40B4-BE49-F238E27FC236}">
                  <a16:creationId xmlns:a16="http://schemas.microsoft.com/office/drawing/2014/main" id="{93C1E67C-B9CB-4CF8-AFFE-C5EA8300B205}"/>
                </a:ext>
              </a:extLst>
            </p:cNvPr>
            <p:cNvSpPr txBox="1"/>
            <p:nvPr/>
          </p:nvSpPr>
          <p:spPr>
            <a:xfrm>
              <a:off x="5279583" y="2550697"/>
              <a:ext cx="389850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sz="1600" dirty="0"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…</a:t>
              </a:r>
              <a:endPara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endParaRPr>
            </a:p>
          </p:txBody>
        </p:sp>
        <p:grpSp>
          <p:nvGrpSpPr>
            <p:cNvPr id="83" name="组合 82">
              <a:extLst>
                <a:ext uri="{FF2B5EF4-FFF2-40B4-BE49-F238E27FC236}">
                  <a16:creationId xmlns:a16="http://schemas.microsoft.com/office/drawing/2014/main" id="{01482BD0-5609-42E2-B5D2-E637D45D9DA4}"/>
                </a:ext>
              </a:extLst>
            </p:cNvPr>
            <p:cNvGrpSpPr/>
            <p:nvPr/>
          </p:nvGrpSpPr>
          <p:grpSpPr>
            <a:xfrm>
              <a:off x="4409697" y="2170109"/>
              <a:ext cx="2129625" cy="742206"/>
              <a:chOff x="665011" y="1252847"/>
              <a:chExt cx="2129625" cy="458864"/>
            </a:xfrm>
          </p:grpSpPr>
          <p:sp>
            <p:nvSpPr>
              <p:cNvPr id="84" name="矩形 83">
                <a:extLst>
                  <a:ext uri="{FF2B5EF4-FFF2-40B4-BE49-F238E27FC236}">
                    <a16:creationId xmlns:a16="http://schemas.microsoft.com/office/drawing/2014/main" id="{2CCFED46-266E-41BF-9DF6-156E1A4981EE}"/>
                  </a:ext>
                </a:extLst>
              </p:cNvPr>
              <p:cNvSpPr/>
              <p:nvPr/>
            </p:nvSpPr>
            <p:spPr>
              <a:xfrm>
                <a:off x="665017" y="1252847"/>
                <a:ext cx="2129616" cy="458864"/>
              </a:xfrm>
              <a:prstGeom prst="rect">
                <a:avLst/>
              </a:prstGeom>
              <a:no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dirty="0"/>
              </a:p>
            </p:txBody>
          </p:sp>
          <p:cxnSp>
            <p:nvCxnSpPr>
              <p:cNvPr id="85" name="直接连接符 84">
                <a:extLst>
                  <a:ext uri="{FF2B5EF4-FFF2-40B4-BE49-F238E27FC236}">
                    <a16:creationId xmlns:a16="http://schemas.microsoft.com/office/drawing/2014/main" id="{0088D041-D7CE-4C24-A396-AE4171EC1F1A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65011" y="1488143"/>
                <a:ext cx="2129622" cy="0"/>
              </a:xfrm>
              <a:prstGeom prst="line">
                <a:avLst/>
              </a:prstGeom>
              <a:ln w="28575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86" name="文本框 85">
                <a:extLst>
                  <a:ext uri="{FF2B5EF4-FFF2-40B4-BE49-F238E27FC236}">
                    <a16:creationId xmlns:a16="http://schemas.microsoft.com/office/drawing/2014/main" id="{E5E678FC-28C9-4233-A385-35F89AE8136C}"/>
                  </a:ext>
                </a:extLst>
              </p:cNvPr>
              <p:cNvSpPr txBox="1"/>
              <p:nvPr/>
            </p:nvSpPr>
            <p:spPr>
              <a:xfrm>
                <a:off x="665014" y="1255319"/>
                <a:ext cx="2129622" cy="22833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altLang="zh-CN" b="1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PyTypeObjectKlass</a:t>
                </a:r>
                <a:endParaRPr lang="zh-CN" altLang="en-US" b="1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p:grpSp>
      </p:grpSp>
      <p:cxnSp>
        <p:nvCxnSpPr>
          <p:cNvPr id="98" name="连接符: 肘形 97">
            <a:extLst>
              <a:ext uri="{FF2B5EF4-FFF2-40B4-BE49-F238E27FC236}">
                <a16:creationId xmlns:a16="http://schemas.microsoft.com/office/drawing/2014/main" id="{C281DD88-CD8E-4DDA-9B95-BE1DA65D5EBB}"/>
              </a:ext>
            </a:extLst>
          </p:cNvPr>
          <p:cNvCxnSpPr/>
          <p:nvPr/>
        </p:nvCxnSpPr>
        <p:spPr>
          <a:xfrm rot="10800000" flipV="1">
            <a:off x="6537366" y="3401497"/>
            <a:ext cx="1536606" cy="1223941"/>
          </a:xfrm>
          <a:prstGeom prst="bentConnector3">
            <a:avLst>
              <a:gd name="adj1" fmla="val -14532"/>
            </a:avLst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1" name="连接符: 肘形 100">
            <a:extLst>
              <a:ext uri="{FF2B5EF4-FFF2-40B4-BE49-F238E27FC236}">
                <a16:creationId xmlns:a16="http://schemas.microsoft.com/office/drawing/2014/main" id="{F8466D39-0EE4-451E-8133-136CD697B7A9}"/>
              </a:ext>
            </a:extLst>
          </p:cNvPr>
          <p:cNvCxnSpPr>
            <a:cxnSpLocks/>
          </p:cNvCxnSpPr>
          <p:nvPr/>
        </p:nvCxnSpPr>
        <p:spPr>
          <a:xfrm rot="10800000">
            <a:off x="4827496" y="4205878"/>
            <a:ext cx="1781122" cy="419560"/>
          </a:xfrm>
          <a:prstGeom prst="bentConnector2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2" name="椭圆 101">
            <a:extLst>
              <a:ext uri="{FF2B5EF4-FFF2-40B4-BE49-F238E27FC236}">
                <a16:creationId xmlns:a16="http://schemas.microsoft.com/office/drawing/2014/main" id="{4E064788-E588-487C-886A-A6365B20BFE6}"/>
              </a:ext>
            </a:extLst>
          </p:cNvPr>
          <p:cNvSpPr/>
          <p:nvPr/>
        </p:nvSpPr>
        <p:spPr>
          <a:xfrm>
            <a:off x="8011774" y="3345319"/>
            <a:ext cx="136566" cy="136566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04" name="文本框 103">
            <a:extLst>
              <a:ext uri="{FF2B5EF4-FFF2-40B4-BE49-F238E27FC236}">
                <a16:creationId xmlns:a16="http://schemas.microsoft.com/office/drawing/2014/main" id="{2A273123-A6E2-41FF-AA27-FF238FD86604}"/>
              </a:ext>
            </a:extLst>
          </p:cNvPr>
          <p:cNvSpPr txBox="1"/>
          <p:nvPr/>
        </p:nvSpPr>
        <p:spPr>
          <a:xfrm>
            <a:off x="8486173" y="2221553"/>
            <a:ext cx="2505814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内建 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type 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类型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 Klass 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实体</a:t>
            </a:r>
          </a:p>
        </p:txBody>
      </p:sp>
      <p:grpSp>
        <p:nvGrpSpPr>
          <p:cNvPr id="106" name="组合 105">
            <a:extLst>
              <a:ext uri="{FF2B5EF4-FFF2-40B4-BE49-F238E27FC236}">
                <a16:creationId xmlns:a16="http://schemas.microsoft.com/office/drawing/2014/main" id="{E35C879A-C899-438B-AD73-F7E9CC7522FA}"/>
              </a:ext>
            </a:extLst>
          </p:cNvPr>
          <p:cNvGrpSpPr/>
          <p:nvPr/>
        </p:nvGrpSpPr>
        <p:grpSpPr>
          <a:xfrm>
            <a:off x="5694345" y="2867884"/>
            <a:ext cx="645683" cy="136566"/>
            <a:chOff x="5694345" y="2867884"/>
            <a:chExt cx="645683" cy="136566"/>
          </a:xfrm>
        </p:grpSpPr>
        <p:cxnSp>
          <p:nvCxnSpPr>
            <p:cNvPr id="91" name="直接箭头连接符 90">
              <a:extLst>
                <a:ext uri="{FF2B5EF4-FFF2-40B4-BE49-F238E27FC236}">
                  <a16:creationId xmlns:a16="http://schemas.microsoft.com/office/drawing/2014/main" id="{93980F45-8CC6-47B1-8949-A73E07546102}"/>
                </a:ext>
              </a:extLst>
            </p:cNvPr>
            <p:cNvCxnSpPr/>
            <p:nvPr/>
          </p:nvCxnSpPr>
          <p:spPr>
            <a:xfrm>
              <a:off x="5760702" y="2934470"/>
              <a:ext cx="579326" cy="0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05" name="椭圆 104">
              <a:extLst>
                <a:ext uri="{FF2B5EF4-FFF2-40B4-BE49-F238E27FC236}">
                  <a16:creationId xmlns:a16="http://schemas.microsoft.com/office/drawing/2014/main" id="{8A02E1F9-D03B-4996-A90C-20836E06460E}"/>
                </a:ext>
              </a:extLst>
            </p:cNvPr>
            <p:cNvSpPr/>
            <p:nvPr/>
          </p:nvSpPr>
          <p:spPr>
            <a:xfrm>
              <a:off x="5694345" y="2867884"/>
              <a:ext cx="136566" cy="136566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</p:grpSp>
      <p:grpSp>
        <p:nvGrpSpPr>
          <p:cNvPr id="107" name="组合 106">
            <a:extLst>
              <a:ext uri="{FF2B5EF4-FFF2-40B4-BE49-F238E27FC236}">
                <a16:creationId xmlns:a16="http://schemas.microsoft.com/office/drawing/2014/main" id="{68984EA2-814A-421F-883C-4FEB772CDB61}"/>
              </a:ext>
            </a:extLst>
          </p:cNvPr>
          <p:cNvGrpSpPr/>
          <p:nvPr/>
        </p:nvGrpSpPr>
        <p:grpSpPr>
          <a:xfrm>
            <a:off x="8008513" y="2937301"/>
            <a:ext cx="645683" cy="136566"/>
            <a:chOff x="5694345" y="2867884"/>
            <a:chExt cx="645683" cy="136566"/>
          </a:xfrm>
        </p:grpSpPr>
        <p:cxnSp>
          <p:nvCxnSpPr>
            <p:cNvPr id="108" name="直接箭头连接符 107">
              <a:extLst>
                <a:ext uri="{FF2B5EF4-FFF2-40B4-BE49-F238E27FC236}">
                  <a16:creationId xmlns:a16="http://schemas.microsoft.com/office/drawing/2014/main" id="{CA013DDF-D630-49D7-867F-479263F7E84D}"/>
                </a:ext>
              </a:extLst>
            </p:cNvPr>
            <p:cNvCxnSpPr/>
            <p:nvPr/>
          </p:nvCxnSpPr>
          <p:spPr>
            <a:xfrm>
              <a:off x="5760702" y="2934470"/>
              <a:ext cx="579326" cy="0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09" name="椭圆 108">
              <a:extLst>
                <a:ext uri="{FF2B5EF4-FFF2-40B4-BE49-F238E27FC236}">
                  <a16:creationId xmlns:a16="http://schemas.microsoft.com/office/drawing/2014/main" id="{86B3510B-1B09-40E0-8CE5-6982DEEA9D3F}"/>
                </a:ext>
              </a:extLst>
            </p:cNvPr>
            <p:cNvSpPr/>
            <p:nvPr/>
          </p:nvSpPr>
          <p:spPr>
            <a:xfrm>
              <a:off x="5694345" y="2867884"/>
              <a:ext cx="136566" cy="136566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</p:grpSp>
    </p:spTree>
    <p:extLst>
      <p:ext uri="{BB962C8B-B14F-4D97-AF65-F5344CB8AC3E}">
        <p14:creationId xmlns:p14="http://schemas.microsoft.com/office/powerpoint/2010/main" val="361674715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矩形 3">
            <a:extLst>
              <a:ext uri="{FF2B5EF4-FFF2-40B4-BE49-F238E27FC236}">
                <a16:creationId xmlns:a16="http://schemas.microsoft.com/office/drawing/2014/main" id="{B06B96C9-4F50-49C5-B182-2D9E93DF9F61}"/>
              </a:ext>
            </a:extLst>
          </p:cNvPr>
          <p:cNvSpPr/>
          <p:nvPr/>
        </p:nvSpPr>
        <p:spPr>
          <a:xfrm>
            <a:off x="237506" y="3071256"/>
            <a:ext cx="1335975" cy="721426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600" dirty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字节码指令 </a:t>
            </a:r>
            <a:r>
              <a:rPr lang="en-US" altLang="zh-CN" sz="1600" dirty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handler </a:t>
            </a:r>
            <a:r>
              <a:rPr lang="zh-CN" altLang="en-US" sz="1600" dirty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执行</a:t>
            </a: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E5088EBE-9A9B-403D-85B0-C1D69A10786A}"/>
              </a:ext>
            </a:extLst>
          </p:cNvPr>
          <p:cNvSpPr/>
          <p:nvPr/>
        </p:nvSpPr>
        <p:spPr>
          <a:xfrm>
            <a:off x="1945574" y="3071256"/>
            <a:ext cx="1290453" cy="721426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600" dirty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DISPATCH()</a:t>
            </a:r>
            <a:endParaRPr lang="zh-CN" altLang="en-US" sz="1600" dirty="0">
              <a:solidFill>
                <a:schemeClr val="tx1"/>
              </a:solidFill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6" name="流程图: 决策 5">
            <a:extLst>
              <a:ext uri="{FF2B5EF4-FFF2-40B4-BE49-F238E27FC236}">
                <a16:creationId xmlns:a16="http://schemas.microsoft.com/office/drawing/2014/main" id="{9C0CB8EF-4745-49AD-B0D4-36AAECF580F5}"/>
              </a:ext>
            </a:extLst>
          </p:cNvPr>
          <p:cNvSpPr/>
          <p:nvPr/>
        </p:nvSpPr>
        <p:spPr>
          <a:xfrm>
            <a:off x="3608120" y="2774001"/>
            <a:ext cx="2847109" cy="1309998"/>
          </a:xfrm>
          <a:prstGeom prst="flowChartDecision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6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ExceptionState</a:t>
            </a:r>
            <a:r>
              <a:rPr lang="zh-CN" altLang="en-US" sz="16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有待处理异常</a:t>
            </a: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D954F097-C31C-450E-A2AC-56B8960D0C9D}"/>
              </a:ext>
            </a:extLst>
          </p:cNvPr>
          <p:cNvSpPr/>
          <p:nvPr/>
        </p:nvSpPr>
        <p:spPr>
          <a:xfrm>
            <a:off x="4247160" y="4755573"/>
            <a:ext cx="1569028" cy="721426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600" dirty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跳转到下一条指令 </a:t>
            </a:r>
            <a:r>
              <a:rPr lang="en-US" altLang="zh-CN" sz="1600" dirty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handler</a:t>
            </a:r>
            <a:endParaRPr lang="zh-CN" altLang="en-US" sz="1600" dirty="0">
              <a:solidFill>
                <a:schemeClr val="tx1"/>
              </a:solidFill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cxnSp>
        <p:nvCxnSpPr>
          <p:cNvPr id="9" name="直接箭头连接符 8">
            <a:extLst>
              <a:ext uri="{FF2B5EF4-FFF2-40B4-BE49-F238E27FC236}">
                <a16:creationId xmlns:a16="http://schemas.microsoft.com/office/drawing/2014/main" id="{CDE0169F-7335-41B1-8A4E-CA92CA0C3125}"/>
              </a:ext>
            </a:extLst>
          </p:cNvPr>
          <p:cNvCxnSpPr>
            <a:stCxn id="4" idx="3"/>
            <a:endCxn id="5" idx="1"/>
          </p:cNvCxnSpPr>
          <p:nvPr/>
        </p:nvCxnSpPr>
        <p:spPr>
          <a:xfrm>
            <a:off x="1573481" y="3431969"/>
            <a:ext cx="372093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直接箭头连接符 10">
            <a:extLst>
              <a:ext uri="{FF2B5EF4-FFF2-40B4-BE49-F238E27FC236}">
                <a16:creationId xmlns:a16="http://schemas.microsoft.com/office/drawing/2014/main" id="{9C936D72-54A3-4A47-9F94-81DA01F02515}"/>
              </a:ext>
            </a:extLst>
          </p:cNvPr>
          <p:cNvCxnSpPr>
            <a:cxnSpLocks/>
            <a:stCxn id="5" idx="3"/>
            <a:endCxn id="6" idx="1"/>
          </p:cNvCxnSpPr>
          <p:nvPr/>
        </p:nvCxnSpPr>
        <p:spPr>
          <a:xfrm flipV="1">
            <a:off x="3236027" y="3429000"/>
            <a:ext cx="372093" cy="2969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直接箭头连接符 12">
            <a:extLst>
              <a:ext uri="{FF2B5EF4-FFF2-40B4-BE49-F238E27FC236}">
                <a16:creationId xmlns:a16="http://schemas.microsoft.com/office/drawing/2014/main" id="{6D332E1F-D0E1-454D-9F79-0E219B4C84E9}"/>
              </a:ext>
            </a:extLst>
          </p:cNvPr>
          <p:cNvCxnSpPr>
            <a:cxnSpLocks/>
            <a:stCxn id="6" idx="2"/>
            <a:endCxn id="7" idx="0"/>
          </p:cNvCxnSpPr>
          <p:nvPr/>
        </p:nvCxnSpPr>
        <p:spPr>
          <a:xfrm flipH="1">
            <a:off x="5031674" y="4083999"/>
            <a:ext cx="1" cy="671574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连接符: 肘形 15">
            <a:extLst>
              <a:ext uri="{FF2B5EF4-FFF2-40B4-BE49-F238E27FC236}">
                <a16:creationId xmlns:a16="http://schemas.microsoft.com/office/drawing/2014/main" id="{79FA2FBE-EA0A-4C1A-903E-64612347A903}"/>
              </a:ext>
            </a:extLst>
          </p:cNvPr>
          <p:cNvCxnSpPr>
            <a:stCxn id="7" idx="1"/>
            <a:endCxn id="4" idx="2"/>
          </p:cNvCxnSpPr>
          <p:nvPr/>
        </p:nvCxnSpPr>
        <p:spPr>
          <a:xfrm rot="10800000">
            <a:off x="905494" y="3792682"/>
            <a:ext cx="3341666" cy="1323604"/>
          </a:xfrm>
          <a:prstGeom prst="bentConnector2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箭头: 上弧形 16">
            <a:extLst>
              <a:ext uri="{FF2B5EF4-FFF2-40B4-BE49-F238E27FC236}">
                <a16:creationId xmlns:a16="http://schemas.microsoft.com/office/drawing/2014/main" id="{5FCBA98E-0F47-43D3-93C6-2E60C57C647B}"/>
              </a:ext>
            </a:extLst>
          </p:cNvPr>
          <p:cNvSpPr/>
          <p:nvPr/>
        </p:nvSpPr>
        <p:spPr>
          <a:xfrm>
            <a:off x="2369127" y="4062104"/>
            <a:ext cx="789710" cy="504702"/>
          </a:xfrm>
          <a:prstGeom prst="curvedDownArrow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schemeClr val="tx1"/>
              </a:solidFill>
            </a:endParaRPr>
          </a:p>
        </p:txBody>
      </p:sp>
      <p:sp>
        <p:nvSpPr>
          <p:cNvPr id="20" name="文本框 19">
            <a:extLst>
              <a:ext uri="{FF2B5EF4-FFF2-40B4-BE49-F238E27FC236}">
                <a16:creationId xmlns:a16="http://schemas.microsoft.com/office/drawing/2014/main" id="{6C02E4F0-01C7-45C5-A0A0-A89093063A8E}"/>
              </a:ext>
            </a:extLst>
          </p:cNvPr>
          <p:cNvSpPr txBox="1"/>
          <p:nvPr/>
        </p:nvSpPr>
        <p:spPr>
          <a:xfrm>
            <a:off x="2056096" y="4672269"/>
            <a:ext cx="1415772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1600" dirty="0">
                <a:latin typeface="宋体" panose="02010600030101010101" pitchFamily="2" charset="-122"/>
                <a:ea typeface="宋体" panose="02010600030101010101" pitchFamily="2" charset="-122"/>
              </a:rPr>
              <a:t>解释器主循环</a:t>
            </a:r>
          </a:p>
        </p:txBody>
      </p:sp>
      <p:sp>
        <p:nvSpPr>
          <p:cNvPr id="23" name="文本框 22">
            <a:extLst>
              <a:ext uri="{FF2B5EF4-FFF2-40B4-BE49-F238E27FC236}">
                <a16:creationId xmlns:a16="http://schemas.microsoft.com/office/drawing/2014/main" id="{1D9B05A9-0493-4293-B5DA-3C829751A07F}"/>
              </a:ext>
            </a:extLst>
          </p:cNvPr>
          <p:cNvSpPr txBox="1"/>
          <p:nvPr/>
        </p:nvSpPr>
        <p:spPr>
          <a:xfrm>
            <a:off x="5041654" y="4228252"/>
            <a:ext cx="619080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False</a:t>
            </a:r>
            <a:endParaRPr lang="zh-CN" altLang="en-US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4" name="矩形 23">
            <a:extLst>
              <a:ext uri="{FF2B5EF4-FFF2-40B4-BE49-F238E27FC236}">
                <a16:creationId xmlns:a16="http://schemas.microsoft.com/office/drawing/2014/main" id="{E450E87F-1524-419F-AB4E-E76577A3FAD6}"/>
              </a:ext>
            </a:extLst>
          </p:cNvPr>
          <p:cNvSpPr/>
          <p:nvPr/>
        </p:nvSpPr>
        <p:spPr>
          <a:xfrm>
            <a:off x="3809505" y="1381001"/>
            <a:ext cx="2444337" cy="721426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600" dirty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pending_exception_unwind</a:t>
            </a:r>
            <a:endParaRPr lang="zh-CN" altLang="en-US" sz="1600" dirty="0">
              <a:solidFill>
                <a:schemeClr val="tx1"/>
              </a:solidFill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cxnSp>
        <p:nvCxnSpPr>
          <p:cNvPr id="28" name="直接箭头连接符 27">
            <a:extLst>
              <a:ext uri="{FF2B5EF4-FFF2-40B4-BE49-F238E27FC236}">
                <a16:creationId xmlns:a16="http://schemas.microsoft.com/office/drawing/2014/main" id="{29568522-AC4D-46D2-8638-701E0519EA6A}"/>
              </a:ext>
            </a:extLst>
          </p:cNvPr>
          <p:cNvCxnSpPr>
            <a:stCxn id="6" idx="0"/>
            <a:endCxn id="24" idx="2"/>
          </p:cNvCxnSpPr>
          <p:nvPr/>
        </p:nvCxnSpPr>
        <p:spPr>
          <a:xfrm flipH="1" flipV="1">
            <a:off x="5031674" y="2102427"/>
            <a:ext cx="1" cy="671574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文本框 28">
            <a:extLst>
              <a:ext uri="{FF2B5EF4-FFF2-40B4-BE49-F238E27FC236}">
                <a16:creationId xmlns:a16="http://schemas.microsoft.com/office/drawing/2014/main" id="{0F1D5E8B-883E-45E2-A5F4-A8E59C7E48A8}"/>
              </a:ext>
            </a:extLst>
          </p:cNvPr>
          <p:cNvSpPr txBox="1"/>
          <p:nvPr/>
        </p:nvSpPr>
        <p:spPr>
          <a:xfrm>
            <a:off x="5073484" y="2291194"/>
            <a:ext cx="56534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True</a:t>
            </a:r>
            <a:endParaRPr lang="zh-CN" altLang="en-US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0" name="矩形 29">
            <a:extLst>
              <a:ext uri="{FF2B5EF4-FFF2-40B4-BE49-F238E27FC236}">
                <a16:creationId xmlns:a16="http://schemas.microsoft.com/office/drawing/2014/main" id="{C178BD1B-3E88-40E6-9BF4-6D89F141DA39}"/>
              </a:ext>
            </a:extLst>
          </p:cNvPr>
          <p:cNvSpPr/>
          <p:nvPr/>
        </p:nvSpPr>
        <p:spPr>
          <a:xfrm>
            <a:off x="7180487" y="1399926"/>
            <a:ext cx="2729840" cy="721426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600" dirty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根据当前 </a:t>
            </a:r>
            <a:r>
              <a:rPr lang="en-US" altLang="zh-CN" sz="1600" dirty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pc </a:t>
            </a:r>
            <a:r>
              <a:rPr lang="zh-CN" altLang="en-US" sz="1600" dirty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查询栈帧异常表 </a:t>
            </a:r>
            <a:r>
              <a:rPr lang="en-US" altLang="zh-CN" sz="1600" dirty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LookupHandler()</a:t>
            </a:r>
            <a:endParaRPr lang="zh-CN" altLang="en-US" sz="1600" dirty="0">
              <a:solidFill>
                <a:schemeClr val="tx1"/>
              </a:solidFill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cxnSp>
        <p:nvCxnSpPr>
          <p:cNvPr id="32" name="直接箭头连接符 31">
            <a:extLst>
              <a:ext uri="{FF2B5EF4-FFF2-40B4-BE49-F238E27FC236}">
                <a16:creationId xmlns:a16="http://schemas.microsoft.com/office/drawing/2014/main" id="{E02CF3A4-5B9E-4C6B-B654-D483A556E4EB}"/>
              </a:ext>
            </a:extLst>
          </p:cNvPr>
          <p:cNvCxnSpPr>
            <a:stCxn id="24" idx="3"/>
            <a:endCxn id="30" idx="1"/>
          </p:cNvCxnSpPr>
          <p:nvPr/>
        </p:nvCxnSpPr>
        <p:spPr>
          <a:xfrm>
            <a:off x="6253842" y="1741714"/>
            <a:ext cx="926645" cy="18925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" name="流程图: 决策 32">
            <a:extLst>
              <a:ext uri="{FF2B5EF4-FFF2-40B4-BE49-F238E27FC236}">
                <a16:creationId xmlns:a16="http://schemas.microsoft.com/office/drawing/2014/main" id="{2C2CBFC9-8C83-4F2C-A163-81FBA669583C}"/>
              </a:ext>
            </a:extLst>
          </p:cNvPr>
          <p:cNvSpPr/>
          <p:nvPr/>
        </p:nvSpPr>
        <p:spPr>
          <a:xfrm>
            <a:off x="7543055" y="2651973"/>
            <a:ext cx="2004704" cy="893619"/>
          </a:xfrm>
          <a:prstGeom prst="flowChartDecision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6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命中异常</a:t>
            </a:r>
            <a:r>
              <a:rPr lang="en-US" altLang="zh-CN" sz="16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handler</a:t>
            </a:r>
            <a:endParaRPr lang="zh-CN" altLang="en-US" sz="16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9" name="矩形 38">
            <a:extLst>
              <a:ext uri="{FF2B5EF4-FFF2-40B4-BE49-F238E27FC236}">
                <a16:creationId xmlns:a16="http://schemas.microsoft.com/office/drawing/2014/main" id="{B6537823-5F38-411D-AD64-49DB0FDD9C21}"/>
              </a:ext>
            </a:extLst>
          </p:cNvPr>
          <p:cNvSpPr/>
          <p:nvPr/>
        </p:nvSpPr>
        <p:spPr>
          <a:xfrm>
            <a:off x="6142794" y="4009408"/>
            <a:ext cx="2247124" cy="873633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600" dirty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恢复操作数栈深度</a:t>
            </a:r>
            <a:endParaRPr lang="en-US" altLang="zh-CN" sz="1600" dirty="0">
              <a:solidFill>
                <a:schemeClr val="tx1"/>
              </a:solidFill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  <a:p>
            <a:pPr algn="ctr"/>
            <a:r>
              <a:rPr lang="zh-CN" altLang="en-US" sz="1600" dirty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异常对象压入操作数栈</a:t>
            </a:r>
            <a:endParaRPr lang="en-US" altLang="zh-CN" sz="1600" dirty="0">
              <a:solidFill>
                <a:schemeClr val="tx1"/>
              </a:solidFill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  <a:p>
            <a:pPr algn="ctr"/>
            <a:r>
              <a:rPr lang="en-US" altLang="zh-CN" sz="1600" dirty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pc </a:t>
            </a:r>
            <a:r>
              <a:rPr lang="zh-CN" altLang="en-US" sz="1600" dirty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跳到异常 </a:t>
            </a:r>
            <a:r>
              <a:rPr lang="en-US" altLang="zh-CN" sz="1600" dirty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handler</a:t>
            </a:r>
          </a:p>
        </p:txBody>
      </p:sp>
      <p:sp>
        <p:nvSpPr>
          <p:cNvPr id="40" name="矩形 39">
            <a:extLst>
              <a:ext uri="{FF2B5EF4-FFF2-40B4-BE49-F238E27FC236}">
                <a16:creationId xmlns:a16="http://schemas.microsoft.com/office/drawing/2014/main" id="{09B07E46-E766-43C8-8E14-A1CC1423B99C}"/>
              </a:ext>
            </a:extLst>
          </p:cNvPr>
          <p:cNvSpPr/>
          <p:nvPr/>
        </p:nvSpPr>
        <p:spPr>
          <a:xfrm>
            <a:off x="8716524" y="4009407"/>
            <a:ext cx="2247124" cy="873633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600" dirty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UnwindCurrentFrame()</a:t>
            </a:r>
          </a:p>
          <a:p>
            <a:pPr algn="ctr"/>
            <a:r>
              <a:rPr lang="zh-CN" altLang="en-US" sz="1600" dirty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弹出当前栈帧</a:t>
            </a:r>
          </a:p>
          <a:p>
            <a:pPr algn="ctr"/>
            <a:r>
              <a:rPr lang="zh-CN" altLang="en-US" sz="1600" dirty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回溯到 </a:t>
            </a:r>
            <a:r>
              <a:rPr lang="en-US" altLang="zh-CN" sz="1600" dirty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caller </a:t>
            </a:r>
            <a:r>
              <a:rPr lang="zh-CN" altLang="en-US" sz="1600" dirty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调用点</a:t>
            </a:r>
            <a:endParaRPr lang="en-US" altLang="zh-CN" sz="1600" dirty="0">
              <a:solidFill>
                <a:schemeClr val="tx1"/>
              </a:solidFill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cxnSp>
        <p:nvCxnSpPr>
          <p:cNvPr id="43" name="连接符: 肘形 42">
            <a:extLst>
              <a:ext uri="{FF2B5EF4-FFF2-40B4-BE49-F238E27FC236}">
                <a16:creationId xmlns:a16="http://schemas.microsoft.com/office/drawing/2014/main" id="{E933DFBC-8F76-49EB-A43B-E043E2A53F4C}"/>
              </a:ext>
            </a:extLst>
          </p:cNvPr>
          <p:cNvCxnSpPr>
            <a:stCxn id="33" idx="3"/>
            <a:endCxn id="40" idx="0"/>
          </p:cNvCxnSpPr>
          <p:nvPr/>
        </p:nvCxnSpPr>
        <p:spPr>
          <a:xfrm>
            <a:off x="9547759" y="3098783"/>
            <a:ext cx="292327" cy="910624"/>
          </a:xfrm>
          <a:prstGeom prst="bentConnector2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连接符: 肘形 44">
            <a:extLst>
              <a:ext uri="{FF2B5EF4-FFF2-40B4-BE49-F238E27FC236}">
                <a16:creationId xmlns:a16="http://schemas.microsoft.com/office/drawing/2014/main" id="{BB474B1E-2B8E-477D-8486-561138BAACB9}"/>
              </a:ext>
            </a:extLst>
          </p:cNvPr>
          <p:cNvCxnSpPr>
            <a:stCxn id="33" idx="1"/>
            <a:endCxn id="39" idx="0"/>
          </p:cNvCxnSpPr>
          <p:nvPr/>
        </p:nvCxnSpPr>
        <p:spPr>
          <a:xfrm rot="10800000" flipV="1">
            <a:off x="7266357" y="3098782"/>
            <a:ext cx="276699" cy="910625"/>
          </a:xfrm>
          <a:prstGeom prst="bentConnector2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" name="直接箭头连接符 49">
            <a:extLst>
              <a:ext uri="{FF2B5EF4-FFF2-40B4-BE49-F238E27FC236}">
                <a16:creationId xmlns:a16="http://schemas.microsoft.com/office/drawing/2014/main" id="{9B954EAC-70C6-4B02-BA4A-EB92B77EB3C5}"/>
              </a:ext>
            </a:extLst>
          </p:cNvPr>
          <p:cNvCxnSpPr>
            <a:cxnSpLocks/>
            <a:stCxn id="30" idx="2"/>
            <a:endCxn id="33" idx="0"/>
          </p:cNvCxnSpPr>
          <p:nvPr/>
        </p:nvCxnSpPr>
        <p:spPr>
          <a:xfrm>
            <a:off x="8545407" y="2121352"/>
            <a:ext cx="0" cy="530621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2" name="椭圆 51">
            <a:extLst>
              <a:ext uri="{FF2B5EF4-FFF2-40B4-BE49-F238E27FC236}">
                <a16:creationId xmlns:a16="http://schemas.microsoft.com/office/drawing/2014/main" id="{8CABC55E-AD97-47BD-B0E3-654019C18A6D}"/>
              </a:ext>
            </a:extLst>
          </p:cNvPr>
          <p:cNvSpPr/>
          <p:nvPr/>
        </p:nvSpPr>
        <p:spPr>
          <a:xfrm>
            <a:off x="8378042" y="5039095"/>
            <a:ext cx="344384" cy="344384"/>
          </a:xfrm>
          <a:prstGeom prst="ellipse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56" name="连接符: 肘形 55">
            <a:extLst>
              <a:ext uri="{FF2B5EF4-FFF2-40B4-BE49-F238E27FC236}">
                <a16:creationId xmlns:a16="http://schemas.microsoft.com/office/drawing/2014/main" id="{9AF4F870-7C1E-4F1C-8923-7F840E41973B}"/>
              </a:ext>
            </a:extLst>
          </p:cNvPr>
          <p:cNvCxnSpPr>
            <a:stCxn id="39" idx="2"/>
            <a:endCxn id="52" idx="2"/>
          </p:cNvCxnSpPr>
          <p:nvPr/>
        </p:nvCxnSpPr>
        <p:spPr>
          <a:xfrm rot="16200000" flipH="1">
            <a:off x="7658076" y="4491321"/>
            <a:ext cx="328246" cy="1111686"/>
          </a:xfrm>
          <a:prstGeom prst="bentConnector2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8" name="连接符: 肘形 57">
            <a:extLst>
              <a:ext uri="{FF2B5EF4-FFF2-40B4-BE49-F238E27FC236}">
                <a16:creationId xmlns:a16="http://schemas.microsoft.com/office/drawing/2014/main" id="{C6F817C2-DCC3-4D62-BBF4-BDB2B5ABBDBF}"/>
              </a:ext>
            </a:extLst>
          </p:cNvPr>
          <p:cNvCxnSpPr>
            <a:stCxn id="40" idx="2"/>
            <a:endCxn id="52" idx="6"/>
          </p:cNvCxnSpPr>
          <p:nvPr/>
        </p:nvCxnSpPr>
        <p:spPr>
          <a:xfrm rot="5400000">
            <a:off x="9117133" y="4488333"/>
            <a:ext cx="328247" cy="1117660"/>
          </a:xfrm>
          <a:prstGeom prst="bentConnector2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0" name="连接符: 肘形 59">
            <a:extLst>
              <a:ext uri="{FF2B5EF4-FFF2-40B4-BE49-F238E27FC236}">
                <a16:creationId xmlns:a16="http://schemas.microsoft.com/office/drawing/2014/main" id="{FD65D9A3-92C8-4478-832E-D3285C8E3D61}"/>
              </a:ext>
            </a:extLst>
          </p:cNvPr>
          <p:cNvCxnSpPr>
            <a:stCxn id="52" idx="4"/>
          </p:cNvCxnSpPr>
          <p:nvPr/>
        </p:nvCxnSpPr>
        <p:spPr>
          <a:xfrm rot="5400000" flipH="1" flipV="1">
            <a:off x="7636824" y="1869374"/>
            <a:ext cx="4427515" cy="2600696"/>
          </a:xfrm>
          <a:prstGeom prst="bentConnector3">
            <a:avLst>
              <a:gd name="adj1" fmla="val -3151"/>
            </a:avLst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3" name="连接符: 肘形 62">
            <a:extLst>
              <a:ext uri="{FF2B5EF4-FFF2-40B4-BE49-F238E27FC236}">
                <a16:creationId xmlns:a16="http://schemas.microsoft.com/office/drawing/2014/main" id="{197453C0-A1DD-4CB8-81E9-E5AC0FF7135C}"/>
              </a:ext>
            </a:extLst>
          </p:cNvPr>
          <p:cNvCxnSpPr>
            <a:cxnSpLocks/>
          </p:cNvCxnSpPr>
          <p:nvPr/>
        </p:nvCxnSpPr>
        <p:spPr>
          <a:xfrm rot="10800000" flipV="1">
            <a:off x="2602678" y="955964"/>
            <a:ext cx="8560129" cy="2115292"/>
          </a:xfrm>
          <a:prstGeom prst="bentConnector2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4" name="文本框 63">
            <a:extLst>
              <a:ext uri="{FF2B5EF4-FFF2-40B4-BE49-F238E27FC236}">
                <a16:creationId xmlns:a16="http://schemas.microsoft.com/office/drawing/2014/main" id="{05CC132C-8F93-45B5-9D45-B3E64B3A55E0}"/>
              </a:ext>
            </a:extLst>
          </p:cNvPr>
          <p:cNvSpPr txBox="1"/>
          <p:nvPr/>
        </p:nvSpPr>
        <p:spPr>
          <a:xfrm>
            <a:off x="6698596" y="3365796"/>
            <a:ext cx="56534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True</a:t>
            </a:r>
            <a:endParaRPr lang="zh-CN" altLang="en-US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5" name="文本框 64">
            <a:extLst>
              <a:ext uri="{FF2B5EF4-FFF2-40B4-BE49-F238E27FC236}">
                <a16:creationId xmlns:a16="http://schemas.microsoft.com/office/drawing/2014/main" id="{660A54A8-1A03-47F2-B13B-5005C6F5B248}"/>
              </a:ext>
            </a:extLst>
          </p:cNvPr>
          <p:cNvSpPr txBox="1"/>
          <p:nvPr/>
        </p:nvSpPr>
        <p:spPr>
          <a:xfrm>
            <a:off x="9839447" y="3365795"/>
            <a:ext cx="619080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False</a:t>
            </a:r>
            <a:endParaRPr lang="zh-CN" altLang="en-US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46634885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CAEACE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CAEACE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580</TotalTime>
  <Words>906</Words>
  <Application>Microsoft Office PowerPoint</Application>
  <PresentationFormat>宽屏</PresentationFormat>
  <Paragraphs>225</Paragraphs>
  <Slides>8</Slides>
  <Notes>4</Notes>
  <HiddenSlides>0</HiddenSlides>
  <MMClips>0</MMClips>
  <ScaleCrop>false</ScaleCrop>
  <HeadingPairs>
    <vt:vector size="6" baseType="variant">
      <vt:variant>
        <vt:lpstr>已用的字体</vt:lpstr>
      </vt:variant>
      <vt:variant>
        <vt:i4>7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8</vt:i4>
      </vt:variant>
    </vt:vector>
  </HeadingPairs>
  <TitlesOfParts>
    <vt:vector size="16" baseType="lpstr">
      <vt:lpstr>JetBrains Mono</vt:lpstr>
      <vt:lpstr>等线</vt:lpstr>
      <vt:lpstr>等线 Light</vt:lpstr>
      <vt:lpstr>宋体</vt:lpstr>
      <vt:lpstr>Arial</vt:lpstr>
      <vt:lpstr>Times New Roman</vt:lpstr>
      <vt:lpstr>Wingdings</vt:lpstr>
      <vt:lpstr>Office 主题​​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演示文稿</dc:title>
  <dc:creator>R P</dc:creator>
  <cp:lastModifiedBy>R P</cp:lastModifiedBy>
  <cp:revision>239</cp:revision>
  <dcterms:created xsi:type="dcterms:W3CDTF">2026-04-25T11:47:52Z</dcterms:created>
  <dcterms:modified xsi:type="dcterms:W3CDTF">2026-04-26T10:16:06Z</dcterms:modified>
</cp:coreProperties>
</file>