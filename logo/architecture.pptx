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6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2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8EC4C-7D23-4CB9-ADC4-758CC3D0501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CDD9A-C498-4E6A-AAF1-DE7C4B9CE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136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8A5996-3CE0-44E4-BDBF-C91149296D1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888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8A5996-3CE0-44E4-BDBF-C91149296D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988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1048F-8860-45DE-9293-B209EA223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86AC4E-7A6A-4B18-BA7D-80E24A05A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E34316-FEF8-4A16-9CA9-9B23E0C4E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16869-C522-4F67-BBF9-E8645D204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88E4A-58E5-446B-905A-6B9DE5F1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695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F6800-C059-4BC0-8C26-7C0CDAC0C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CE2A20-C67C-4807-8376-6D4CCBC7C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677B5D-86EB-4BCB-B722-3D4A152A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9051C8-CC2A-466E-A605-684619CE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35A0CC-ED80-445B-A8D2-59DDC70E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127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2A3FB-3155-4E53-8A4A-7A7E3C741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9D57C4-96FF-4127-89DF-59AC833E5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90F486-45C4-47AA-BA54-BA1C7C14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238CEE-850B-4A0B-9895-11376C9E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EFDD2A-68EC-4591-AD2A-010DFE37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275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BB8F3-8676-4B4C-BC3A-8E729F0E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00EAA3-609F-4E58-90CF-D3CCB5FEA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82DA80-C6D1-436E-955D-3367AF764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DF9A50-D844-469F-BA84-73AEA63A4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6E8A08-E3E0-4A4D-80E9-E418F697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7FEAC5-E396-464F-AC9C-3B39DD60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483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DCA33-04A7-4DF9-AD39-41F25FB7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CB551A-F181-4F1D-8FE1-AA6C13DB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29D1BE-0818-4B31-A1C4-91F9865FB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25CFA0-9283-4DC8-90AA-84C3F5FC6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C28282-8DE6-428C-B640-4BA707C28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4DB8B4-DF5A-487E-B2B1-62EBBDB79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0DBF92-3CB1-49BC-AABD-78A1FAA1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764363-C091-4065-B21B-81269959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49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74338-32BC-4671-A7EF-018A17399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E217E0-70CE-4782-A3F7-D19C566B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5F6B14-B736-4340-A984-57C66ABA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379E57-6C58-4961-99A5-F1EB3A86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767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6629E6-40C5-466D-8020-22C5163AD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5C692E-6957-4293-B497-3948C093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736F94-ABA1-4030-981B-DD0D2061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94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1827B-DC75-4704-801B-870A47314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949F14-BD71-440C-9022-18289BCF1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514BB7-3F24-4009-BC96-7BFAD3D33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2E0AD9-C0AB-401A-B7B3-D1DA9DDE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94A184-4F2F-4AD4-A736-EBD83CD8E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B57954-0B9F-4613-8CA9-AF39BFE5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07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D18369-4F52-424A-9CAB-C4159237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A6FA03-6169-4E93-B0EE-190A498C7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616319-9907-49A8-B65C-F76A8F2E5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02EE31-2C4B-47FA-99ED-11CFC5DC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5F180D-9CD2-4521-913C-40B6DC25D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79B86A-BE8D-4D5D-9EC6-5F923154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54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25AB6-33AC-4FA7-9D20-871F5A14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15AFD7-8D79-4DE9-9F28-436C7558D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2E30C8-BB1C-4170-92FC-E48FD5784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6BFFEB-0054-47AA-AEB8-4CBD342D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5421DC-8193-473E-B842-E3BCE276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1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7A99D5-AD7A-43CF-9486-CB59B24DA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48A1E7-7A22-45A1-8AF0-0D90781FF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00CC4F-AB31-4B29-ABCA-53E346319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403785-3438-45D6-A611-1339E07DB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677E01-BF83-4B3B-AAAE-0CFCCDA2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22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FDAB0A-0EEB-4E7A-91E7-D48E6C467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02A013-1592-4E15-8E5E-6B3AA5384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63C40E-D3E6-4898-A033-F5B73591C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0787B-0FE6-4DFD-8C6A-5C5845EC8C92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BEF8B-59FB-42CD-918F-DDF5B489E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89A406-24C3-4B6A-BFE0-1A1B20FE2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C0EC3-5448-46DA-88D9-FDF0227279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7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40233-C772-45C0-8EAF-60C6F0E0A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0744"/>
            <a:ext cx="10515600" cy="1325563"/>
          </a:xfrm>
        </p:spPr>
        <p:txBody>
          <a:bodyPr/>
          <a:lstStyle/>
          <a:p>
            <a:r>
              <a:rPr lang="zh-CN" altLang="en-US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总体架构设计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DEA291B-CA7D-49CF-8E8E-851FA279BF6F}"/>
              </a:ext>
            </a:extLst>
          </p:cNvPr>
          <p:cNvGrpSpPr/>
          <p:nvPr/>
        </p:nvGrpSpPr>
        <p:grpSpPr>
          <a:xfrm>
            <a:off x="285008" y="1575241"/>
            <a:ext cx="11069942" cy="5039115"/>
            <a:chOff x="285008" y="1575241"/>
            <a:chExt cx="11069942" cy="5039115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A9448EDE-58A4-4225-952C-B5B52BA4D059}"/>
                </a:ext>
              </a:extLst>
            </p:cNvPr>
            <p:cNvGrpSpPr/>
            <p:nvPr/>
          </p:nvGrpSpPr>
          <p:grpSpPr>
            <a:xfrm>
              <a:off x="285008" y="1575241"/>
              <a:ext cx="9406246" cy="535407"/>
              <a:chOff x="1194460" y="1140031"/>
              <a:chExt cx="9909958" cy="760020"/>
            </a:xfrm>
            <a:solidFill>
              <a:srgbClr val="CCFBF1"/>
            </a:solidFill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72CE952-69AC-413F-ACAD-269F86977422}"/>
                  </a:ext>
                </a:extLst>
              </p:cNvPr>
              <p:cNvSpPr/>
              <p:nvPr/>
            </p:nvSpPr>
            <p:spPr>
              <a:xfrm>
                <a:off x="1194460" y="1140031"/>
                <a:ext cx="9909958" cy="760020"/>
              </a:xfrm>
              <a:prstGeom prst="roundRect">
                <a:avLst>
                  <a:gd name="adj" fmla="val 7400"/>
                </a:avLst>
              </a:prstGeom>
              <a:grpFill/>
              <a:ln w="19050">
                <a:solidFill>
                  <a:srgbClr val="99F6E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0392358-17D3-433F-B7A9-CF2F682EA319}"/>
                  </a:ext>
                </a:extLst>
              </p:cNvPr>
              <p:cNvSpPr txBox="1"/>
              <p:nvPr/>
            </p:nvSpPr>
            <p:spPr>
              <a:xfrm>
                <a:off x="5077077" y="1157511"/>
                <a:ext cx="2412181" cy="725059"/>
              </a:xfrm>
              <a:prstGeom prst="round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1E293B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Embedder API</a:t>
                </a:r>
                <a:endParaRPr lang="zh-CN" altLang="en-US" sz="2400" b="1" dirty="0">
                  <a:solidFill>
                    <a:srgbClr val="1E293B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E16A3DD-DBA1-44D2-9C1D-B51B7277DA36}"/>
                </a:ext>
              </a:extLst>
            </p:cNvPr>
            <p:cNvSpPr/>
            <p:nvPr/>
          </p:nvSpPr>
          <p:spPr>
            <a:xfrm>
              <a:off x="285008" y="2313974"/>
              <a:ext cx="9406246" cy="1725892"/>
            </a:xfrm>
            <a:prstGeom prst="roundRect">
              <a:avLst>
                <a:gd name="adj" fmla="val 1471"/>
              </a:avLst>
            </a:prstGeom>
            <a:solidFill>
              <a:srgbClr val="F3E8FF"/>
            </a:solidFill>
            <a:ln w="19050">
              <a:solidFill>
                <a:srgbClr val="E9D5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52CF89C3-3D47-42C5-990A-617862C16F0A}"/>
                </a:ext>
              </a:extLst>
            </p:cNvPr>
            <p:cNvGrpSpPr/>
            <p:nvPr/>
          </p:nvGrpSpPr>
          <p:grpSpPr>
            <a:xfrm>
              <a:off x="396949" y="2408382"/>
              <a:ext cx="9172352" cy="610552"/>
              <a:chOff x="1412174" y="2236519"/>
              <a:chExt cx="9269681" cy="760020"/>
            </a:xfrm>
            <a:solidFill>
              <a:srgbClr val="FFFFFF"/>
            </a:solidFill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D85C832-C632-4CDC-BDE1-F99907FEFD41}"/>
                  </a:ext>
                </a:extLst>
              </p:cNvPr>
              <p:cNvSpPr/>
              <p:nvPr/>
            </p:nvSpPr>
            <p:spPr>
              <a:xfrm>
                <a:off x="1412174" y="2236519"/>
                <a:ext cx="9269681" cy="760020"/>
              </a:xfrm>
              <a:prstGeom prst="roundRect">
                <a:avLst/>
              </a:prstGeom>
              <a:grpFill/>
              <a:ln w="9525">
                <a:solidFill>
                  <a:srgbClr val="E2E8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8F7113E-F2F0-456B-AC3A-D5FF2D234808}"/>
                  </a:ext>
                </a:extLst>
              </p:cNvPr>
              <p:cNvSpPr txBox="1"/>
              <p:nvPr/>
            </p:nvSpPr>
            <p:spPr>
              <a:xfrm>
                <a:off x="5357257" y="2300063"/>
                <a:ext cx="1891803" cy="635821"/>
              </a:xfrm>
              <a:prstGeom prst="roundRect">
                <a:avLst/>
              </a:prstGeom>
              <a:noFill/>
              <a:ln w="9525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1E293B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Interpreter</a:t>
                </a:r>
                <a:endParaRPr lang="zh-CN" altLang="en-US" sz="2400" b="1" dirty="0">
                  <a:solidFill>
                    <a:srgbClr val="1E293B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AFD54392-2FF1-4895-8620-4A00B9C07854}"/>
                </a:ext>
              </a:extLst>
            </p:cNvPr>
            <p:cNvGrpSpPr/>
            <p:nvPr/>
          </p:nvGrpSpPr>
          <p:grpSpPr>
            <a:xfrm>
              <a:off x="396950" y="3173901"/>
              <a:ext cx="9172350" cy="721389"/>
              <a:chOff x="1412176" y="3170710"/>
              <a:chExt cx="9399125" cy="760020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59EBEDCE-7728-4F69-9541-1AA83A5E48EC}"/>
                  </a:ext>
                </a:extLst>
              </p:cNvPr>
              <p:cNvGrpSpPr/>
              <p:nvPr/>
            </p:nvGrpSpPr>
            <p:grpSpPr>
              <a:xfrm>
                <a:off x="1412176" y="3170710"/>
                <a:ext cx="2322615" cy="760020"/>
                <a:chOff x="1412176" y="3170710"/>
                <a:chExt cx="2322615" cy="760020"/>
              </a:xfrm>
            </p:grpSpPr>
            <p:sp>
              <p:nvSpPr>
                <p:cNvPr id="9" name="矩形: 圆角 8">
                  <a:extLst>
                    <a:ext uri="{FF2B5EF4-FFF2-40B4-BE49-F238E27FC236}">
                      <a16:creationId xmlns:a16="http://schemas.microsoft.com/office/drawing/2014/main" id="{7C2C909C-725D-4A3E-952F-6C105E4EE96F}"/>
                    </a:ext>
                  </a:extLst>
                </p:cNvPr>
                <p:cNvSpPr/>
                <p:nvPr/>
              </p:nvSpPr>
              <p:spPr>
                <a:xfrm>
                  <a:off x="1412176" y="3170710"/>
                  <a:ext cx="2322615" cy="760020"/>
                </a:xfrm>
                <a:prstGeom prst="roundRect">
                  <a:avLst/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85B956F-F4AC-47DB-B698-AE93796E8BA7}"/>
                    </a:ext>
                  </a:extLst>
                </p:cNvPr>
                <p:cNvSpPr txBox="1"/>
                <p:nvPr/>
              </p:nvSpPr>
              <p:spPr>
                <a:xfrm>
                  <a:off x="1933057" y="3343068"/>
                  <a:ext cx="1273727" cy="421536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1E293B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Runtime</a:t>
                  </a:r>
                  <a:endParaRPr lang="zh-CN" altLang="en-US" sz="2000" b="1" dirty="0">
                    <a:solidFill>
                      <a:srgbClr val="1E293B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D716E13F-748C-4DCE-ABEC-E21D8A813C7F}"/>
                  </a:ext>
                </a:extLst>
              </p:cNvPr>
              <p:cNvGrpSpPr/>
              <p:nvPr/>
            </p:nvGrpSpPr>
            <p:grpSpPr>
              <a:xfrm>
                <a:off x="3952506" y="3170710"/>
                <a:ext cx="1967079" cy="760020"/>
                <a:chOff x="3952506" y="3170710"/>
                <a:chExt cx="1967079" cy="760020"/>
              </a:xfrm>
            </p:grpSpPr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F8A8941E-FF02-4FEE-9D18-2B0C4C90708C}"/>
                    </a:ext>
                  </a:extLst>
                </p:cNvPr>
                <p:cNvSpPr/>
                <p:nvPr/>
              </p:nvSpPr>
              <p:spPr>
                <a:xfrm>
                  <a:off x="3952506" y="3170710"/>
                  <a:ext cx="1967079" cy="760020"/>
                </a:xfrm>
                <a:prstGeom prst="roundRect">
                  <a:avLst/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D33B71C-4FD1-4C51-B9DB-0D227146A9FE}"/>
                    </a:ext>
                  </a:extLst>
                </p:cNvPr>
                <p:cNvSpPr txBox="1"/>
                <p:nvPr/>
              </p:nvSpPr>
              <p:spPr>
                <a:xfrm>
                  <a:off x="4421623" y="3346185"/>
                  <a:ext cx="1028844" cy="421536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1E293B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Builtin</a:t>
                  </a:r>
                  <a:endParaRPr lang="zh-CN" altLang="en-US" sz="2000" b="1" dirty="0">
                    <a:solidFill>
                      <a:srgbClr val="1E293B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BB5413C8-F93F-4453-BE31-EB5E6885B88C}"/>
                  </a:ext>
                </a:extLst>
              </p:cNvPr>
              <p:cNvGrpSpPr/>
              <p:nvPr/>
            </p:nvGrpSpPr>
            <p:grpSpPr>
              <a:xfrm>
                <a:off x="6137300" y="3170710"/>
                <a:ext cx="2081950" cy="760020"/>
                <a:chOff x="6137300" y="3170710"/>
                <a:chExt cx="2081950" cy="760020"/>
              </a:xfrm>
            </p:grpSpPr>
            <p:sp>
              <p:nvSpPr>
                <p:cNvPr id="14" name="矩形: 圆角 13">
                  <a:extLst>
                    <a:ext uri="{FF2B5EF4-FFF2-40B4-BE49-F238E27FC236}">
                      <a16:creationId xmlns:a16="http://schemas.microsoft.com/office/drawing/2014/main" id="{7A76C7AD-75DD-48CD-A987-368B4ACE3FD3}"/>
                    </a:ext>
                  </a:extLst>
                </p:cNvPr>
                <p:cNvSpPr/>
                <p:nvPr/>
              </p:nvSpPr>
              <p:spPr>
                <a:xfrm>
                  <a:off x="6137300" y="3170710"/>
                  <a:ext cx="2081950" cy="760020"/>
                </a:xfrm>
                <a:prstGeom prst="roundRect">
                  <a:avLst/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35DF3FD-A2CE-43AC-854C-17853A2A2AC0}"/>
                    </a:ext>
                  </a:extLst>
                </p:cNvPr>
                <p:cNvSpPr txBox="1"/>
                <p:nvPr/>
              </p:nvSpPr>
              <p:spPr>
                <a:xfrm>
                  <a:off x="6585119" y="3337787"/>
                  <a:ext cx="1172396" cy="421536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1E293B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Module</a:t>
                  </a:r>
                  <a:endParaRPr lang="zh-CN" altLang="en-US" sz="2000" b="1" dirty="0">
                    <a:solidFill>
                      <a:srgbClr val="1E293B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10E06072-2AA5-4494-AE1E-C617C963A071}"/>
                  </a:ext>
                </a:extLst>
              </p:cNvPr>
              <p:cNvGrpSpPr/>
              <p:nvPr/>
            </p:nvGrpSpPr>
            <p:grpSpPr>
              <a:xfrm>
                <a:off x="8436966" y="3170710"/>
                <a:ext cx="2374335" cy="753787"/>
                <a:chOff x="8436966" y="3170710"/>
                <a:chExt cx="2374335" cy="753787"/>
              </a:xfrm>
            </p:grpSpPr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4F8C727C-425E-402D-B5EE-C7D007E05FAF}"/>
                    </a:ext>
                  </a:extLst>
                </p:cNvPr>
                <p:cNvSpPr/>
                <p:nvPr/>
              </p:nvSpPr>
              <p:spPr>
                <a:xfrm>
                  <a:off x="8436966" y="3170710"/>
                  <a:ext cx="2374335" cy="753787"/>
                </a:xfrm>
                <a:prstGeom prst="roundRect">
                  <a:avLst/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6E17660-4886-4DC2-8BCD-ECE0BA940096}"/>
                    </a:ext>
                  </a:extLst>
                </p:cNvPr>
                <p:cNvSpPr txBox="1"/>
                <p:nvPr/>
              </p:nvSpPr>
              <p:spPr>
                <a:xfrm>
                  <a:off x="8525934" y="3346185"/>
                  <a:ext cx="2196400" cy="421536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1E293B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Compiler/Parser</a:t>
                  </a:r>
                  <a:endParaRPr lang="zh-CN" altLang="en-US" sz="2000" b="1" dirty="0">
                    <a:solidFill>
                      <a:srgbClr val="1E293B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0D3B13B7-B358-4D02-959B-10FA7965EC47}"/>
                </a:ext>
              </a:extLst>
            </p:cNvPr>
            <p:cNvGrpSpPr/>
            <p:nvPr/>
          </p:nvGrpSpPr>
          <p:grpSpPr>
            <a:xfrm>
              <a:off x="285008" y="4243192"/>
              <a:ext cx="9406246" cy="721389"/>
              <a:chOff x="1194460" y="4248976"/>
              <a:chExt cx="9909958" cy="760020"/>
            </a:xfrm>
            <a:solidFill>
              <a:srgbClr val="E0F2FE"/>
            </a:solidFill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DC916D6-5B3F-422E-833D-542B1E6AF216}"/>
                  </a:ext>
                </a:extLst>
              </p:cNvPr>
              <p:cNvSpPr/>
              <p:nvPr/>
            </p:nvSpPr>
            <p:spPr>
              <a:xfrm>
                <a:off x="1194460" y="4248976"/>
                <a:ext cx="9909958" cy="760020"/>
              </a:xfrm>
              <a:prstGeom prst="roundRect">
                <a:avLst>
                  <a:gd name="adj" fmla="val 3893"/>
                </a:avLst>
              </a:prstGeom>
              <a:grpFill/>
              <a:ln w="19050">
                <a:solidFill>
                  <a:srgbClr val="BAE6F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184C272-584E-4F89-B726-303C5434DF35}"/>
                  </a:ext>
                </a:extLst>
              </p:cNvPr>
              <p:cNvSpPr txBox="1"/>
              <p:nvPr/>
            </p:nvSpPr>
            <p:spPr>
              <a:xfrm>
                <a:off x="4168031" y="4359920"/>
                <a:ext cx="4486324" cy="538131"/>
              </a:xfrm>
              <a:prstGeom prst="round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1E293B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Python Object-Klass System</a:t>
                </a:r>
                <a:endParaRPr lang="zh-CN" altLang="en-US" sz="2400" b="1" dirty="0">
                  <a:solidFill>
                    <a:srgbClr val="1E293B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0AAE9CF1-D918-4B32-9AE9-62D844202DB8}"/>
                </a:ext>
              </a:extLst>
            </p:cNvPr>
            <p:cNvGrpSpPr/>
            <p:nvPr/>
          </p:nvGrpSpPr>
          <p:grpSpPr>
            <a:xfrm>
              <a:off x="285008" y="5167907"/>
              <a:ext cx="9406246" cy="721389"/>
              <a:chOff x="1194460" y="5158173"/>
              <a:chExt cx="9909958" cy="760020"/>
            </a:xfrm>
            <a:solidFill>
              <a:srgbClr val="F1F5F9"/>
            </a:solidFill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F646D32-881A-4F10-92A5-B791AF067A96}"/>
                  </a:ext>
                </a:extLst>
              </p:cNvPr>
              <p:cNvSpPr/>
              <p:nvPr/>
            </p:nvSpPr>
            <p:spPr>
              <a:xfrm>
                <a:off x="1194460" y="5158173"/>
                <a:ext cx="9909958" cy="760020"/>
              </a:xfrm>
              <a:prstGeom prst="roundRect">
                <a:avLst>
                  <a:gd name="adj" fmla="val 3893"/>
                </a:avLst>
              </a:prstGeom>
              <a:grpFill/>
              <a:ln w="19050">
                <a:solidFill>
                  <a:srgbClr val="CBD5E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63D1017-59AB-404E-8337-6213706C223B}"/>
                  </a:ext>
                </a:extLst>
              </p:cNvPr>
              <p:cNvSpPr txBox="1"/>
              <p:nvPr/>
            </p:nvSpPr>
            <p:spPr>
              <a:xfrm>
                <a:off x="4273923" y="5269117"/>
                <a:ext cx="4018491" cy="538131"/>
              </a:xfrm>
              <a:prstGeom prst="round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1E293B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Heap/GC/Handle System</a:t>
                </a:r>
                <a:endParaRPr lang="zh-CN" altLang="en-US" sz="2400" b="1" dirty="0">
                  <a:solidFill>
                    <a:srgbClr val="1E293B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1D9CA87D-1BDD-4D72-8C64-EACC934490BE}"/>
                </a:ext>
              </a:extLst>
            </p:cNvPr>
            <p:cNvGrpSpPr/>
            <p:nvPr/>
          </p:nvGrpSpPr>
          <p:grpSpPr>
            <a:xfrm>
              <a:off x="285008" y="6092623"/>
              <a:ext cx="9406246" cy="521733"/>
              <a:chOff x="1194460" y="6067370"/>
              <a:chExt cx="9909958" cy="549672"/>
            </a:xfrm>
            <a:solidFill>
              <a:srgbClr val="F1F5F9"/>
            </a:solidFill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7E7C7F46-2576-46D1-9266-FA220593F8A8}"/>
                  </a:ext>
                </a:extLst>
              </p:cNvPr>
              <p:cNvSpPr/>
              <p:nvPr/>
            </p:nvSpPr>
            <p:spPr>
              <a:xfrm>
                <a:off x="1194460" y="6067370"/>
                <a:ext cx="9909958" cy="549672"/>
              </a:xfrm>
              <a:prstGeom prst="roundRect">
                <a:avLst>
                  <a:gd name="adj" fmla="val 4439"/>
                </a:avLst>
              </a:prstGeom>
              <a:grpFill/>
              <a:ln w="19050">
                <a:solidFill>
                  <a:srgbClr val="CBD5E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649674E-F884-44D0-92A7-499B9EB45D48}"/>
                  </a:ext>
                </a:extLst>
              </p:cNvPr>
              <p:cNvSpPr txBox="1"/>
              <p:nvPr/>
            </p:nvSpPr>
            <p:spPr>
              <a:xfrm>
                <a:off x="4738414" y="6067370"/>
                <a:ext cx="3345559" cy="538130"/>
              </a:xfrm>
              <a:prstGeom prst="round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1E293B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Utils/Cross-platform</a:t>
                </a:r>
                <a:endParaRPr lang="zh-CN" altLang="en-US" sz="2400" b="1" dirty="0">
                  <a:solidFill>
                    <a:srgbClr val="1E293B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5" name="右大括号 34">
              <a:extLst>
                <a:ext uri="{FF2B5EF4-FFF2-40B4-BE49-F238E27FC236}">
                  <a16:creationId xmlns:a16="http://schemas.microsoft.com/office/drawing/2014/main" id="{E8A77E34-185F-4F2F-A183-BD0FE9A7ECB9}"/>
                </a:ext>
              </a:extLst>
            </p:cNvPr>
            <p:cNvSpPr/>
            <p:nvPr/>
          </p:nvSpPr>
          <p:spPr>
            <a:xfrm>
              <a:off x="9846641" y="2313100"/>
              <a:ext cx="185898" cy="1725892"/>
            </a:xfrm>
            <a:prstGeom prst="rightBrace">
              <a:avLst>
                <a:gd name="adj1" fmla="val 8333"/>
                <a:gd name="adj2" fmla="val 49347"/>
              </a:avLst>
            </a:prstGeom>
            <a:noFill/>
            <a:ln w="28575"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6" name="右大括号 35">
              <a:extLst>
                <a:ext uri="{FF2B5EF4-FFF2-40B4-BE49-F238E27FC236}">
                  <a16:creationId xmlns:a16="http://schemas.microsoft.com/office/drawing/2014/main" id="{78767D49-2C01-42BA-91AE-958883BD930D}"/>
                </a:ext>
              </a:extLst>
            </p:cNvPr>
            <p:cNvSpPr/>
            <p:nvPr/>
          </p:nvSpPr>
          <p:spPr>
            <a:xfrm>
              <a:off x="10682015" y="2313101"/>
              <a:ext cx="185899" cy="4301255"/>
            </a:xfrm>
            <a:prstGeom prst="rightBrace">
              <a:avLst>
                <a:gd name="adj1" fmla="val 8333"/>
                <a:gd name="adj2" fmla="val 49347"/>
              </a:avLst>
            </a:prstGeom>
            <a:ln w="28575">
              <a:solidFill>
                <a:srgbClr val="DC262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DC2626"/>
                </a:solidFill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982B56A3-7C87-41A6-8FEF-81DCC436ECB1}"/>
                </a:ext>
              </a:extLst>
            </p:cNvPr>
            <p:cNvSpPr txBox="1"/>
            <p:nvPr/>
          </p:nvSpPr>
          <p:spPr>
            <a:xfrm>
              <a:off x="10924063" y="3943094"/>
              <a:ext cx="430887" cy="104126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DC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VM Core</a:t>
              </a:r>
              <a:endParaRPr lang="zh-CN" altLang="en-US" sz="16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BAB20B3-8B79-4614-843E-431B12AD6B46}"/>
                </a:ext>
              </a:extLst>
            </p:cNvPr>
            <p:cNvSpPr txBox="1"/>
            <p:nvPr/>
          </p:nvSpPr>
          <p:spPr>
            <a:xfrm rot="5400000">
              <a:off x="9451935" y="3004624"/>
              <a:ext cx="1800178" cy="33855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6A34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Execution Layer </a:t>
              </a:r>
              <a:endParaRPr lang="zh-CN" altLang="en-US" sz="16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0EDCBEE5-96F9-49BB-9A96-D18F5431F2A7}"/>
              </a:ext>
            </a:extLst>
          </p:cNvPr>
          <p:cNvSpPr txBox="1"/>
          <p:nvPr/>
        </p:nvSpPr>
        <p:spPr>
          <a:xfrm>
            <a:off x="198485" y="891901"/>
            <a:ext cx="8143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参考现代工业级</a:t>
            </a:r>
            <a:r>
              <a:rPr lang="en-US" altLang="zh-CN" dirty="0"/>
              <a:t>VM</a:t>
            </a:r>
            <a:r>
              <a:rPr lang="zh-CN" altLang="en-US" dirty="0"/>
              <a:t>的分层架构思路进行设计，具有良好的可维护性、可拓展性</a:t>
            </a:r>
          </a:p>
        </p:txBody>
      </p:sp>
    </p:spTree>
    <p:extLst>
      <p:ext uri="{BB962C8B-B14F-4D97-AF65-F5344CB8AC3E}">
        <p14:creationId xmlns:p14="http://schemas.microsoft.com/office/powerpoint/2010/main" val="130682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40233-C772-45C0-8EAF-60C6F0E0A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0744"/>
            <a:ext cx="10515600" cy="1325563"/>
          </a:xfrm>
        </p:spPr>
        <p:txBody>
          <a:bodyPr/>
          <a:lstStyle/>
          <a:p>
            <a:r>
              <a:rPr lang="zh-CN" altLang="en-US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总体架构设计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DEA291B-CA7D-49CF-8E8E-851FA279BF6F}"/>
              </a:ext>
            </a:extLst>
          </p:cNvPr>
          <p:cNvGrpSpPr/>
          <p:nvPr/>
        </p:nvGrpSpPr>
        <p:grpSpPr>
          <a:xfrm>
            <a:off x="285008" y="1575241"/>
            <a:ext cx="11069942" cy="5039115"/>
            <a:chOff x="285008" y="1575241"/>
            <a:chExt cx="11069942" cy="5039115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A9448EDE-58A4-4225-952C-B5B52BA4D059}"/>
                </a:ext>
              </a:extLst>
            </p:cNvPr>
            <p:cNvGrpSpPr/>
            <p:nvPr/>
          </p:nvGrpSpPr>
          <p:grpSpPr>
            <a:xfrm>
              <a:off x="285008" y="1575241"/>
              <a:ext cx="9406246" cy="535407"/>
              <a:chOff x="1194460" y="1140031"/>
              <a:chExt cx="9909958" cy="760020"/>
            </a:xfrm>
            <a:solidFill>
              <a:srgbClr val="CCFBF1"/>
            </a:solidFill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72CE952-69AC-413F-ACAD-269F86977422}"/>
                  </a:ext>
                </a:extLst>
              </p:cNvPr>
              <p:cNvSpPr/>
              <p:nvPr/>
            </p:nvSpPr>
            <p:spPr>
              <a:xfrm>
                <a:off x="1194460" y="1140031"/>
                <a:ext cx="9909958" cy="760020"/>
              </a:xfrm>
              <a:prstGeom prst="roundRect">
                <a:avLst>
                  <a:gd name="adj" fmla="val 7400"/>
                </a:avLst>
              </a:prstGeom>
              <a:solidFill>
                <a:srgbClr val="042F2E"/>
              </a:solidFill>
              <a:ln w="19050">
                <a:solidFill>
                  <a:srgbClr val="0D948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8FAFC"/>
                  </a:solidFill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0392358-17D3-433F-B7A9-CF2F682EA319}"/>
                  </a:ext>
                </a:extLst>
              </p:cNvPr>
              <p:cNvSpPr txBox="1"/>
              <p:nvPr/>
            </p:nvSpPr>
            <p:spPr>
              <a:xfrm>
                <a:off x="5077077" y="1157511"/>
                <a:ext cx="2412181" cy="725059"/>
              </a:xfrm>
              <a:prstGeom prst="round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8FAF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Embedder API</a:t>
                </a:r>
                <a:endParaRPr lang="zh-CN" altLang="en-US" sz="2400" b="1" dirty="0">
                  <a:solidFill>
                    <a:srgbClr val="F8FAFC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E16A3DD-DBA1-44D2-9C1D-B51B7277DA36}"/>
                </a:ext>
              </a:extLst>
            </p:cNvPr>
            <p:cNvSpPr/>
            <p:nvPr/>
          </p:nvSpPr>
          <p:spPr>
            <a:xfrm>
              <a:off x="285008" y="2313974"/>
              <a:ext cx="9406246" cy="1725892"/>
            </a:xfrm>
            <a:prstGeom prst="roundRect">
              <a:avLst>
                <a:gd name="adj" fmla="val 1471"/>
              </a:avLst>
            </a:prstGeom>
            <a:solidFill>
              <a:srgbClr val="2E1065">
                <a:alpha val="98824"/>
              </a:srgbClr>
            </a:solidFill>
            <a:ln w="19050">
              <a:solidFill>
                <a:srgbClr val="7E22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8FAFC"/>
                </a:solidFill>
              </a:endParaRP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52CF89C3-3D47-42C5-990A-617862C16F0A}"/>
                </a:ext>
              </a:extLst>
            </p:cNvPr>
            <p:cNvGrpSpPr/>
            <p:nvPr/>
          </p:nvGrpSpPr>
          <p:grpSpPr>
            <a:xfrm>
              <a:off x="396949" y="2408382"/>
              <a:ext cx="9172352" cy="610552"/>
              <a:chOff x="1412174" y="2236519"/>
              <a:chExt cx="9269681" cy="760020"/>
            </a:xfrm>
            <a:solidFill>
              <a:srgbClr val="FFFFFF"/>
            </a:solidFill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D85C832-C632-4CDC-BDE1-F99907FEFD41}"/>
                  </a:ext>
                </a:extLst>
              </p:cNvPr>
              <p:cNvSpPr/>
              <p:nvPr/>
            </p:nvSpPr>
            <p:spPr>
              <a:xfrm>
                <a:off x="1412174" y="2236519"/>
                <a:ext cx="9269681" cy="760020"/>
              </a:xfrm>
              <a:prstGeom prst="roundRect">
                <a:avLst/>
              </a:prstGeom>
              <a:solidFill>
                <a:srgbClr val="1E1B4B"/>
              </a:solidFill>
              <a:ln w="9525">
                <a:solidFill>
                  <a:srgbClr val="4C1D9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8FAFC"/>
                  </a:solidFill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8F7113E-F2F0-456B-AC3A-D5FF2D234808}"/>
                  </a:ext>
                </a:extLst>
              </p:cNvPr>
              <p:cNvSpPr txBox="1"/>
              <p:nvPr/>
            </p:nvSpPr>
            <p:spPr>
              <a:xfrm>
                <a:off x="5357257" y="2300063"/>
                <a:ext cx="1891803" cy="635821"/>
              </a:xfrm>
              <a:prstGeom prst="roundRect">
                <a:avLst/>
              </a:prstGeom>
              <a:noFill/>
              <a:ln w="9525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8FAF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Interpreter</a:t>
                </a:r>
                <a:endParaRPr lang="zh-CN" altLang="en-US" sz="2400" b="1" dirty="0">
                  <a:solidFill>
                    <a:srgbClr val="F8FAFC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AFD54392-2FF1-4895-8620-4A00B9C07854}"/>
                </a:ext>
              </a:extLst>
            </p:cNvPr>
            <p:cNvGrpSpPr/>
            <p:nvPr/>
          </p:nvGrpSpPr>
          <p:grpSpPr>
            <a:xfrm>
              <a:off x="396950" y="3173901"/>
              <a:ext cx="9172350" cy="721389"/>
              <a:chOff x="1412176" y="3170710"/>
              <a:chExt cx="9399125" cy="760020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59EBEDCE-7728-4F69-9541-1AA83A5E48EC}"/>
                  </a:ext>
                </a:extLst>
              </p:cNvPr>
              <p:cNvGrpSpPr/>
              <p:nvPr/>
            </p:nvGrpSpPr>
            <p:grpSpPr>
              <a:xfrm>
                <a:off x="1412176" y="3170710"/>
                <a:ext cx="2322615" cy="760020"/>
                <a:chOff x="1412176" y="3170710"/>
                <a:chExt cx="2322615" cy="760020"/>
              </a:xfrm>
            </p:grpSpPr>
            <p:sp>
              <p:nvSpPr>
                <p:cNvPr id="9" name="矩形: 圆角 8">
                  <a:extLst>
                    <a:ext uri="{FF2B5EF4-FFF2-40B4-BE49-F238E27FC236}">
                      <a16:creationId xmlns:a16="http://schemas.microsoft.com/office/drawing/2014/main" id="{7C2C909C-725D-4A3E-952F-6C105E4EE96F}"/>
                    </a:ext>
                  </a:extLst>
                </p:cNvPr>
                <p:cNvSpPr/>
                <p:nvPr/>
              </p:nvSpPr>
              <p:spPr>
                <a:xfrm>
                  <a:off x="1412176" y="3170710"/>
                  <a:ext cx="2322615" cy="760020"/>
                </a:xfrm>
                <a:prstGeom prst="roundRect">
                  <a:avLst/>
                </a:prstGeom>
                <a:solidFill>
                  <a:srgbClr val="1E1B4B"/>
                </a:solidFill>
                <a:ln w="9525">
                  <a:solidFill>
                    <a:srgbClr val="4C1D9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rgbClr val="F8FAFC"/>
                    </a:solidFill>
                  </a:endParaRPr>
                </a:p>
              </p:txBody>
            </p:sp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585B956F-F4AC-47DB-B698-AE93796E8BA7}"/>
                    </a:ext>
                  </a:extLst>
                </p:cNvPr>
                <p:cNvSpPr txBox="1"/>
                <p:nvPr/>
              </p:nvSpPr>
              <p:spPr>
                <a:xfrm>
                  <a:off x="1933057" y="3343068"/>
                  <a:ext cx="1273727" cy="421536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F8FAF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Runtime</a:t>
                  </a:r>
                  <a:endParaRPr lang="zh-CN" altLang="en-US" sz="2000" b="1" dirty="0">
                    <a:solidFill>
                      <a:srgbClr val="F8FAFC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D716E13F-748C-4DCE-ABEC-E21D8A813C7F}"/>
                  </a:ext>
                </a:extLst>
              </p:cNvPr>
              <p:cNvGrpSpPr/>
              <p:nvPr/>
            </p:nvGrpSpPr>
            <p:grpSpPr>
              <a:xfrm>
                <a:off x="3952506" y="3170710"/>
                <a:ext cx="1967079" cy="760020"/>
                <a:chOff x="3952506" y="3170710"/>
                <a:chExt cx="1967079" cy="760020"/>
              </a:xfrm>
            </p:grpSpPr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F8A8941E-FF02-4FEE-9D18-2B0C4C90708C}"/>
                    </a:ext>
                  </a:extLst>
                </p:cNvPr>
                <p:cNvSpPr/>
                <p:nvPr/>
              </p:nvSpPr>
              <p:spPr>
                <a:xfrm>
                  <a:off x="3952506" y="3170710"/>
                  <a:ext cx="1967079" cy="760020"/>
                </a:xfrm>
                <a:prstGeom prst="roundRect">
                  <a:avLst/>
                </a:prstGeom>
                <a:solidFill>
                  <a:srgbClr val="1E1B4B"/>
                </a:solidFill>
                <a:ln w="9525">
                  <a:solidFill>
                    <a:srgbClr val="4C1D9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8FAFC"/>
                    </a:solidFill>
                  </a:endParaRPr>
                </a:p>
              </p:txBody>
            </p:sp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D33B71C-4FD1-4C51-B9DB-0D227146A9FE}"/>
                    </a:ext>
                  </a:extLst>
                </p:cNvPr>
                <p:cNvSpPr txBox="1"/>
                <p:nvPr/>
              </p:nvSpPr>
              <p:spPr>
                <a:xfrm>
                  <a:off x="4421623" y="3346185"/>
                  <a:ext cx="1028844" cy="421536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F8FAF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Builtin</a:t>
                  </a:r>
                  <a:endParaRPr lang="zh-CN" altLang="en-US" sz="2000" b="1" dirty="0">
                    <a:solidFill>
                      <a:srgbClr val="F8FAFC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BB5413C8-F93F-4453-BE31-EB5E6885B88C}"/>
                  </a:ext>
                </a:extLst>
              </p:cNvPr>
              <p:cNvGrpSpPr/>
              <p:nvPr/>
            </p:nvGrpSpPr>
            <p:grpSpPr>
              <a:xfrm>
                <a:off x="6137300" y="3170710"/>
                <a:ext cx="2081950" cy="760020"/>
                <a:chOff x="6137300" y="3170710"/>
                <a:chExt cx="2081950" cy="760020"/>
              </a:xfrm>
            </p:grpSpPr>
            <p:sp>
              <p:nvSpPr>
                <p:cNvPr id="14" name="矩形: 圆角 13">
                  <a:extLst>
                    <a:ext uri="{FF2B5EF4-FFF2-40B4-BE49-F238E27FC236}">
                      <a16:creationId xmlns:a16="http://schemas.microsoft.com/office/drawing/2014/main" id="{7A76C7AD-75DD-48CD-A987-368B4ACE3FD3}"/>
                    </a:ext>
                  </a:extLst>
                </p:cNvPr>
                <p:cNvSpPr/>
                <p:nvPr/>
              </p:nvSpPr>
              <p:spPr>
                <a:xfrm>
                  <a:off x="6137300" y="3170710"/>
                  <a:ext cx="2081950" cy="760020"/>
                </a:xfrm>
                <a:prstGeom prst="roundRect">
                  <a:avLst/>
                </a:prstGeom>
                <a:solidFill>
                  <a:srgbClr val="1E1B4B"/>
                </a:solidFill>
                <a:ln w="9525">
                  <a:solidFill>
                    <a:srgbClr val="4C1D9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rgbClr val="F8FAFC"/>
                    </a:solidFill>
                  </a:endParaRPr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35DF3FD-A2CE-43AC-854C-17853A2A2AC0}"/>
                    </a:ext>
                  </a:extLst>
                </p:cNvPr>
                <p:cNvSpPr txBox="1"/>
                <p:nvPr/>
              </p:nvSpPr>
              <p:spPr>
                <a:xfrm>
                  <a:off x="6585119" y="3337787"/>
                  <a:ext cx="1172396" cy="421536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F8FAF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Module</a:t>
                  </a:r>
                  <a:endParaRPr lang="zh-CN" altLang="en-US" sz="2000" b="1" dirty="0">
                    <a:solidFill>
                      <a:srgbClr val="F8FAFC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10E06072-2AA5-4494-AE1E-C617C963A071}"/>
                  </a:ext>
                </a:extLst>
              </p:cNvPr>
              <p:cNvGrpSpPr/>
              <p:nvPr/>
            </p:nvGrpSpPr>
            <p:grpSpPr>
              <a:xfrm>
                <a:off x="8436966" y="3170710"/>
                <a:ext cx="2374335" cy="753787"/>
                <a:chOff x="8436966" y="3170710"/>
                <a:chExt cx="2374335" cy="753787"/>
              </a:xfrm>
            </p:grpSpPr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4F8C727C-425E-402D-B5EE-C7D007E05FAF}"/>
                    </a:ext>
                  </a:extLst>
                </p:cNvPr>
                <p:cNvSpPr/>
                <p:nvPr/>
              </p:nvSpPr>
              <p:spPr>
                <a:xfrm>
                  <a:off x="8436966" y="3170710"/>
                  <a:ext cx="2374335" cy="753787"/>
                </a:xfrm>
                <a:prstGeom prst="roundRect">
                  <a:avLst/>
                </a:prstGeom>
                <a:solidFill>
                  <a:srgbClr val="1E1B4B"/>
                </a:solidFill>
                <a:ln w="9525">
                  <a:solidFill>
                    <a:srgbClr val="4C1D9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8FAFC"/>
                    </a:solidFill>
                  </a:endParaRPr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6E17660-4886-4DC2-8BCD-ECE0BA940096}"/>
                    </a:ext>
                  </a:extLst>
                </p:cNvPr>
                <p:cNvSpPr txBox="1"/>
                <p:nvPr/>
              </p:nvSpPr>
              <p:spPr>
                <a:xfrm>
                  <a:off x="8525934" y="3346185"/>
                  <a:ext cx="2196400" cy="421536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rgbClr val="F8FAF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Compiler/Parser</a:t>
                  </a:r>
                  <a:endParaRPr lang="zh-CN" altLang="en-US" sz="2000" b="1" dirty="0">
                    <a:solidFill>
                      <a:srgbClr val="F8FAFC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0D3B13B7-B358-4D02-959B-10FA7965EC47}"/>
                </a:ext>
              </a:extLst>
            </p:cNvPr>
            <p:cNvGrpSpPr/>
            <p:nvPr/>
          </p:nvGrpSpPr>
          <p:grpSpPr>
            <a:xfrm>
              <a:off x="285008" y="4243192"/>
              <a:ext cx="9406246" cy="721389"/>
              <a:chOff x="1194460" y="4248976"/>
              <a:chExt cx="9909958" cy="760020"/>
            </a:xfrm>
            <a:solidFill>
              <a:srgbClr val="E0F2FE"/>
            </a:solidFill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DC916D6-5B3F-422E-833D-542B1E6AF216}"/>
                  </a:ext>
                </a:extLst>
              </p:cNvPr>
              <p:cNvSpPr/>
              <p:nvPr/>
            </p:nvSpPr>
            <p:spPr>
              <a:xfrm>
                <a:off x="1194460" y="4248976"/>
                <a:ext cx="9909958" cy="760020"/>
              </a:xfrm>
              <a:prstGeom prst="roundRect">
                <a:avLst>
                  <a:gd name="adj" fmla="val 3893"/>
                </a:avLst>
              </a:prstGeom>
              <a:solidFill>
                <a:srgbClr val="082F49"/>
              </a:solidFill>
              <a:ln w="19050">
                <a:solidFill>
                  <a:srgbClr val="0284C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8FAFC"/>
                  </a:solidFill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184C272-584E-4F89-B726-303C5434DF35}"/>
                  </a:ext>
                </a:extLst>
              </p:cNvPr>
              <p:cNvSpPr txBox="1"/>
              <p:nvPr/>
            </p:nvSpPr>
            <p:spPr>
              <a:xfrm>
                <a:off x="4168031" y="4359920"/>
                <a:ext cx="4486324" cy="538131"/>
              </a:xfrm>
              <a:prstGeom prst="round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8FAF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Python Object-Klass System</a:t>
                </a:r>
                <a:endParaRPr lang="zh-CN" altLang="en-US" sz="2400" b="1" dirty="0">
                  <a:solidFill>
                    <a:srgbClr val="F8FAFC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0AAE9CF1-D918-4B32-9AE9-62D844202DB8}"/>
                </a:ext>
              </a:extLst>
            </p:cNvPr>
            <p:cNvGrpSpPr/>
            <p:nvPr/>
          </p:nvGrpSpPr>
          <p:grpSpPr>
            <a:xfrm>
              <a:off x="285008" y="5167907"/>
              <a:ext cx="9406246" cy="721389"/>
              <a:chOff x="1194460" y="5158173"/>
              <a:chExt cx="9909958" cy="760020"/>
            </a:xfrm>
            <a:solidFill>
              <a:srgbClr val="F1F5F9"/>
            </a:solidFill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F646D32-881A-4F10-92A5-B791AF067A96}"/>
                  </a:ext>
                </a:extLst>
              </p:cNvPr>
              <p:cNvSpPr/>
              <p:nvPr/>
            </p:nvSpPr>
            <p:spPr>
              <a:xfrm>
                <a:off x="1194460" y="5158173"/>
                <a:ext cx="9909958" cy="760020"/>
              </a:xfrm>
              <a:prstGeom prst="roundRect">
                <a:avLst>
                  <a:gd name="adj" fmla="val 3893"/>
                </a:avLst>
              </a:prstGeom>
              <a:solidFill>
                <a:srgbClr val="1E293B"/>
              </a:solidFill>
              <a:ln w="19050">
                <a:solidFill>
                  <a:srgbClr val="334155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8FAFC"/>
                  </a:solidFill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63D1017-59AB-404E-8337-6213706C223B}"/>
                  </a:ext>
                </a:extLst>
              </p:cNvPr>
              <p:cNvSpPr txBox="1"/>
              <p:nvPr/>
            </p:nvSpPr>
            <p:spPr>
              <a:xfrm>
                <a:off x="4273923" y="5269117"/>
                <a:ext cx="4018491" cy="538131"/>
              </a:xfrm>
              <a:prstGeom prst="round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8FAF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Heap/GC/Handle System</a:t>
                </a:r>
                <a:endParaRPr lang="zh-CN" altLang="en-US" sz="2400" b="1" dirty="0">
                  <a:solidFill>
                    <a:srgbClr val="F8FAFC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1D9CA87D-1BDD-4D72-8C64-EACC934490BE}"/>
                </a:ext>
              </a:extLst>
            </p:cNvPr>
            <p:cNvGrpSpPr/>
            <p:nvPr/>
          </p:nvGrpSpPr>
          <p:grpSpPr>
            <a:xfrm>
              <a:off x="285008" y="6092623"/>
              <a:ext cx="9406246" cy="521733"/>
              <a:chOff x="1194460" y="6067370"/>
              <a:chExt cx="9909958" cy="549672"/>
            </a:xfrm>
            <a:solidFill>
              <a:srgbClr val="F1F5F9"/>
            </a:solidFill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7E7C7F46-2576-46D1-9266-FA220593F8A8}"/>
                  </a:ext>
                </a:extLst>
              </p:cNvPr>
              <p:cNvSpPr/>
              <p:nvPr/>
            </p:nvSpPr>
            <p:spPr>
              <a:xfrm>
                <a:off x="1194460" y="6067370"/>
                <a:ext cx="9909958" cy="549672"/>
              </a:xfrm>
              <a:prstGeom prst="roundRect">
                <a:avLst>
                  <a:gd name="adj" fmla="val 4439"/>
                </a:avLst>
              </a:prstGeom>
              <a:solidFill>
                <a:srgbClr val="1E293B"/>
              </a:solidFill>
              <a:ln w="19050">
                <a:solidFill>
                  <a:srgbClr val="3341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8FAFC"/>
                  </a:solidFill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649674E-F884-44D0-92A7-499B9EB45D48}"/>
                  </a:ext>
                </a:extLst>
              </p:cNvPr>
              <p:cNvSpPr txBox="1"/>
              <p:nvPr/>
            </p:nvSpPr>
            <p:spPr>
              <a:xfrm>
                <a:off x="4738414" y="6067370"/>
                <a:ext cx="3345559" cy="538130"/>
              </a:xfrm>
              <a:prstGeom prst="round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8FAF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Utils/Cross-platform</a:t>
                </a:r>
                <a:endParaRPr lang="zh-CN" altLang="en-US" sz="2400" b="1" dirty="0">
                  <a:solidFill>
                    <a:srgbClr val="F8FAFC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5" name="右大括号 34">
              <a:extLst>
                <a:ext uri="{FF2B5EF4-FFF2-40B4-BE49-F238E27FC236}">
                  <a16:creationId xmlns:a16="http://schemas.microsoft.com/office/drawing/2014/main" id="{E8A77E34-185F-4F2F-A183-BD0FE9A7ECB9}"/>
                </a:ext>
              </a:extLst>
            </p:cNvPr>
            <p:cNvSpPr/>
            <p:nvPr/>
          </p:nvSpPr>
          <p:spPr>
            <a:xfrm>
              <a:off x="9846641" y="2313100"/>
              <a:ext cx="185898" cy="1725892"/>
            </a:xfrm>
            <a:prstGeom prst="rightBrace">
              <a:avLst>
                <a:gd name="adj1" fmla="val 8333"/>
                <a:gd name="adj2" fmla="val 49347"/>
              </a:avLst>
            </a:prstGeom>
            <a:noFill/>
            <a:ln w="28575">
              <a:solidFill>
                <a:srgbClr val="4ADE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8FAFC"/>
                </a:solidFill>
              </a:endParaRPr>
            </a:p>
          </p:txBody>
        </p:sp>
        <p:sp>
          <p:nvSpPr>
            <p:cNvPr id="36" name="右大括号 35">
              <a:extLst>
                <a:ext uri="{FF2B5EF4-FFF2-40B4-BE49-F238E27FC236}">
                  <a16:creationId xmlns:a16="http://schemas.microsoft.com/office/drawing/2014/main" id="{78767D49-2C01-42BA-91AE-958883BD930D}"/>
                </a:ext>
              </a:extLst>
            </p:cNvPr>
            <p:cNvSpPr/>
            <p:nvPr/>
          </p:nvSpPr>
          <p:spPr>
            <a:xfrm>
              <a:off x="10682015" y="2313101"/>
              <a:ext cx="185899" cy="4301255"/>
            </a:xfrm>
            <a:prstGeom prst="rightBrace">
              <a:avLst>
                <a:gd name="adj1" fmla="val 8333"/>
                <a:gd name="adj2" fmla="val 49347"/>
              </a:avLst>
            </a:prstGeom>
            <a:ln w="28575">
              <a:solidFill>
                <a:srgbClr val="F8717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8FAFC"/>
                </a:solidFill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982B56A3-7C87-41A6-8FEF-81DCC436ECB1}"/>
                </a:ext>
              </a:extLst>
            </p:cNvPr>
            <p:cNvSpPr txBox="1"/>
            <p:nvPr/>
          </p:nvSpPr>
          <p:spPr>
            <a:xfrm>
              <a:off x="10924063" y="3943094"/>
              <a:ext cx="430887" cy="104126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F8717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VM Core</a:t>
              </a:r>
              <a:endParaRPr lang="zh-CN" altLang="en-US" sz="1600" b="1" dirty="0">
                <a:solidFill>
                  <a:srgbClr val="F8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BAB20B3-8B79-4614-843E-431B12AD6B46}"/>
                </a:ext>
              </a:extLst>
            </p:cNvPr>
            <p:cNvSpPr txBox="1"/>
            <p:nvPr/>
          </p:nvSpPr>
          <p:spPr>
            <a:xfrm rot="5400000">
              <a:off x="9451935" y="3004624"/>
              <a:ext cx="1800178" cy="33855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4ADE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Execution Layer </a:t>
              </a:r>
              <a:endParaRPr lang="zh-CN" altLang="en-US" sz="1600" b="1" dirty="0">
                <a:solidFill>
                  <a:srgbClr val="4ADE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0EDCBEE5-96F9-49BB-9A96-D18F5431F2A7}"/>
              </a:ext>
            </a:extLst>
          </p:cNvPr>
          <p:cNvSpPr txBox="1"/>
          <p:nvPr/>
        </p:nvSpPr>
        <p:spPr>
          <a:xfrm>
            <a:off x="198485" y="891901"/>
            <a:ext cx="8143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参考现代工业级</a:t>
            </a:r>
            <a:r>
              <a:rPr lang="en-US" altLang="zh-CN" dirty="0"/>
              <a:t>VM</a:t>
            </a:r>
            <a:r>
              <a:rPr lang="zh-CN" altLang="en-US" dirty="0"/>
              <a:t>的分层架构思路进行设计，具有良好的可维护性、可拓展性</a:t>
            </a:r>
          </a:p>
        </p:txBody>
      </p:sp>
    </p:spTree>
    <p:extLst>
      <p:ext uri="{BB962C8B-B14F-4D97-AF65-F5344CB8AC3E}">
        <p14:creationId xmlns:p14="http://schemas.microsoft.com/office/powerpoint/2010/main" val="3816990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宽屏</PresentationFormat>
  <Paragraphs>28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方正大标宋简体</vt:lpstr>
      <vt:lpstr>微软雅黑</vt:lpstr>
      <vt:lpstr>Arial</vt:lpstr>
      <vt:lpstr>Segoe UI</vt:lpstr>
      <vt:lpstr>Office 主题​​</vt:lpstr>
      <vt:lpstr>总体架构设计</vt:lpstr>
      <vt:lpstr>总体架构设计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总体架构设计</dc:title>
  <dc:creator>R P</dc:creator>
  <cp:lastModifiedBy>R P</cp:lastModifiedBy>
  <cp:revision>1</cp:revision>
  <dcterms:created xsi:type="dcterms:W3CDTF">2026-04-09T06:24:57Z</dcterms:created>
  <dcterms:modified xsi:type="dcterms:W3CDTF">2026-04-09T06:25:03Z</dcterms:modified>
</cp:coreProperties>
</file>