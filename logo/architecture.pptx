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7" r:id="rId2"/>
    <p:sldId id="26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2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8EC4C-7D23-4CB9-ADC4-758CC3D05015}" type="datetimeFigureOut">
              <a:rPr lang="zh-CN" altLang="en-US" smtClean="0"/>
              <a:t>2026/4/9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9CDD9A-C498-4E6A-AAF1-DE7C4B9CE5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071362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8A5996-3CE0-44E4-BDBF-C91149296D14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58883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8A5996-3CE0-44E4-BDBF-C91149296D14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0988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91048F-8860-45DE-9293-B209EA2232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086AC4E-7A6A-4B18-BA7D-80E24A05A0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AE34316-FEF8-4A16-9CA9-9B23E0C4E2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0787B-0FE6-4DFD-8C6A-5C5845EC8C92}" type="datetimeFigureOut">
              <a:rPr lang="zh-CN" altLang="en-US" smtClean="0"/>
              <a:t>2026/4/9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AA16869-C522-4F67-BBF9-E8645D204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D088E4A-58E5-446B-905A-6B9DE5F19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0EC3-5448-46DA-88D9-FDF02272798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936950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6F6800-C059-4BC0-8C26-7C0CDAC0C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3CE2A20-C67C-4807-8376-6D4CCBC7CA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A677B5D-86EB-4BCB-B722-3D4A152AF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0787B-0FE6-4DFD-8C6A-5C5845EC8C92}" type="datetimeFigureOut">
              <a:rPr lang="zh-CN" altLang="en-US" smtClean="0"/>
              <a:t>2026/4/9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D9051C8-CC2A-466E-A605-684619CE3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C35A0CC-ED80-445B-A8D2-59DDC70E7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0EC3-5448-46DA-88D9-FDF02272798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61277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02A3FB-3155-4E53-8A4A-7A7E3C741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A9D57C4-96FF-4127-89DF-59AC833E59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490F486-45C4-47AA-BA54-BA1C7C148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0787B-0FE6-4DFD-8C6A-5C5845EC8C92}" type="datetimeFigureOut">
              <a:rPr lang="zh-CN" altLang="en-US" smtClean="0"/>
              <a:t>2026/4/9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238CEE-850B-4A0B-9895-11376C9EA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1EFDD2A-68EC-4591-AD2A-010DFE37F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0EC3-5448-46DA-88D9-FDF02272798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2275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AFBB8F3-8676-4B4C-BC3A-8E729F0E8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500EAA3-609F-4E58-90CF-D3CCB5FEAA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882DA80-C6D1-436E-955D-3367AF7648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EDF9A50-D844-469F-BA84-73AEA63A4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0787B-0FE6-4DFD-8C6A-5C5845EC8C92}" type="datetimeFigureOut">
              <a:rPr lang="zh-CN" altLang="en-US" smtClean="0"/>
              <a:t>2026/4/9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76E8A08-E3E0-4A4D-80E9-E418F697C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77FEAC5-E396-464F-AC9C-3B39DD60D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0EC3-5448-46DA-88D9-FDF02272798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64837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9DCA33-04A7-4DF9-AD39-41F25FB7A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CCB551A-F181-4F1D-8FE1-AA6C13DBB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029D1BE-0818-4B31-A1C4-91F9865FB8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725CFA0-9283-4DC8-90AA-84C3F5FC66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1C28282-8DE6-428C-B640-4BA707C28D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14DB8B4-DF5A-487E-B2B1-62EBBDB79C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0787B-0FE6-4DFD-8C6A-5C5845EC8C92}" type="datetimeFigureOut">
              <a:rPr lang="zh-CN" altLang="en-US" smtClean="0"/>
              <a:t>2026/4/9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A0DBF92-3CB1-49BC-AABD-78A1FAA19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D764363-C091-4065-B21B-812699594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0EC3-5448-46DA-88D9-FDF02272798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7498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E74338-32BC-4671-A7EF-018A17399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8E217E0-70CE-4782-A3F7-D19C566B6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0787B-0FE6-4DFD-8C6A-5C5845EC8C92}" type="datetimeFigureOut">
              <a:rPr lang="zh-CN" altLang="en-US" smtClean="0"/>
              <a:t>2026/4/9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A5F6B14-B736-4340-A984-57C66ABAA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379E57-6C58-4961-99A5-F1EB3A868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0EC3-5448-46DA-88D9-FDF02272798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9767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F6629E6-40C5-466D-8020-22C5163AD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0787B-0FE6-4DFD-8C6A-5C5845EC8C92}" type="datetimeFigureOut">
              <a:rPr lang="zh-CN" altLang="en-US" smtClean="0"/>
              <a:t>2026/4/9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A5C692E-6957-4293-B497-3948C0933E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C736F94-ABA1-4030-981B-DD0D2061D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0EC3-5448-46DA-88D9-FDF02272798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19487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51827B-DC75-4704-801B-870A47314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F949F14-BD71-440C-9022-18289BCF15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9514BB7-3F24-4009-BC96-7BFAD3D33E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E2E0AD9-C0AB-401A-B7B3-D1DA9DDED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0787B-0FE6-4DFD-8C6A-5C5845EC8C92}" type="datetimeFigureOut">
              <a:rPr lang="zh-CN" altLang="en-US" smtClean="0"/>
              <a:t>2026/4/9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194A184-4F2F-4AD4-A736-EBD83CD8E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3B57954-0B9F-4613-8CA9-AF39BFE58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0EC3-5448-46DA-88D9-FDF02272798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10728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D18369-4F52-424A-9CAB-C41592372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84A6FA03-6169-4E93-B0EE-190A498C7B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E616319-9907-49A8-B65C-F76A8F2E52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202EE31-2C4B-47FA-99ED-11CFC5DC5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0787B-0FE6-4DFD-8C6A-5C5845EC8C92}" type="datetimeFigureOut">
              <a:rPr lang="zh-CN" altLang="en-US" smtClean="0"/>
              <a:t>2026/4/9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95F180D-9CD2-4521-913C-40B6DC25D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579B86A-BE8D-4D5D-9EC6-5F923154F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0EC3-5448-46DA-88D9-FDF02272798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55480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525AB6-33AC-4FA7-9D20-871F5A140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015AFD7-8D79-4DE9-9F28-436C7558DF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02E30C8-BB1C-4170-92FC-E48FD5784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0787B-0FE6-4DFD-8C6A-5C5845EC8C92}" type="datetimeFigureOut">
              <a:rPr lang="zh-CN" altLang="en-US" smtClean="0"/>
              <a:t>2026/4/9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76BFFEB-0054-47AA-AEB8-4CBD342DC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5421DC-8193-473E-B842-E3BCE2762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0EC3-5448-46DA-88D9-FDF02272798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8125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07A99D5-AD7A-43CF-9486-CB59B24DA6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A48A1E7-7A22-45A1-8AF0-0D90781FFD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00CC4F-AB31-4B29-ABCA-53E346319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0787B-0FE6-4DFD-8C6A-5C5845EC8C92}" type="datetimeFigureOut">
              <a:rPr lang="zh-CN" altLang="en-US" smtClean="0"/>
              <a:t>2026/4/9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403785-3438-45D6-A611-1339E07DB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677E01-BF83-4B3B-AAAE-0CFCCDA2F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C0EC3-5448-46DA-88D9-FDF02272798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32231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CFDAB0A-0EEB-4E7A-91E7-D48E6C467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E02A013-1592-4E15-8E5E-6B3AA5384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163C40E-D3E6-4898-A033-F5B73591C4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50787B-0FE6-4DFD-8C6A-5C5845EC8C92}" type="datetimeFigureOut">
              <a:rPr lang="zh-CN" altLang="en-US" smtClean="0"/>
              <a:t>2026/4/9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15BEF8B-59FB-42CD-918F-DDF5B489E7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89A406-24C3-4B6A-BFE0-1A1B20FE2F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7C0EC3-5448-46DA-88D9-FDF02272798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472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140233-C772-45C0-8EAF-60C6F0E0A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0744"/>
            <a:ext cx="10515600" cy="1325563"/>
          </a:xfrm>
        </p:spPr>
        <p:txBody>
          <a:bodyPr/>
          <a:lstStyle/>
          <a:p>
            <a:r>
              <a:rPr lang="zh-CN" altLang="en-US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总体架构设计</a:t>
            </a: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8DEA291B-CA7D-49CF-8E8E-851FA279BF6F}"/>
              </a:ext>
            </a:extLst>
          </p:cNvPr>
          <p:cNvGrpSpPr/>
          <p:nvPr/>
        </p:nvGrpSpPr>
        <p:grpSpPr>
          <a:xfrm>
            <a:off x="285008" y="1575241"/>
            <a:ext cx="11069942" cy="5039115"/>
            <a:chOff x="285008" y="1575241"/>
            <a:chExt cx="11069942" cy="5039115"/>
          </a:xfrm>
        </p:grpSpPr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A9448EDE-58A4-4225-952C-B5B52BA4D059}"/>
                </a:ext>
              </a:extLst>
            </p:cNvPr>
            <p:cNvGrpSpPr/>
            <p:nvPr/>
          </p:nvGrpSpPr>
          <p:grpSpPr>
            <a:xfrm>
              <a:off x="285008" y="1575241"/>
              <a:ext cx="9406246" cy="535407"/>
              <a:chOff x="1194460" y="1140031"/>
              <a:chExt cx="9909958" cy="760020"/>
            </a:xfrm>
            <a:solidFill>
              <a:srgbClr val="CCFBF1"/>
            </a:solidFill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272CE952-69AC-413F-ACAD-269F86977422}"/>
                  </a:ext>
                </a:extLst>
              </p:cNvPr>
              <p:cNvSpPr/>
              <p:nvPr/>
            </p:nvSpPr>
            <p:spPr>
              <a:xfrm>
                <a:off x="1194460" y="1140031"/>
                <a:ext cx="9909958" cy="760020"/>
              </a:xfrm>
              <a:prstGeom prst="roundRect">
                <a:avLst>
                  <a:gd name="adj" fmla="val 7400"/>
                </a:avLst>
              </a:prstGeom>
              <a:grpFill/>
              <a:ln w="19050">
                <a:solidFill>
                  <a:srgbClr val="99F6E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20392358-17D3-433F-B7A9-CF2F682EA319}"/>
                  </a:ext>
                </a:extLst>
              </p:cNvPr>
              <p:cNvSpPr txBox="1"/>
              <p:nvPr/>
            </p:nvSpPr>
            <p:spPr>
              <a:xfrm>
                <a:off x="5077077" y="1157511"/>
                <a:ext cx="2412181" cy="725059"/>
              </a:xfrm>
              <a:prstGeom prst="roundRect">
                <a:avLst/>
              </a:prstGeom>
              <a:noFill/>
              <a:ln w="1905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400" b="1" dirty="0">
                    <a:solidFill>
                      <a:srgbClr val="1E293B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Embedder API</a:t>
                </a:r>
                <a:endParaRPr lang="zh-CN" altLang="en-US" sz="2400" b="1" dirty="0">
                  <a:solidFill>
                    <a:srgbClr val="1E293B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EE16A3DD-DBA1-44D2-9C1D-B51B7277DA36}"/>
                </a:ext>
              </a:extLst>
            </p:cNvPr>
            <p:cNvSpPr/>
            <p:nvPr/>
          </p:nvSpPr>
          <p:spPr>
            <a:xfrm>
              <a:off x="285008" y="2313974"/>
              <a:ext cx="9406246" cy="1725892"/>
            </a:xfrm>
            <a:prstGeom prst="roundRect">
              <a:avLst>
                <a:gd name="adj" fmla="val 1471"/>
              </a:avLst>
            </a:prstGeom>
            <a:solidFill>
              <a:srgbClr val="F3E8FF"/>
            </a:solidFill>
            <a:ln w="19050">
              <a:solidFill>
                <a:srgbClr val="E9D5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52CF89C3-3D47-42C5-990A-617862C16F0A}"/>
                </a:ext>
              </a:extLst>
            </p:cNvPr>
            <p:cNvGrpSpPr/>
            <p:nvPr/>
          </p:nvGrpSpPr>
          <p:grpSpPr>
            <a:xfrm>
              <a:off x="396949" y="2408382"/>
              <a:ext cx="9172352" cy="610552"/>
              <a:chOff x="1412174" y="2236519"/>
              <a:chExt cx="9269681" cy="760020"/>
            </a:xfrm>
            <a:solidFill>
              <a:srgbClr val="FFFFFF"/>
            </a:solidFill>
          </p:grpSpPr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6D85C832-C632-4CDC-BDE1-F99907FEFD41}"/>
                  </a:ext>
                </a:extLst>
              </p:cNvPr>
              <p:cNvSpPr/>
              <p:nvPr/>
            </p:nvSpPr>
            <p:spPr>
              <a:xfrm>
                <a:off x="1412174" y="2236519"/>
                <a:ext cx="9269681" cy="760020"/>
              </a:xfrm>
              <a:prstGeom prst="roundRect">
                <a:avLst/>
              </a:prstGeom>
              <a:grpFill/>
              <a:ln w="9525">
                <a:solidFill>
                  <a:srgbClr val="E2E8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98F7113E-F2F0-456B-AC3A-D5FF2D234808}"/>
                  </a:ext>
                </a:extLst>
              </p:cNvPr>
              <p:cNvSpPr txBox="1"/>
              <p:nvPr/>
            </p:nvSpPr>
            <p:spPr>
              <a:xfrm>
                <a:off x="5357257" y="2300063"/>
                <a:ext cx="1891803" cy="635821"/>
              </a:xfrm>
              <a:prstGeom prst="roundRect">
                <a:avLst/>
              </a:prstGeom>
              <a:noFill/>
              <a:ln w="9525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400" b="1" dirty="0">
                    <a:solidFill>
                      <a:srgbClr val="1E293B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Interpreter</a:t>
                </a:r>
                <a:endParaRPr lang="zh-CN" altLang="en-US" sz="2400" b="1" dirty="0">
                  <a:solidFill>
                    <a:srgbClr val="1E293B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AFD54392-2FF1-4895-8620-4A00B9C07854}"/>
                </a:ext>
              </a:extLst>
            </p:cNvPr>
            <p:cNvGrpSpPr/>
            <p:nvPr/>
          </p:nvGrpSpPr>
          <p:grpSpPr>
            <a:xfrm>
              <a:off x="396950" y="3173901"/>
              <a:ext cx="9172350" cy="721389"/>
              <a:chOff x="1412176" y="3170710"/>
              <a:chExt cx="9399125" cy="760020"/>
            </a:xfrm>
          </p:grpSpPr>
          <p:grpSp>
            <p:nvGrpSpPr>
              <p:cNvPr id="27" name="组合 26">
                <a:extLst>
                  <a:ext uri="{FF2B5EF4-FFF2-40B4-BE49-F238E27FC236}">
                    <a16:creationId xmlns:a16="http://schemas.microsoft.com/office/drawing/2014/main" id="{59EBEDCE-7728-4F69-9541-1AA83A5E48EC}"/>
                  </a:ext>
                </a:extLst>
              </p:cNvPr>
              <p:cNvGrpSpPr/>
              <p:nvPr/>
            </p:nvGrpSpPr>
            <p:grpSpPr>
              <a:xfrm>
                <a:off x="1412176" y="3170710"/>
                <a:ext cx="2322615" cy="760020"/>
                <a:chOff x="1412176" y="3170710"/>
                <a:chExt cx="2322615" cy="760020"/>
              </a:xfrm>
            </p:grpSpPr>
            <p:sp>
              <p:nvSpPr>
                <p:cNvPr id="9" name="矩形: 圆角 8">
                  <a:extLst>
                    <a:ext uri="{FF2B5EF4-FFF2-40B4-BE49-F238E27FC236}">
                      <a16:creationId xmlns:a16="http://schemas.microsoft.com/office/drawing/2014/main" id="{7C2C909C-725D-4A3E-952F-6C105E4EE96F}"/>
                    </a:ext>
                  </a:extLst>
                </p:cNvPr>
                <p:cNvSpPr/>
                <p:nvPr/>
              </p:nvSpPr>
              <p:spPr>
                <a:xfrm>
                  <a:off x="1412176" y="3170710"/>
                  <a:ext cx="2322615" cy="760020"/>
                </a:xfrm>
                <a:prstGeom prst="roundRect">
                  <a:avLst/>
                </a:prstGeom>
                <a:solidFill>
                  <a:srgbClr val="FFFFFF"/>
                </a:solidFill>
                <a:ln w="9525">
                  <a:solidFill>
                    <a:srgbClr val="E2E8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585B956F-F4AC-47DB-B698-AE93796E8BA7}"/>
                    </a:ext>
                  </a:extLst>
                </p:cNvPr>
                <p:cNvSpPr txBox="1"/>
                <p:nvPr/>
              </p:nvSpPr>
              <p:spPr>
                <a:xfrm>
                  <a:off x="1933057" y="3343068"/>
                  <a:ext cx="1273727" cy="421536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000" b="1" dirty="0">
                      <a:solidFill>
                        <a:srgbClr val="1E293B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Runtime</a:t>
                  </a:r>
                  <a:endParaRPr lang="zh-CN" altLang="en-US" sz="2000" b="1" dirty="0">
                    <a:solidFill>
                      <a:srgbClr val="1E293B"/>
                    </a:solidFill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p:grpSp>
          <p:grpSp>
            <p:nvGrpSpPr>
              <p:cNvPr id="28" name="组合 27">
                <a:extLst>
                  <a:ext uri="{FF2B5EF4-FFF2-40B4-BE49-F238E27FC236}">
                    <a16:creationId xmlns:a16="http://schemas.microsoft.com/office/drawing/2014/main" id="{D716E13F-748C-4DCE-ABEC-E21D8A813C7F}"/>
                  </a:ext>
                </a:extLst>
              </p:cNvPr>
              <p:cNvGrpSpPr/>
              <p:nvPr/>
            </p:nvGrpSpPr>
            <p:grpSpPr>
              <a:xfrm>
                <a:off x="3952506" y="3170710"/>
                <a:ext cx="1967079" cy="760020"/>
                <a:chOff x="3952506" y="3170710"/>
                <a:chExt cx="1967079" cy="760020"/>
              </a:xfrm>
            </p:grpSpPr>
            <p:sp>
              <p:nvSpPr>
                <p:cNvPr id="12" name="矩形: 圆角 11">
                  <a:extLst>
                    <a:ext uri="{FF2B5EF4-FFF2-40B4-BE49-F238E27FC236}">
                      <a16:creationId xmlns:a16="http://schemas.microsoft.com/office/drawing/2014/main" id="{F8A8941E-FF02-4FEE-9D18-2B0C4C90708C}"/>
                    </a:ext>
                  </a:extLst>
                </p:cNvPr>
                <p:cNvSpPr/>
                <p:nvPr/>
              </p:nvSpPr>
              <p:spPr>
                <a:xfrm>
                  <a:off x="3952506" y="3170710"/>
                  <a:ext cx="1967079" cy="760020"/>
                </a:xfrm>
                <a:prstGeom prst="roundRect">
                  <a:avLst/>
                </a:prstGeom>
                <a:solidFill>
                  <a:srgbClr val="FFFFFF"/>
                </a:solidFill>
                <a:ln w="9525">
                  <a:solidFill>
                    <a:srgbClr val="E2E8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DD33B71C-4FD1-4C51-B9DB-0D227146A9FE}"/>
                    </a:ext>
                  </a:extLst>
                </p:cNvPr>
                <p:cNvSpPr txBox="1"/>
                <p:nvPr/>
              </p:nvSpPr>
              <p:spPr>
                <a:xfrm>
                  <a:off x="4421623" y="3346185"/>
                  <a:ext cx="1028844" cy="421536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000" b="1" dirty="0">
                      <a:solidFill>
                        <a:srgbClr val="1E293B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Builtin</a:t>
                  </a:r>
                  <a:endParaRPr lang="zh-CN" altLang="en-US" sz="2000" b="1" dirty="0">
                    <a:solidFill>
                      <a:srgbClr val="1E293B"/>
                    </a:solidFill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p:grpSp>
          <p:grpSp>
            <p:nvGrpSpPr>
              <p:cNvPr id="29" name="组合 28">
                <a:extLst>
                  <a:ext uri="{FF2B5EF4-FFF2-40B4-BE49-F238E27FC236}">
                    <a16:creationId xmlns:a16="http://schemas.microsoft.com/office/drawing/2014/main" id="{BB5413C8-F93F-4453-BE31-EB5E6885B88C}"/>
                  </a:ext>
                </a:extLst>
              </p:cNvPr>
              <p:cNvGrpSpPr/>
              <p:nvPr/>
            </p:nvGrpSpPr>
            <p:grpSpPr>
              <a:xfrm>
                <a:off x="6137300" y="3170710"/>
                <a:ext cx="2081950" cy="760020"/>
                <a:chOff x="6137300" y="3170710"/>
                <a:chExt cx="2081950" cy="760020"/>
              </a:xfrm>
            </p:grpSpPr>
            <p:sp>
              <p:nvSpPr>
                <p:cNvPr id="14" name="矩形: 圆角 13">
                  <a:extLst>
                    <a:ext uri="{FF2B5EF4-FFF2-40B4-BE49-F238E27FC236}">
                      <a16:creationId xmlns:a16="http://schemas.microsoft.com/office/drawing/2014/main" id="{7A76C7AD-75DD-48CD-A987-368B4ACE3FD3}"/>
                    </a:ext>
                  </a:extLst>
                </p:cNvPr>
                <p:cNvSpPr/>
                <p:nvPr/>
              </p:nvSpPr>
              <p:spPr>
                <a:xfrm>
                  <a:off x="6137300" y="3170710"/>
                  <a:ext cx="2081950" cy="760020"/>
                </a:xfrm>
                <a:prstGeom prst="roundRect">
                  <a:avLst/>
                </a:prstGeom>
                <a:solidFill>
                  <a:srgbClr val="FFFFFF"/>
                </a:solidFill>
                <a:ln w="9525">
                  <a:solidFill>
                    <a:srgbClr val="E2E8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235DF3FD-A2CE-43AC-854C-17853A2A2AC0}"/>
                    </a:ext>
                  </a:extLst>
                </p:cNvPr>
                <p:cNvSpPr txBox="1"/>
                <p:nvPr/>
              </p:nvSpPr>
              <p:spPr>
                <a:xfrm>
                  <a:off x="6585119" y="3337787"/>
                  <a:ext cx="1172396" cy="421536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000" b="1" dirty="0">
                      <a:solidFill>
                        <a:srgbClr val="1E293B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Module</a:t>
                  </a:r>
                  <a:endParaRPr lang="zh-CN" altLang="en-US" sz="2000" b="1" dirty="0">
                    <a:solidFill>
                      <a:srgbClr val="1E293B"/>
                    </a:solidFill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p:grpSp>
          <p:grpSp>
            <p:nvGrpSpPr>
              <p:cNvPr id="30" name="组合 29">
                <a:extLst>
                  <a:ext uri="{FF2B5EF4-FFF2-40B4-BE49-F238E27FC236}">
                    <a16:creationId xmlns:a16="http://schemas.microsoft.com/office/drawing/2014/main" id="{10E06072-2AA5-4494-AE1E-C617C963A071}"/>
                  </a:ext>
                </a:extLst>
              </p:cNvPr>
              <p:cNvGrpSpPr/>
              <p:nvPr/>
            </p:nvGrpSpPr>
            <p:grpSpPr>
              <a:xfrm>
                <a:off x="8436966" y="3170710"/>
                <a:ext cx="2374335" cy="753787"/>
                <a:chOff x="8436966" y="3170710"/>
                <a:chExt cx="2374335" cy="753787"/>
              </a:xfrm>
            </p:grpSpPr>
            <p:sp>
              <p:nvSpPr>
                <p:cNvPr id="16" name="矩形: 圆角 15">
                  <a:extLst>
                    <a:ext uri="{FF2B5EF4-FFF2-40B4-BE49-F238E27FC236}">
                      <a16:creationId xmlns:a16="http://schemas.microsoft.com/office/drawing/2014/main" id="{4F8C727C-425E-402D-B5EE-C7D007E05FAF}"/>
                    </a:ext>
                  </a:extLst>
                </p:cNvPr>
                <p:cNvSpPr/>
                <p:nvPr/>
              </p:nvSpPr>
              <p:spPr>
                <a:xfrm>
                  <a:off x="8436966" y="3170710"/>
                  <a:ext cx="2374335" cy="753787"/>
                </a:xfrm>
                <a:prstGeom prst="roundRect">
                  <a:avLst/>
                </a:prstGeom>
                <a:solidFill>
                  <a:srgbClr val="FFFFFF"/>
                </a:solidFill>
                <a:ln w="9525">
                  <a:solidFill>
                    <a:srgbClr val="E2E8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7" name="文本框 16">
                  <a:extLst>
                    <a:ext uri="{FF2B5EF4-FFF2-40B4-BE49-F238E27FC236}">
                      <a16:creationId xmlns:a16="http://schemas.microsoft.com/office/drawing/2014/main" id="{E6E17660-4886-4DC2-8BCD-ECE0BA940096}"/>
                    </a:ext>
                  </a:extLst>
                </p:cNvPr>
                <p:cNvSpPr txBox="1"/>
                <p:nvPr/>
              </p:nvSpPr>
              <p:spPr>
                <a:xfrm>
                  <a:off x="8525934" y="3346185"/>
                  <a:ext cx="2196400" cy="421536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000" b="1" dirty="0">
                      <a:solidFill>
                        <a:srgbClr val="1E293B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Compiler/Parser</a:t>
                  </a:r>
                  <a:endParaRPr lang="zh-CN" altLang="en-US" sz="2000" b="1" dirty="0">
                    <a:solidFill>
                      <a:srgbClr val="1E293B"/>
                    </a:solidFill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p:grpSp>
        </p:grpSp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0D3B13B7-B358-4D02-959B-10FA7965EC47}"/>
                </a:ext>
              </a:extLst>
            </p:cNvPr>
            <p:cNvGrpSpPr/>
            <p:nvPr/>
          </p:nvGrpSpPr>
          <p:grpSpPr>
            <a:xfrm>
              <a:off x="285008" y="4243192"/>
              <a:ext cx="9406246" cy="721389"/>
              <a:chOff x="1194460" y="4248976"/>
              <a:chExt cx="9909958" cy="760020"/>
            </a:xfrm>
            <a:solidFill>
              <a:srgbClr val="E0F2FE"/>
            </a:solidFill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6DC916D6-5B3F-422E-833D-542B1E6AF216}"/>
                  </a:ext>
                </a:extLst>
              </p:cNvPr>
              <p:cNvSpPr/>
              <p:nvPr/>
            </p:nvSpPr>
            <p:spPr>
              <a:xfrm>
                <a:off x="1194460" y="4248976"/>
                <a:ext cx="9909958" cy="760020"/>
              </a:xfrm>
              <a:prstGeom prst="roundRect">
                <a:avLst>
                  <a:gd name="adj" fmla="val 3893"/>
                </a:avLst>
              </a:prstGeom>
              <a:grpFill/>
              <a:ln w="19050">
                <a:solidFill>
                  <a:srgbClr val="BAE6F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E184C272-584E-4F89-B726-303C5434DF35}"/>
                  </a:ext>
                </a:extLst>
              </p:cNvPr>
              <p:cNvSpPr txBox="1"/>
              <p:nvPr/>
            </p:nvSpPr>
            <p:spPr>
              <a:xfrm>
                <a:off x="4168031" y="4359920"/>
                <a:ext cx="4486324" cy="538131"/>
              </a:xfrm>
              <a:prstGeom prst="roundRect">
                <a:avLst/>
              </a:prstGeom>
              <a:noFill/>
              <a:ln w="1905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400" b="1" dirty="0">
                    <a:solidFill>
                      <a:srgbClr val="1E293B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Python Object-Klass System</a:t>
                </a:r>
                <a:endParaRPr lang="zh-CN" altLang="en-US" sz="2400" b="1" dirty="0">
                  <a:solidFill>
                    <a:srgbClr val="1E293B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5" name="组合 24">
              <a:extLst>
                <a:ext uri="{FF2B5EF4-FFF2-40B4-BE49-F238E27FC236}">
                  <a16:creationId xmlns:a16="http://schemas.microsoft.com/office/drawing/2014/main" id="{0AAE9CF1-D918-4B32-9AE9-62D844202DB8}"/>
                </a:ext>
              </a:extLst>
            </p:cNvPr>
            <p:cNvGrpSpPr/>
            <p:nvPr/>
          </p:nvGrpSpPr>
          <p:grpSpPr>
            <a:xfrm>
              <a:off x="285008" y="5167907"/>
              <a:ext cx="9406246" cy="721389"/>
              <a:chOff x="1194460" y="5158173"/>
              <a:chExt cx="9909958" cy="760020"/>
            </a:xfrm>
            <a:solidFill>
              <a:srgbClr val="F1F5F9"/>
            </a:solidFill>
          </p:grpSpPr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F646D32-881A-4F10-92A5-B791AF067A96}"/>
                  </a:ext>
                </a:extLst>
              </p:cNvPr>
              <p:cNvSpPr/>
              <p:nvPr/>
            </p:nvSpPr>
            <p:spPr>
              <a:xfrm>
                <a:off x="1194460" y="5158173"/>
                <a:ext cx="9909958" cy="760020"/>
              </a:xfrm>
              <a:prstGeom prst="roundRect">
                <a:avLst>
                  <a:gd name="adj" fmla="val 3893"/>
                </a:avLst>
              </a:prstGeom>
              <a:grpFill/>
              <a:ln w="19050">
                <a:solidFill>
                  <a:srgbClr val="CBD5E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63D1017-59AB-404E-8337-6213706C223B}"/>
                  </a:ext>
                </a:extLst>
              </p:cNvPr>
              <p:cNvSpPr txBox="1"/>
              <p:nvPr/>
            </p:nvSpPr>
            <p:spPr>
              <a:xfrm>
                <a:off x="4273923" y="5269117"/>
                <a:ext cx="4018491" cy="538131"/>
              </a:xfrm>
              <a:prstGeom prst="roundRect">
                <a:avLst/>
              </a:prstGeom>
              <a:noFill/>
              <a:ln w="1905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400" b="1" dirty="0">
                    <a:solidFill>
                      <a:srgbClr val="1E293B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Heap/GC/Handle System</a:t>
                </a:r>
                <a:endParaRPr lang="zh-CN" altLang="en-US" sz="2400" b="1" dirty="0">
                  <a:solidFill>
                    <a:srgbClr val="1E293B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4" name="组合 23">
              <a:extLst>
                <a:ext uri="{FF2B5EF4-FFF2-40B4-BE49-F238E27FC236}">
                  <a16:creationId xmlns:a16="http://schemas.microsoft.com/office/drawing/2014/main" id="{1D9CA87D-1BDD-4D72-8C64-EACC934490BE}"/>
                </a:ext>
              </a:extLst>
            </p:cNvPr>
            <p:cNvGrpSpPr/>
            <p:nvPr/>
          </p:nvGrpSpPr>
          <p:grpSpPr>
            <a:xfrm>
              <a:off x="285008" y="6092623"/>
              <a:ext cx="9406246" cy="521733"/>
              <a:chOff x="1194460" y="6067370"/>
              <a:chExt cx="9909958" cy="549672"/>
            </a:xfrm>
            <a:solidFill>
              <a:srgbClr val="F1F5F9"/>
            </a:solidFill>
          </p:grpSpPr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7E7C7F46-2576-46D1-9266-FA220593F8A8}"/>
                  </a:ext>
                </a:extLst>
              </p:cNvPr>
              <p:cNvSpPr/>
              <p:nvPr/>
            </p:nvSpPr>
            <p:spPr>
              <a:xfrm>
                <a:off x="1194460" y="6067370"/>
                <a:ext cx="9909958" cy="549672"/>
              </a:xfrm>
              <a:prstGeom prst="roundRect">
                <a:avLst>
                  <a:gd name="adj" fmla="val 4439"/>
                </a:avLst>
              </a:prstGeom>
              <a:grpFill/>
              <a:ln w="19050">
                <a:solidFill>
                  <a:srgbClr val="CBD5E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E649674E-F884-44D0-92A7-499B9EB45D48}"/>
                  </a:ext>
                </a:extLst>
              </p:cNvPr>
              <p:cNvSpPr txBox="1"/>
              <p:nvPr/>
            </p:nvSpPr>
            <p:spPr>
              <a:xfrm>
                <a:off x="4738414" y="6067370"/>
                <a:ext cx="3345559" cy="538130"/>
              </a:xfrm>
              <a:prstGeom prst="roundRect">
                <a:avLst/>
              </a:prstGeom>
              <a:noFill/>
              <a:ln w="1905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400" b="1" dirty="0">
                    <a:solidFill>
                      <a:srgbClr val="1E293B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Utils/Cross-platform</a:t>
                </a:r>
                <a:endParaRPr lang="zh-CN" altLang="en-US" sz="2400" b="1" dirty="0">
                  <a:solidFill>
                    <a:srgbClr val="1E293B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35" name="右大括号 34">
              <a:extLst>
                <a:ext uri="{FF2B5EF4-FFF2-40B4-BE49-F238E27FC236}">
                  <a16:creationId xmlns:a16="http://schemas.microsoft.com/office/drawing/2014/main" id="{E8A77E34-185F-4F2F-A183-BD0FE9A7ECB9}"/>
                </a:ext>
              </a:extLst>
            </p:cNvPr>
            <p:cNvSpPr/>
            <p:nvPr/>
          </p:nvSpPr>
          <p:spPr>
            <a:xfrm>
              <a:off x="9846641" y="2313100"/>
              <a:ext cx="185898" cy="1725892"/>
            </a:xfrm>
            <a:prstGeom prst="rightBrace">
              <a:avLst>
                <a:gd name="adj1" fmla="val 8333"/>
                <a:gd name="adj2" fmla="val 49347"/>
              </a:avLst>
            </a:prstGeom>
            <a:noFill/>
            <a:ln w="28575">
              <a:solidFill>
                <a:srgbClr val="16A34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36" name="右大括号 35">
              <a:extLst>
                <a:ext uri="{FF2B5EF4-FFF2-40B4-BE49-F238E27FC236}">
                  <a16:creationId xmlns:a16="http://schemas.microsoft.com/office/drawing/2014/main" id="{78767D49-2C01-42BA-91AE-958883BD930D}"/>
                </a:ext>
              </a:extLst>
            </p:cNvPr>
            <p:cNvSpPr/>
            <p:nvPr/>
          </p:nvSpPr>
          <p:spPr>
            <a:xfrm>
              <a:off x="10682015" y="2313101"/>
              <a:ext cx="185899" cy="4301255"/>
            </a:xfrm>
            <a:prstGeom prst="rightBrace">
              <a:avLst>
                <a:gd name="adj1" fmla="val 8333"/>
                <a:gd name="adj2" fmla="val 49347"/>
              </a:avLst>
            </a:prstGeom>
            <a:ln w="28575">
              <a:solidFill>
                <a:srgbClr val="DC262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DC2626"/>
                </a:solidFill>
              </a:endParaRP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982B56A3-7C87-41A6-8FEF-81DCC436ECB1}"/>
                </a:ext>
              </a:extLst>
            </p:cNvPr>
            <p:cNvSpPr txBox="1"/>
            <p:nvPr/>
          </p:nvSpPr>
          <p:spPr>
            <a:xfrm>
              <a:off x="10924063" y="3943094"/>
              <a:ext cx="430887" cy="104126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b="1" dirty="0">
                  <a:solidFill>
                    <a:srgbClr val="DC262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VM Core</a:t>
              </a:r>
              <a:endParaRPr lang="zh-CN" altLang="en-US" sz="1600" b="1" dirty="0">
                <a:solidFill>
                  <a:srgbClr val="DC262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EBAB20B3-8B79-4614-843E-431B12AD6B46}"/>
                </a:ext>
              </a:extLst>
            </p:cNvPr>
            <p:cNvSpPr txBox="1"/>
            <p:nvPr/>
          </p:nvSpPr>
          <p:spPr>
            <a:xfrm rot="5400000">
              <a:off x="9451935" y="3004624"/>
              <a:ext cx="1800178" cy="338554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r>
                <a:rPr lang="en-US" altLang="zh-CN" sz="1600" b="1" dirty="0">
                  <a:solidFill>
                    <a:srgbClr val="16A34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Segoe UI" panose="020B0502040204020203" pitchFamily="34" charset="0"/>
                </a:rPr>
                <a:t>Execution Layer </a:t>
              </a:r>
              <a:endParaRPr lang="zh-CN" altLang="en-US" sz="1600" b="1" dirty="0">
                <a:solidFill>
                  <a:srgbClr val="16A34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egoe UI" panose="020B0502040204020203" pitchFamily="34" charset="0"/>
              </a:endParaRPr>
            </a:p>
          </p:txBody>
        </p:sp>
      </p:grpSp>
      <p:sp>
        <p:nvSpPr>
          <p:cNvPr id="39" name="文本框 38">
            <a:extLst>
              <a:ext uri="{FF2B5EF4-FFF2-40B4-BE49-F238E27FC236}">
                <a16:creationId xmlns:a16="http://schemas.microsoft.com/office/drawing/2014/main" id="{0EDCBEE5-96F9-49BB-9A96-D18F5431F2A7}"/>
              </a:ext>
            </a:extLst>
          </p:cNvPr>
          <p:cNvSpPr txBox="1"/>
          <p:nvPr/>
        </p:nvSpPr>
        <p:spPr>
          <a:xfrm>
            <a:off x="198485" y="891901"/>
            <a:ext cx="8143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参考现代工业级</a:t>
            </a:r>
            <a:r>
              <a:rPr lang="en-US" altLang="zh-CN" dirty="0"/>
              <a:t>VM</a:t>
            </a:r>
            <a:r>
              <a:rPr lang="zh-CN" altLang="en-US" dirty="0"/>
              <a:t>的分层架构思路进行设计，具有良好的可维护性、可拓展性</a:t>
            </a:r>
          </a:p>
        </p:txBody>
      </p:sp>
    </p:spTree>
    <p:extLst>
      <p:ext uri="{BB962C8B-B14F-4D97-AF65-F5344CB8AC3E}">
        <p14:creationId xmlns:p14="http://schemas.microsoft.com/office/powerpoint/2010/main" val="1306826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140233-C772-45C0-8EAF-60C6F0E0A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0744"/>
            <a:ext cx="10515600" cy="1325563"/>
          </a:xfrm>
        </p:spPr>
        <p:txBody>
          <a:bodyPr/>
          <a:lstStyle/>
          <a:p>
            <a:r>
              <a:rPr lang="zh-CN" altLang="en-US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总体架构设计</a:t>
            </a: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8DEA291B-CA7D-49CF-8E8E-851FA279BF6F}"/>
              </a:ext>
            </a:extLst>
          </p:cNvPr>
          <p:cNvGrpSpPr/>
          <p:nvPr/>
        </p:nvGrpSpPr>
        <p:grpSpPr>
          <a:xfrm>
            <a:off x="285008" y="1575241"/>
            <a:ext cx="11069942" cy="5039115"/>
            <a:chOff x="285008" y="1575241"/>
            <a:chExt cx="11069942" cy="5039115"/>
          </a:xfrm>
        </p:grpSpPr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A9448EDE-58A4-4225-952C-B5B52BA4D059}"/>
                </a:ext>
              </a:extLst>
            </p:cNvPr>
            <p:cNvGrpSpPr/>
            <p:nvPr/>
          </p:nvGrpSpPr>
          <p:grpSpPr>
            <a:xfrm>
              <a:off x="285008" y="1575241"/>
              <a:ext cx="9406246" cy="535407"/>
              <a:chOff x="1194460" y="1140031"/>
              <a:chExt cx="9909958" cy="760020"/>
            </a:xfrm>
            <a:solidFill>
              <a:srgbClr val="CCFBF1"/>
            </a:solidFill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272CE952-69AC-413F-ACAD-269F86977422}"/>
                  </a:ext>
                </a:extLst>
              </p:cNvPr>
              <p:cNvSpPr/>
              <p:nvPr/>
            </p:nvSpPr>
            <p:spPr>
              <a:xfrm>
                <a:off x="1194460" y="1140031"/>
                <a:ext cx="9909958" cy="760020"/>
              </a:xfrm>
              <a:prstGeom prst="roundRect">
                <a:avLst>
                  <a:gd name="adj" fmla="val 7400"/>
                </a:avLst>
              </a:prstGeom>
              <a:solidFill>
                <a:srgbClr val="042F2E"/>
              </a:solidFill>
              <a:ln w="19050">
                <a:solidFill>
                  <a:srgbClr val="0D948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F8FAFC"/>
                  </a:solidFill>
                </a:endParaRPr>
              </a:p>
            </p:txBody>
          </p:sp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20392358-17D3-433F-B7A9-CF2F682EA319}"/>
                  </a:ext>
                </a:extLst>
              </p:cNvPr>
              <p:cNvSpPr txBox="1"/>
              <p:nvPr/>
            </p:nvSpPr>
            <p:spPr>
              <a:xfrm>
                <a:off x="5077077" y="1157511"/>
                <a:ext cx="2412181" cy="725059"/>
              </a:xfrm>
              <a:prstGeom prst="roundRect">
                <a:avLst/>
              </a:prstGeom>
              <a:noFill/>
              <a:ln w="1905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400" b="1" dirty="0">
                    <a:solidFill>
                      <a:srgbClr val="F8FAFC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Embedder API</a:t>
                </a:r>
                <a:endParaRPr lang="zh-CN" altLang="en-US" sz="2400" b="1" dirty="0">
                  <a:solidFill>
                    <a:srgbClr val="F8FAFC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EE16A3DD-DBA1-44D2-9C1D-B51B7277DA36}"/>
                </a:ext>
              </a:extLst>
            </p:cNvPr>
            <p:cNvSpPr/>
            <p:nvPr/>
          </p:nvSpPr>
          <p:spPr>
            <a:xfrm>
              <a:off x="285008" y="2313974"/>
              <a:ext cx="9406246" cy="1725892"/>
            </a:xfrm>
            <a:prstGeom prst="roundRect">
              <a:avLst>
                <a:gd name="adj" fmla="val 1471"/>
              </a:avLst>
            </a:prstGeom>
            <a:solidFill>
              <a:srgbClr val="2E1065">
                <a:alpha val="98824"/>
              </a:srgbClr>
            </a:solidFill>
            <a:ln w="19050">
              <a:solidFill>
                <a:srgbClr val="7E22C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F8FAFC"/>
                </a:solidFill>
              </a:endParaRPr>
            </a:p>
          </p:txBody>
        </p:sp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52CF89C3-3D47-42C5-990A-617862C16F0A}"/>
                </a:ext>
              </a:extLst>
            </p:cNvPr>
            <p:cNvGrpSpPr/>
            <p:nvPr/>
          </p:nvGrpSpPr>
          <p:grpSpPr>
            <a:xfrm>
              <a:off x="396949" y="2408382"/>
              <a:ext cx="9172352" cy="610552"/>
              <a:chOff x="1412174" y="2236519"/>
              <a:chExt cx="9269681" cy="760020"/>
            </a:xfrm>
            <a:solidFill>
              <a:srgbClr val="FFFFFF"/>
            </a:solidFill>
          </p:grpSpPr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6D85C832-C632-4CDC-BDE1-F99907FEFD41}"/>
                  </a:ext>
                </a:extLst>
              </p:cNvPr>
              <p:cNvSpPr/>
              <p:nvPr/>
            </p:nvSpPr>
            <p:spPr>
              <a:xfrm>
                <a:off x="1412174" y="2236519"/>
                <a:ext cx="9269681" cy="760020"/>
              </a:xfrm>
              <a:prstGeom prst="roundRect">
                <a:avLst/>
              </a:prstGeom>
              <a:solidFill>
                <a:srgbClr val="1E1B4B"/>
              </a:solidFill>
              <a:ln w="9525">
                <a:solidFill>
                  <a:srgbClr val="4C1D9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F8FAFC"/>
                  </a:solidFill>
                </a:endParaRPr>
              </a:p>
            </p:txBody>
          </p:sp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98F7113E-F2F0-456B-AC3A-D5FF2D234808}"/>
                  </a:ext>
                </a:extLst>
              </p:cNvPr>
              <p:cNvSpPr txBox="1"/>
              <p:nvPr/>
            </p:nvSpPr>
            <p:spPr>
              <a:xfrm>
                <a:off x="5357257" y="2300063"/>
                <a:ext cx="1891803" cy="635821"/>
              </a:xfrm>
              <a:prstGeom prst="roundRect">
                <a:avLst/>
              </a:prstGeom>
              <a:noFill/>
              <a:ln w="9525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400" b="1" dirty="0">
                    <a:solidFill>
                      <a:srgbClr val="F8FAFC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Interpreter</a:t>
                </a:r>
                <a:endParaRPr lang="zh-CN" altLang="en-US" sz="2400" b="1" dirty="0">
                  <a:solidFill>
                    <a:srgbClr val="F8FAFC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AFD54392-2FF1-4895-8620-4A00B9C07854}"/>
                </a:ext>
              </a:extLst>
            </p:cNvPr>
            <p:cNvGrpSpPr/>
            <p:nvPr/>
          </p:nvGrpSpPr>
          <p:grpSpPr>
            <a:xfrm>
              <a:off x="396950" y="3173901"/>
              <a:ext cx="9172350" cy="721389"/>
              <a:chOff x="1412176" y="3170710"/>
              <a:chExt cx="9399125" cy="760020"/>
            </a:xfrm>
          </p:grpSpPr>
          <p:grpSp>
            <p:nvGrpSpPr>
              <p:cNvPr id="27" name="组合 26">
                <a:extLst>
                  <a:ext uri="{FF2B5EF4-FFF2-40B4-BE49-F238E27FC236}">
                    <a16:creationId xmlns:a16="http://schemas.microsoft.com/office/drawing/2014/main" id="{59EBEDCE-7728-4F69-9541-1AA83A5E48EC}"/>
                  </a:ext>
                </a:extLst>
              </p:cNvPr>
              <p:cNvGrpSpPr/>
              <p:nvPr/>
            </p:nvGrpSpPr>
            <p:grpSpPr>
              <a:xfrm>
                <a:off x="1412176" y="3170710"/>
                <a:ext cx="2322615" cy="760020"/>
                <a:chOff x="1412176" y="3170710"/>
                <a:chExt cx="2322615" cy="760020"/>
              </a:xfrm>
            </p:grpSpPr>
            <p:sp>
              <p:nvSpPr>
                <p:cNvPr id="9" name="矩形: 圆角 8">
                  <a:extLst>
                    <a:ext uri="{FF2B5EF4-FFF2-40B4-BE49-F238E27FC236}">
                      <a16:creationId xmlns:a16="http://schemas.microsoft.com/office/drawing/2014/main" id="{7C2C909C-725D-4A3E-952F-6C105E4EE96F}"/>
                    </a:ext>
                  </a:extLst>
                </p:cNvPr>
                <p:cNvSpPr/>
                <p:nvPr/>
              </p:nvSpPr>
              <p:spPr>
                <a:xfrm>
                  <a:off x="1412176" y="3170710"/>
                  <a:ext cx="2322615" cy="760020"/>
                </a:xfrm>
                <a:prstGeom prst="roundRect">
                  <a:avLst/>
                </a:prstGeom>
                <a:solidFill>
                  <a:srgbClr val="1E1B4B"/>
                </a:solidFill>
                <a:ln w="9525">
                  <a:solidFill>
                    <a:srgbClr val="4C1D95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rgbClr val="F8FAFC"/>
                    </a:solidFill>
                  </a:endParaRPr>
                </a:p>
              </p:txBody>
            </p:sp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585B956F-F4AC-47DB-B698-AE93796E8BA7}"/>
                    </a:ext>
                  </a:extLst>
                </p:cNvPr>
                <p:cNvSpPr txBox="1"/>
                <p:nvPr/>
              </p:nvSpPr>
              <p:spPr>
                <a:xfrm>
                  <a:off x="1933057" y="3343068"/>
                  <a:ext cx="1273727" cy="421536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000" b="1" dirty="0">
                      <a:solidFill>
                        <a:srgbClr val="F8FAFC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Runtime</a:t>
                  </a:r>
                  <a:endParaRPr lang="zh-CN" altLang="en-US" sz="2000" b="1" dirty="0">
                    <a:solidFill>
                      <a:srgbClr val="F8FAFC"/>
                    </a:solidFill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p:grpSp>
          <p:grpSp>
            <p:nvGrpSpPr>
              <p:cNvPr id="28" name="组合 27">
                <a:extLst>
                  <a:ext uri="{FF2B5EF4-FFF2-40B4-BE49-F238E27FC236}">
                    <a16:creationId xmlns:a16="http://schemas.microsoft.com/office/drawing/2014/main" id="{D716E13F-748C-4DCE-ABEC-E21D8A813C7F}"/>
                  </a:ext>
                </a:extLst>
              </p:cNvPr>
              <p:cNvGrpSpPr/>
              <p:nvPr/>
            </p:nvGrpSpPr>
            <p:grpSpPr>
              <a:xfrm>
                <a:off x="3952506" y="3170710"/>
                <a:ext cx="1967079" cy="760020"/>
                <a:chOff x="3952506" y="3170710"/>
                <a:chExt cx="1967079" cy="760020"/>
              </a:xfrm>
            </p:grpSpPr>
            <p:sp>
              <p:nvSpPr>
                <p:cNvPr id="12" name="矩形: 圆角 11">
                  <a:extLst>
                    <a:ext uri="{FF2B5EF4-FFF2-40B4-BE49-F238E27FC236}">
                      <a16:creationId xmlns:a16="http://schemas.microsoft.com/office/drawing/2014/main" id="{F8A8941E-FF02-4FEE-9D18-2B0C4C90708C}"/>
                    </a:ext>
                  </a:extLst>
                </p:cNvPr>
                <p:cNvSpPr/>
                <p:nvPr/>
              </p:nvSpPr>
              <p:spPr>
                <a:xfrm>
                  <a:off x="3952506" y="3170710"/>
                  <a:ext cx="1967079" cy="760020"/>
                </a:xfrm>
                <a:prstGeom prst="roundRect">
                  <a:avLst/>
                </a:prstGeom>
                <a:solidFill>
                  <a:srgbClr val="1E1B4B"/>
                </a:solidFill>
                <a:ln w="9525">
                  <a:solidFill>
                    <a:srgbClr val="4C1D95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F8FAFC"/>
                    </a:solidFill>
                  </a:endParaRPr>
                </a:p>
              </p:txBody>
            </p:sp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DD33B71C-4FD1-4C51-B9DB-0D227146A9FE}"/>
                    </a:ext>
                  </a:extLst>
                </p:cNvPr>
                <p:cNvSpPr txBox="1"/>
                <p:nvPr/>
              </p:nvSpPr>
              <p:spPr>
                <a:xfrm>
                  <a:off x="4421623" y="3346185"/>
                  <a:ext cx="1028844" cy="421536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000" b="1" dirty="0">
                      <a:solidFill>
                        <a:srgbClr val="F8FAFC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Builtin</a:t>
                  </a:r>
                  <a:endParaRPr lang="zh-CN" altLang="en-US" sz="2000" b="1" dirty="0">
                    <a:solidFill>
                      <a:srgbClr val="F8FAFC"/>
                    </a:solidFill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p:grpSp>
          <p:grpSp>
            <p:nvGrpSpPr>
              <p:cNvPr id="29" name="组合 28">
                <a:extLst>
                  <a:ext uri="{FF2B5EF4-FFF2-40B4-BE49-F238E27FC236}">
                    <a16:creationId xmlns:a16="http://schemas.microsoft.com/office/drawing/2014/main" id="{BB5413C8-F93F-4453-BE31-EB5E6885B88C}"/>
                  </a:ext>
                </a:extLst>
              </p:cNvPr>
              <p:cNvGrpSpPr/>
              <p:nvPr/>
            </p:nvGrpSpPr>
            <p:grpSpPr>
              <a:xfrm>
                <a:off x="6137300" y="3170710"/>
                <a:ext cx="2081950" cy="760020"/>
                <a:chOff x="6137300" y="3170710"/>
                <a:chExt cx="2081950" cy="760020"/>
              </a:xfrm>
            </p:grpSpPr>
            <p:sp>
              <p:nvSpPr>
                <p:cNvPr id="14" name="矩形: 圆角 13">
                  <a:extLst>
                    <a:ext uri="{FF2B5EF4-FFF2-40B4-BE49-F238E27FC236}">
                      <a16:creationId xmlns:a16="http://schemas.microsoft.com/office/drawing/2014/main" id="{7A76C7AD-75DD-48CD-A987-368B4ACE3FD3}"/>
                    </a:ext>
                  </a:extLst>
                </p:cNvPr>
                <p:cNvSpPr/>
                <p:nvPr/>
              </p:nvSpPr>
              <p:spPr>
                <a:xfrm>
                  <a:off x="6137300" y="3170710"/>
                  <a:ext cx="2081950" cy="760020"/>
                </a:xfrm>
                <a:prstGeom prst="roundRect">
                  <a:avLst/>
                </a:prstGeom>
                <a:solidFill>
                  <a:srgbClr val="1E1B4B"/>
                </a:solidFill>
                <a:ln w="9525">
                  <a:solidFill>
                    <a:srgbClr val="4C1D95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rgbClr val="F8FAFC"/>
                    </a:solidFill>
                  </a:endParaRPr>
                </a:p>
              </p:txBody>
            </p:sp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235DF3FD-A2CE-43AC-854C-17853A2A2AC0}"/>
                    </a:ext>
                  </a:extLst>
                </p:cNvPr>
                <p:cNvSpPr txBox="1"/>
                <p:nvPr/>
              </p:nvSpPr>
              <p:spPr>
                <a:xfrm>
                  <a:off x="6585119" y="3337787"/>
                  <a:ext cx="1172396" cy="421536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000" b="1" dirty="0">
                      <a:solidFill>
                        <a:srgbClr val="F8FAFC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Module</a:t>
                  </a:r>
                  <a:endParaRPr lang="zh-CN" altLang="en-US" sz="2000" b="1" dirty="0">
                    <a:solidFill>
                      <a:srgbClr val="F8FAFC"/>
                    </a:solidFill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p:grpSp>
          <p:grpSp>
            <p:nvGrpSpPr>
              <p:cNvPr id="30" name="组合 29">
                <a:extLst>
                  <a:ext uri="{FF2B5EF4-FFF2-40B4-BE49-F238E27FC236}">
                    <a16:creationId xmlns:a16="http://schemas.microsoft.com/office/drawing/2014/main" id="{10E06072-2AA5-4494-AE1E-C617C963A071}"/>
                  </a:ext>
                </a:extLst>
              </p:cNvPr>
              <p:cNvGrpSpPr/>
              <p:nvPr/>
            </p:nvGrpSpPr>
            <p:grpSpPr>
              <a:xfrm>
                <a:off x="8436966" y="3170710"/>
                <a:ext cx="2374335" cy="753787"/>
                <a:chOff x="8436966" y="3170710"/>
                <a:chExt cx="2374335" cy="753787"/>
              </a:xfrm>
            </p:grpSpPr>
            <p:sp>
              <p:nvSpPr>
                <p:cNvPr id="16" name="矩形: 圆角 15">
                  <a:extLst>
                    <a:ext uri="{FF2B5EF4-FFF2-40B4-BE49-F238E27FC236}">
                      <a16:creationId xmlns:a16="http://schemas.microsoft.com/office/drawing/2014/main" id="{4F8C727C-425E-402D-B5EE-C7D007E05FAF}"/>
                    </a:ext>
                  </a:extLst>
                </p:cNvPr>
                <p:cNvSpPr/>
                <p:nvPr/>
              </p:nvSpPr>
              <p:spPr>
                <a:xfrm>
                  <a:off x="8436966" y="3170710"/>
                  <a:ext cx="2374335" cy="753787"/>
                </a:xfrm>
                <a:prstGeom prst="roundRect">
                  <a:avLst/>
                </a:prstGeom>
                <a:solidFill>
                  <a:srgbClr val="1E1B4B"/>
                </a:solidFill>
                <a:ln w="9525">
                  <a:solidFill>
                    <a:srgbClr val="4C1D95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F8FAFC"/>
                    </a:solidFill>
                  </a:endParaRPr>
                </a:p>
              </p:txBody>
            </p:sp>
            <p:sp>
              <p:nvSpPr>
                <p:cNvPr id="17" name="文本框 16">
                  <a:extLst>
                    <a:ext uri="{FF2B5EF4-FFF2-40B4-BE49-F238E27FC236}">
                      <a16:creationId xmlns:a16="http://schemas.microsoft.com/office/drawing/2014/main" id="{E6E17660-4886-4DC2-8BCD-ECE0BA940096}"/>
                    </a:ext>
                  </a:extLst>
                </p:cNvPr>
                <p:cNvSpPr txBox="1"/>
                <p:nvPr/>
              </p:nvSpPr>
              <p:spPr>
                <a:xfrm>
                  <a:off x="8525934" y="3346185"/>
                  <a:ext cx="2196400" cy="421536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000" b="1" dirty="0">
                      <a:solidFill>
                        <a:srgbClr val="F8FAFC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Compiler/Parser</a:t>
                  </a:r>
                  <a:endParaRPr lang="zh-CN" altLang="en-US" sz="2000" b="1" dirty="0">
                    <a:solidFill>
                      <a:srgbClr val="F8FAFC"/>
                    </a:solidFill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p:grpSp>
        </p:grpSp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0D3B13B7-B358-4D02-959B-10FA7965EC47}"/>
                </a:ext>
              </a:extLst>
            </p:cNvPr>
            <p:cNvGrpSpPr/>
            <p:nvPr/>
          </p:nvGrpSpPr>
          <p:grpSpPr>
            <a:xfrm>
              <a:off x="285008" y="4243192"/>
              <a:ext cx="9406246" cy="721389"/>
              <a:chOff x="1194460" y="4248976"/>
              <a:chExt cx="9909958" cy="760020"/>
            </a:xfrm>
            <a:solidFill>
              <a:srgbClr val="E0F2FE"/>
            </a:solidFill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6DC916D6-5B3F-422E-833D-542B1E6AF216}"/>
                  </a:ext>
                </a:extLst>
              </p:cNvPr>
              <p:cNvSpPr/>
              <p:nvPr/>
            </p:nvSpPr>
            <p:spPr>
              <a:xfrm>
                <a:off x="1194460" y="4248976"/>
                <a:ext cx="9909958" cy="760020"/>
              </a:xfrm>
              <a:prstGeom prst="roundRect">
                <a:avLst>
                  <a:gd name="adj" fmla="val 3893"/>
                </a:avLst>
              </a:prstGeom>
              <a:solidFill>
                <a:srgbClr val="082F49"/>
              </a:solidFill>
              <a:ln w="19050">
                <a:solidFill>
                  <a:srgbClr val="0284C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F8FAFC"/>
                  </a:solidFill>
                </a:endParaRPr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E184C272-584E-4F89-B726-303C5434DF35}"/>
                  </a:ext>
                </a:extLst>
              </p:cNvPr>
              <p:cNvSpPr txBox="1"/>
              <p:nvPr/>
            </p:nvSpPr>
            <p:spPr>
              <a:xfrm>
                <a:off x="4168031" y="4359920"/>
                <a:ext cx="4486324" cy="538131"/>
              </a:xfrm>
              <a:prstGeom prst="roundRect">
                <a:avLst/>
              </a:prstGeom>
              <a:noFill/>
              <a:ln w="1905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400" b="1" dirty="0">
                    <a:solidFill>
                      <a:srgbClr val="F8FAFC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Python Object-Klass System</a:t>
                </a:r>
                <a:endParaRPr lang="zh-CN" altLang="en-US" sz="2400" b="1" dirty="0">
                  <a:solidFill>
                    <a:srgbClr val="F8FAFC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5" name="组合 24">
              <a:extLst>
                <a:ext uri="{FF2B5EF4-FFF2-40B4-BE49-F238E27FC236}">
                  <a16:creationId xmlns:a16="http://schemas.microsoft.com/office/drawing/2014/main" id="{0AAE9CF1-D918-4B32-9AE9-62D844202DB8}"/>
                </a:ext>
              </a:extLst>
            </p:cNvPr>
            <p:cNvGrpSpPr/>
            <p:nvPr/>
          </p:nvGrpSpPr>
          <p:grpSpPr>
            <a:xfrm>
              <a:off x="285008" y="5167907"/>
              <a:ext cx="9406246" cy="721389"/>
              <a:chOff x="1194460" y="5158173"/>
              <a:chExt cx="9909958" cy="760020"/>
            </a:xfrm>
            <a:solidFill>
              <a:srgbClr val="F1F5F9"/>
            </a:solidFill>
          </p:grpSpPr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F646D32-881A-4F10-92A5-B791AF067A96}"/>
                  </a:ext>
                </a:extLst>
              </p:cNvPr>
              <p:cNvSpPr/>
              <p:nvPr/>
            </p:nvSpPr>
            <p:spPr>
              <a:xfrm>
                <a:off x="1194460" y="5158173"/>
                <a:ext cx="9909958" cy="760020"/>
              </a:xfrm>
              <a:prstGeom prst="roundRect">
                <a:avLst>
                  <a:gd name="adj" fmla="val 3893"/>
                </a:avLst>
              </a:prstGeom>
              <a:solidFill>
                <a:srgbClr val="1E293B"/>
              </a:solidFill>
              <a:ln w="19050">
                <a:solidFill>
                  <a:srgbClr val="4B5F7D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F8FAFC"/>
                  </a:solidFill>
                </a:endParaRPr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63D1017-59AB-404E-8337-6213706C223B}"/>
                  </a:ext>
                </a:extLst>
              </p:cNvPr>
              <p:cNvSpPr txBox="1"/>
              <p:nvPr/>
            </p:nvSpPr>
            <p:spPr>
              <a:xfrm>
                <a:off x="4273923" y="5269117"/>
                <a:ext cx="4018491" cy="538131"/>
              </a:xfrm>
              <a:prstGeom prst="roundRect">
                <a:avLst/>
              </a:prstGeom>
              <a:noFill/>
              <a:ln w="1905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400" b="1" dirty="0">
                    <a:solidFill>
                      <a:srgbClr val="F8FAFC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Heap/GC/Handle System</a:t>
                </a:r>
                <a:endParaRPr lang="zh-CN" altLang="en-US" sz="2400" b="1" dirty="0">
                  <a:solidFill>
                    <a:srgbClr val="F8FAFC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4" name="组合 23">
              <a:extLst>
                <a:ext uri="{FF2B5EF4-FFF2-40B4-BE49-F238E27FC236}">
                  <a16:creationId xmlns:a16="http://schemas.microsoft.com/office/drawing/2014/main" id="{1D9CA87D-1BDD-4D72-8C64-EACC934490BE}"/>
                </a:ext>
              </a:extLst>
            </p:cNvPr>
            <p:cNvGrpSpPr/>
            <p:nvPr/>
          </p:nvGrpSpPr>
          <p:grpSpPr>
            <a:xfrm>
              <a:off x="285008" y="6092623"/>
              <a:ext cx="9406246" cy="521733"/>
              <a:chOff x="1194460" y="6067370"/>
              <a:chExt cx="9909958" cy="549672"/>
            </a:xfrm>
            <a:solidFill>
              <a:srgbClr val="F1F5F9"/>
            </a:solidFill>
          </p:grpSpPr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7E7C7F46-2576-46D1-9266-FA220593F8A8}"/>
                  </a:ext>
                </a:extLst>
              </p:cNvPr>
              <p:cNvSpPr/>
              <p:nvPr/>
            </p:nvSpPr>
            <p:spPr>
              <a:xfrm>
                <a:off x="1194460" y="6067370"/>
                <a:ext cx="9909958" cy="549672"/>
              </a:xfrm>
              <a:prstGeom prst="roundRect">
                <a:avLst>
                  <a:gd name="adj" fmla="val 4439"/>
                </a:avLst>
              </a:prstGeom>
              <a:solidFill>
                <a:srgbClr val="1E293B"/>
              </a:solidFill>
              <a:ln w="19050">
                <a:solidFill>
                  <a:srgbClr val="4B5F7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F8FAFC"/>
                  </a:solidFill>
                </a:endParaRPr>
              </a:p>
            </p:txBody>
          </p:sp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E649674E-F884-44D0-92A7-499B9EB45D48}"/>
                  </a:ext>
                </a:extLst>
              </p:cNvPr>
              <p:cNvSpPr txBox="1"/>
              <p:nvPr/>
            </p:nvSpPr>
            <p:spPr>
              <a:xfrm>
                <a:off x="4738414" y="6067370"/>
                <a:ext cx="3345559" cy="538130"/>
              </a:xfrm>
              <a:prstGeom prst="roundRect">
                <a:avLst/>
              </a:prstGeom>
              <a:noFill/>
              <a:ln w="1905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400" b="1" dirty="0">
                    <a:solidFill>
                      <a:srgbClr val="F8FAFC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Utils/Cross-platform</a:t>
                </a:r>
                <a:endParaRPr lang="zh-CN" altLang="en-US" sz="2400" b="1" dirty="0">
                  <a:solidFill>
                    <a:srgbClr val="F8FAFC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35" name="右大括号 34">
              <a:extLst>
                <a:ext uri="{FF2B5EF4-FFF2-40B4-BE49-F238E27FC236}">
                  <a16:creationId xmlns:a16="http://schemas.microsoft.com/office/drawing/2014/main" id="{E8A77E34-185F-4F2F-A183-BD0FE9A7ECB9}"/>
                </a:ext>
              </a:extLst>
            </p:cNvPr>
            <p:cNvSpPr/>
            <p:nvPr/>
          </p:nvSpPr>
          <p:spPr>
            <a:xfrm>
              <a:off x="9846641" y="2313100"/>
              <a:ext cx="185898" cy="1725892"/>
            </a:xfrm>
            <a:prstGeom prst="rightBrace">
              <a:avLst>
                <a:gd name="adj1" fmla="val 8333"/>
                <a:gd name="adj2" fmla="val 49347"/>
              </a:avLst>
            </a:prstGeom>
            <a:noFill/>
            <a:ln w="28575">
              <a:solidFill>
                <a:srgbClr val="4ADE8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F8FAFC"/>
                </a:solidFill>
              </a:endParaRPr>
            </a:p>
          </p:txBody>
        </p:sp>
        <p:sp>
          <p:nvSpPr>
            <p:cNvPr id="36" name="右大括号 35">
              <a:extLst>
                <a:ext uri="{FF2B5EF4-FFF2-40B4-BE49-F238E27FC236}">
                  <a16:creationId xmlns:a16="http://schemas.microsoft.com/office/drawing/2014/main" id="{78767D49-2C01-42BA-91AE-958883BD930D}"/>
                </a:ext>
              </a:extLst>
            </p:cNvPr>
            <p:cNvSpPr/>
            <p:nvPr/>
          </p:nvSpPr>
          <p:spPr>
            <a:xfrm>
              <a:off x="10682015" y="2313101"/>
              <a:ext cx="185899" cy="4301255"/>
            </a:xfrm>
            <a:prstGeom prst="rightBrace">
              <a:avLst>
                <a:gd name="adj1" fmla="val 8333"/>
                <a:gd name="adj2" fmla="val 49347"/>
              </a:avLst>
            </a:prstGeom>
            <a:ln w="28575">
              <a:solidFill>
                <a:srgbClr val="F8717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F8FAFC"/>
                </a:solidFill>
              </a:endParaRP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982B56A3-7C87-41A6-8FEF-81DCC436ECB1}"/>
                </a:ext>
              </a:extLst>
            </p:cNvPr>
            <p:cNvSpPr txBox="1"/>
            <p:nvPr/>
          </p:nvSpPr>
          <p:spPr>
            <a:xfrm>
              <a:off x="10924063" y="3943094"/>
              <a:ext cx="430887" cy="104126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b="1" dirty="0">
                  <a:solidFill>
                    <a:srgbClr val="F8717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VM Core</a:t>
              </a:r>
              <a:endParaRPr lang="zh-CN" altLang="en-US" sz="1600" b="1" dirty="0">
                <a:solidFill>
                  <a:srgbClr val="F8717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EBAB20B3-8B79-4614-843E-431B12AD6B46}"/>
                </a:ext>
              </a:extLst>
            </p:cNvPr>
            <p:cNvSpPr txBox="1"/>
            <p:nvPr/>
          </p:nvSpPr>
          <p:spPr>
            <a:xfrm rot="5400000">
              <a:off x="9451935" y="3004624"/>
              <a:ext cx="1800178" cy="338554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r>
                <a:rPr lang="en-US" altLang="zh-CN" sz="1600" b="1" dirty="0">
                  <a:solidFill>
                    <a:srgbClr val="4ADE8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Segoe UI" panose="020B0502040204020203" pitchFamily="34" charset="0"/>
                </a:rPr>
                <a:t>Execution Layer </a:t>
              </a:r>
              <a:endParaRPr lang="zh-CN" altLang="en-US" sz="1600" b="1" dirty="0">
                <a:solidFill>
                  <a:srgbClr val="4ADE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egoe UI" panose="020B0502040204020203" pitchFamily="34" charset="0"/>
              </a:endParaRPr>
            </a:p>
          </p:txBody>
        </p:sp>
      </p:grpSp>
      <p:sp>
        <p:nvSpPr>
          <p:cNvPr id="39" name="文本框 38">
            <a:extLst>
              <a:ext uri="{FF2B5EF4-FFF2-40B4-BE49-F238E27FC236}">
                <a16:creationId xmlns:a16="http://schemas.microsoft.com/office/drawing/2014/main" id="{0EDCBEE5-96F9-49BB-9A96-D18F5431F2A7}"/>
              </a:ext>
            </a:extLst>
          </p:cNvPr>
          <p:cNvSpPr txBox="1"/>
          <p:nvPr/>
        </p:nvSpPr>
        <p:spPr>
          <a:xfrm>
            <a:off x="198485" y="891901"/>
            <a:ext cx="8143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参考现代工业级</a:t>
            </a:r>
            <a:r>
              <a:rPr lang="en-US" altLang="zh-CN" dirty="0"/>
              <a:t>VM</a:t>
            </a:r>
            <a:r>
              <a:rPr lang="zh-CN" altLang="en-US" dirty="0"/>
              <a:t>的分层架构思路进行设计，具有良好的可维护性、可拓展性</a:t>
            </a:r>
          </a:p>
        </p:txBody>
      </p:sp>
    </p:spTree>
    <p:extLst>
      <p:ext uri="{BB962C8B-B14F-4D97-AF65-F5344CB8AC3E}">
        <p14:creationId xmlns:p14="http://schemas.microsoft.com/office/powerpoint/2010/main" val="1626732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</Words>
  <Application>Microsoft Office PowerPoint</Application>
  <PresentationFormat>宽屏</PresentationFormat>
  <Paragraphs>28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9" baseType="lpstr">
      <vt:lpstr>等线</vt:lpstr>
      <vt:lpstr>等线 Light</vt:lpstr>
      <vt:lpstr>方正大标宋简体</vt:lpstr>
      <vt:lpstr>微软雅黑</vt:lpstr>
      <vt:lpstr>Arial</vt:lpstr>
      <vt:lpstr>Segoe UI</vt:lpstr>
      <vt:lpstr>Office 主题​​</vt:lpstr>
      <vt:lpstr>总体架构设计</vt:lpstr>
      <vt:lpstr>总体架构设计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总体架构设计</dc:title>
  <dc:creator>R P</dc:creator>
  <cp:lastModifiedBy>R P</cp:lastModifiedBy>
  <cp:revision>2</cp:revision>
  <dcterms:created xsi:type="dcterms:W3CDTF">2026-04-09T06:24:57Z</dcterms:created>
  <dcterms:modified xsi:type="dcterms:W3CDTF">2026-04-09T06:31:20Z</dcterms:modified>
</cp:coreProperties>
</file>